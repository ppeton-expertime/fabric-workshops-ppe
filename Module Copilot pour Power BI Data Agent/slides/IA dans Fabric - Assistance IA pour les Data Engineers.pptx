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  <p:sldMasterId id="2147483662" r:id="rId3"/>
  </p:sldMasterIdLst>
  <p:notesMasterIdLst>
    <p:notesMasterId r:id="rId89"/>
  </p:notesMasterIdLst>
  <p:sldIdLst>
    <p:sldId id="256" r:id="rId4"/>
    <p:sldId id="2147481800" r:id="rId5"/>
    <p:sldId id="257" r:id="rId6"/>
    <p:sldId id="260" r:id="rId7"/>
    <p:sldId id="2147481743" r:id="rId8"/>
    <p:sldId id="2147481749" r:id="rId9"/>
    <p:sldId id="2147481759" r:id="rId10"/>
    <p:sldId id="2147481746" r:id="rId11"/>
    <p:sldId id="2147481747" r:id="rId12"/>
    <p:sldId id="2147481748" r:id="rId13"/>
    <p:sldId id="2147481760" r:id="rId14"/>
    <p:sldId id="2147481761" r:id="rId15"/>
    <p:sldId id="2147481762" r:id="rId16"/>
    <p:sldId id="2147481742" r:id="rId17"/>
    <p:sldId id="2147481752" r:id="rId18"/>
    <p:sldId id="2147481753" r:id="rId19"/>
    <p:sldId id="2147481750" r:id="rId20"/>
    <p:sldId id="2147481751" r:id="rId21"/>
    <p:sldId id="2147481754" r:id="rId22"/>
    <p:sldId id="2147481755" r:id="rId23"/>
    <p:sldId id="2147481756" r:id="rId24"/>
    <p:sldId id="2147481757" r:id="rId25"/>
    <p:sldId id="2147481758" r:id="rId26"/>
    <p:sldId id="2147481741" r:id="rId27"/>
    <p:sldId id="2147481763" r:id="rId28"/>
    <p:sldId id="2147481782" r:id="rId29"/>
    <p:sldId id="2147481764" r:id="rId30"/>
    <p:sldId id="2147481765" r:id="rId31"/>
    <p:sldId id="2147481766" r:id="rId32"/>
    <p:sldId id="2147481779" r:id="rId33"/>
    <p:sldId id="2147481780" r:id="rId34"/>
    <p:sldId id="2147481767" r:id="rId35"/>
    <p:sldId id="2147481768" r:id="rId36"/>
    <p:sldId id="2147481769" r:id="rId37"/>
    <p:sldId id="2147481770" r:id="rId38"/>
    <p:sldId id="2147481771" r:id="rId39"/>
    <p:sldId id="2147481772" r:id="rId40"/>
    <p:sldId id="2147481773" r:id="rId41"/>
    <p:sldId id="2147481774" r:id="rId42"/>
    <p:sldId id="2147481775" r:id="rId43"/>
    <p:sldId id="2147481776" r:id="rId44"/>
    <p:sldId id="2147481777" r:id="rId45"/>
    <p:sldId id="2147481778" r:id="rId46"/>
    <p:sldId id="2147481744" r:id="rId47"/>
    <p:sldId id="2147481781" r:id="rId48"/>
    <p:sldId id="274" r:id="rId49"/>
    <p:sldId id="276" r:id="rId50"/>
    <p:sldId id="275" r:id="rId51"/>
    <p:sldId id="261" r:id="rId52"/>
    <p:sldId id="258" r:id="rId53"/>
    <p:sldId id="2147481783" r:id="rId54"/>
    <p:sldId id="259" r:id="rId55"/>
    <p:sldId id="2147481740" r:id="rId56"/>
    <p:sldId id="262" r:id="rId57"/>
    <p:sldId id="263" r:id="rId58"/>
    <p:sldId id="264" r:id="rId59"/>
    <p:sldId id="265" r:id="rId60"/>
    <p:sldId id="267" r:id="rId61"/>
    <p:sldId id="278" r:id="rId62"/>
    <p:sldId id="268" r:id="rId63"/>
    <p:sldId id="277" r:id="rId64"/>
    <p:sldId id="272" r:id="rId65"/>
    <p:sldId id="279" r:id="rId66"/>
    <p:sldId id="2147481784" r:id="rId67"/>
    <p:sldId id="2147481785" r:id="rId68"/>
    <p:sldId id="2147481786" r:id="rId69"/>
    <p:sldId id="2147481787" r:id="rId70"/>
    <p:sldId id="2147481799" r:id="rId71"/>
    <p:sldId id="2147481797" r:id="rId72"/>
    <p:sldId id="2147481798" r:id="rId73"/>
    <p:sldId id="2147481788" r:id="rId74"/>
    <p:sldId id="2147481789" r:id="rId75"/>
    <p:sldId id="2147481790" r:id="rId76"/>
    <p:sldId id="2147481791" r:id="rId77"/>
    <p:sldId id="2147481792" r:id="rId78"/>
    <p:sldId id="266" r:id="rId79"/>
    <p:sldId id="2147481793" r:id="rId80"/>
    <p:sldId id="2147481794" r:id="rId81"/>
    <p:sldId id="2147481795" r:id="rId82"/>
    <p:sldId id="269" r:id="rId83"/>
    <p:sldId id="270" r:id="rId84"/>
    <p:sldId id="271" r:id="rId85"/>
    <p:sldId id="280" r:id="rId86"/>
    <p:sldId id="273" r:id="rId87"/>
    <p:sldId id="2147481796" r:id="rId8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0C662F8D-F585-4710-8011-93B9D8016E87}">
          <p14:sldIdLst>
            <p14:sldId id="256"/>
            <p14:sldId id="2147481800"/>
            <p14:sldId id="257"/>
            <p14:sldId id="260"/>
          </p14:sldIdLst>
        </p14:section>
        <p14:section name="Data Warehouse" id="{7D27462C-BA10-4F10-BA3A-B3105B51C3A4}">
          <p14:sldIdLst>
            <p14:sldId id="2147481743"/>
            <p14:sldId id="2147481749"/>
            <p14:sldId id="2147481759"/>
            <p14:sldId id="2147481746"/>
            <p14:sldId id="2147481747"/>
            <p14:sldId id="2147481748"/>
            <p14:sldId id="2147481760"/>
            <p14:sldId id="2147481761"/>
            <p14:sldId id="2147481762"/>
          </p14:sldIdLst>
        </p14:section>
        <p14:section name="Data Factory" id="{CE0A2D2A-EB35-41A1-8C42-1316E7C460A9}">
          <p14:sldIdLst>
            <p14:sldId id="2147481742"/>
            <p14:sldId id="2147481752"/>
            <p14:sldId id="2147481753"/>
            <p14:sldId id="2147481750"/>
            <p14:sldId id="2147481751"/>
            <p14:sldId id="2147481754"/>
            <p14:sldId id="2147481755"/>
            <p14:sldId id="2147481756"/>
            <p14:sldId id="2147481757"/>
            <p14:sldId id="2147481758"/>
          </p14:sldIdLst>
        </p14:section>
        <p14:section name="Notebooks" id="{2EFE65D1-51C5-4775-82F2-525A70A0D0BA}">
          <p14:sldIdLst>
            <p14:sldId id="2147481741"/>
            <p14:sldId id="2147481763"/>
            <p14:sldId id="2147481782"/>
            <p14:sldId id="2147481764"/>
            <p14:sldId id="2147481765"/>
            <p14:sldId id="2147481766"/>
            <p14:sldId id="2147481779"/>
            <p14:sldId id="2147481780"/>
            <p14:sldId id="2147481767"/>
            <p14:sldId id="2147481768"/>
            <p14:sldId id="2147481769"/>
            <p14:sldId id="2147481770"/>
            <p14:sldId id="2147481771"/>
            <p14:sldId id="2147481772"/>
            <p14:sldId id="2147481773"/>
            <p14:sldId id="2147481774"/>
            <p14:sldId id="2147481775"/>
            <p14:sldId id="2147481776"/>
            <p14:sldId id="2147481777"/>
            <p14:sldId id="2147481778"/>
          </p14:sldIdLst>
        </p14:section>
        <p14:section name="RTI" id="{B0E476AA-8946-4B83-840E-71DD7998F861}">
          <p14:sldIdLst>
            <p14:sldId id="2147481744"/>
          </p14:sldIdLst>
        </p14:section>
        <p14:section name="Valeur Copilot dans Fabric" id="{A0E8471E-7622-497A-97AD-C50C013788B5}">
          <p14:sldIdLst>
            <p14:sldId id="2147481781"/>
          </p14:sldIdLst>
        </p14:section>
        <p14:section name="Vibe coding" id="{B1DF4481-3E0E-4632-9DA9-2AC2C2A96183}">
          <p14:sldIdLst>
            <p14:sldId id="274"/>
            <p14:sldId id="276"/>
          </p14:sldIdLst>
        </p14:section>
        <p14:section name="GitHub Copilot" id="{ABE90D85-33E8-4E43-A220-A1015311B1AE}">
          <p14:sldIdLst>
            <p14:sldId id="275"/>
            <p14:sldId id="261"/>
            <p14:sldId id="258"/>
            <p14:sldId id="2147481783"/>
            <p14:sldId id="259"/>
            <p14:sldId id="2147481740"/>
            <p14:sldId id="262"/>
            <p14:sldId id="263"/>
            <p14:sldId id="264"/>
            <p14:sldId id="265"/>
            <p14:sldId id="267"/>
            <p14:sldId id="278"/>
            <p14:sldId id="268"/>
            <p14:sldId id="277"/>
            <p14:sldId id="272"/>
            <p14:sldId id="279"/>
          </p14:sldIdLst>
        </p14:section>
        <p14:section name="GitHub Copilot et MS Fabric" id="{951F0266-8A76-46C9-AEF1-C36AECDBE0AE}">
          <p14:sldIdLst>
            <p14:sldId id="2147481784"/>
            <p14:sldId id="2147481785"/>
            <p14:sldId id="2147481786"/>
            <p14:sldId id="2147481787"/>
            <p14:sldId id="2147481799"/>
            <p14:sldId id="2147481797"/>
            <p14:sldId id="2147481798"/>
            <p14:sldId id="2147481788"/>
            <p14:sldId id="2147481789"/>
            <p14:sldId id="2147481790"/>
            <p14:sldId id="2147481791"/>
            <p14:sldId id="2147481792"/>
            <p14:sldId id="266"/>
            <p14:sldId id="2147481793"/>
            <p14:sldId id="2147481794"/>
            <p14:sldId id="2147481795"/>
          </p14:sldIdLst>
        </p14:section>
        <p14:section name="Adoption GitHub Copilot" id="{5B2AE94B-1B3E-4CB4-91B5-246447AE0161}">
          <p14:sldIdLst>
            <p14:sldId id="269"/>
            <p14:sldId id="270"/>
            <p14:sldId id="271"/>
            <p14:sldId id="280"/>
          </p14:sldIdLst>
        </p14:section>
        <p14:section name="Annexes" id="{6E9D2B39-2E0D-4D34-B9D6-2346FF3D37EB}">
          <p14:sldIdLst>
            <p14:sldId id="273"/>
            <p14:sldId id="214748179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701" autoAdjust="0"/>
  </p:normalViewPr>
  <p:slideViewPr>
    <p:cSldViewPr snapToGrid="0" snapToObjects="1">
      <p:cViewPr varScale="1">
        <p:scale>
          <a:sx n="119" d="100"/>
          <a:sy n="119" d="100"/>
        </p:scale>
        <p:origin x="44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84" Type="http://schemas.openxmlformats.org/officeDocument/2006/relationships/slide" Target="slides/slide81.xml"/><Relationship Id="rId89" Type="http://schemas.openxmlformats.org/officeDocument/2006/relationships/notesMaster" Target="notesMasters/notesMaster1.xml"/><Relationship Id="rId16" Type="http://schemas.openxmlformats.org/officeDocument/2006/relationships/slide" Target="slides/slide13.xml"/><Relationship Id="rId11" Type="http://schemas.openxmlformats.org/officeDocument/2006/relationships/slide" Target="slides/slide8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74" Type="http://schemas.openxmlformats.org/officeDocument/2006/relationships/slide" Target="slides/slide71.xml"/><Relationship Id="rId79" Type="http://schemas.openxmlformats.org/officeDocument/2006/relationships/slide" Target="slides/slide76.xml"/><Relationship Id="rId5" Type="http://schemas.openxmlformats.org/officeDocument/2006/relationships/slide" Target="slides/slide2.xml"/><Relationship Id="rId90" Type="http://schemas.openxmlformats.org/officeDocument/2006/relationships/presProps" Target="presProps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80" Type="http://schemas.openxmlformats.org/officeDocument/2006/relationships/slide" Target="slides/slide77.xml"/><Relationship Id="rId85" Type="http://schemas.openxmlformats.org/officeDocument/2006/relationships/slide" Target="slides/slide82.xml"/><Relationship Id="rId93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slide" Target="slides/slide67.xml"/><Relationship Id="rId75" Type="http://schemas.openxmlformats.org/officeDocument/2006/relationships/slide" Target="slides/slide72.xml"/><Relationship Id="rId83" Type="http://schemas.openxmlformats.org/officeDocument/2006/relationships/slide" Target="slides/slide80.xml"/><Relationship Id="rId88" Type="http://schemas.openxmlformats.org/officeDocument/2006/relationships/slide" Target="slides/slide85.xml"/><Relationship Id="rId9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slide" Target="slides/slide70.xml"/><Relationship Id="rId78" Type="http://schemas.openxmlformats.org/officeDocument/2006/relationships/slide" Target="slides/slide75.xml"/><Relationship Id="rId81" Type="http://schemas.openxmlformats.org/officeDocument/2006/relationships/slide" Target="slides/slide78.xml"/><Relationship Id="rId86" Type="http://schemas.openxmlformats.org/officeDocument/2006/relationships/slide" Target="slides/slide83.xml"/><Relationship Id="rId94" Type="http://schemas.microsoft.com/office/2016/11/relationships/changesInfo" Target="changesInfos/changesInfo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slide" Target="slides/slide73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9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4" Type="http://schemas.openxmlformats.org/officeDocument/2006/relationships/slide" Target="slides/slide21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66" Type="http://schemas.openxmlformats.org/officeDocument/2006/relationships/slide" Target="slides/slide63.xml"/><Relationship Id="rId87" Type="http://schemas.openxmlformats.org/officeDocument/2006/relationships/slide" Target="slides/slide84.xml"/><Relationship Id="rId61" Type="http://schemas.openxmlformats.org/officeDocument/2006/relationships/slide" Target="slides/slide58.xml"/><Relationship Id="rId82" Type="http://schemas.openxmlformats.org/officeDocument/2006/relationships/slide" Target="slides/slide79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56" Type="http://schemas.openxmlformats.org/officeDocument/2006/relationships/slide" Target="slides/slide53.xml"/><Relationship Id="rId77" Type="http://schemas.openxmlformats.org/officeDocument/2006/relationships/slide" Target="slides/slide7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ul PETON" userId="f452c416-63c5-497b-b3b2-f4c1c92748fa" providerId="ADAL" clId="{0D64DA26-F7AF-44DE-BEDF-5EB92BBC41B4}"/>
    <pc:docChg chg="custSel addSld modSld modSection">
      <pc:chgData name="Paul PETON" userId="f452c416-63c5-497b-b3b2-f4c1c92748fa" providerId="ADAL" clId="{0D64DA26-F7AF-44DE-BEDF-5EB92BBC41B4}" dt="2026-09-11T08:23:20.066" v="3" actId="207"/>
      <pc:docMkLst>
        <pc:docMk/>
      </pc:docMkLst>
      <pc:sldChg chg="modSp mod">
        <pc:chgData name="Paul PETON" userId="f452c416-63c5-497b-b3b2-f4c1c92748fa" providerId="ADAL" clId="{0D64DA26-F7AF-44DE-BEDF-5EB92BBC41B4}" dt="2026-09-10T09:15:55.513" v="1" actId="20577"/>
        <pc:sldMkLst>
          <pc:docMk/>
          <pc:sldMk cId="0" sldId="256"/>
        </pc:sldMkLst>
        <pc:spChg chg="mod">
          <ac:chgData name="Paul PETON" userId="f452c416-63c5-497b-b3b2-f4c1c92748fa" providerId="ADAL" clId="{0D64DA26-F7AF-44DE-BEDF-5EB92BBC41B4}" dt="2026-09-10T09:15:55.513" v="1" actId="20577"/>
          <ac:spMkLst>
            <pc:docMk/>
            <pc:sldMk cId="0" sldId="256"/>
            <ac:spMk id="7" creationId="{00000000-0000-0000-0000-000000000000}"/>
          </ac:spMkLst>
        </pc:spChg>
      </pc:sldChg>
      <pc:sldChg chg="modSp mod">
        <pc:chgData name="Paul PETON" userId="f452c416-63c5-497b-b3b2-f4c1c92748fa" providerId="ADAL" clId="{0D64DA26-F7AF-44DE-BEDF-5EB92BBC41B4}" dt="2026-09-11T08:23:20.066" v="3" actId="207"/>
        <pc:sldMkLst>
          <pc:docMk/>
          <pc:sldMk cId="0" sldId="257"/>
        </pc:sldMkLst>
        <pc:spChg chg="mod">
          <ac:chgData name="Paul PETON" userId="f452c416-63c5-497b-b3b2-f4c1c92748fa" providerId="ADAL" clId="{0D64DA26-F7AF-44DE-BEDF-5EB92BBC41B4}" dt="2026-09-11T08:23:20.066" v="3" actId="207"/>
          <ac:spMkLst>
            <pc:docMk/>
            <pc:sldMk cId="0" sldId="257"/>
            <ac:spMk id="11" creationId="{00000000-0000-0000-0000-000000000000}"/>
          </ac:spMkLst>
        </pc:spChg>
      </pc:sldChg>
      <pc:sldChg chg="add">
        <pc:chgData name="Paul PETON" userId="f452c416-63c5-497b-b3b2-f4c1c92748fa" providerId="ADAL" clId="{0D64DA26-F7AF-44DE-BEDF-5EB92BBC41B4}" dt="2026-09-11T08:12:07.655" v="2" actId="26606"/>
        <pc:sldMkLst>
          <pc:docMk/>
          <pc:sldMk cId="1817038904" sldId="214748180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0926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fabric/data-warehouse/copilot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https://learn.microsoft.com/en-us/fabric/fundamentals/copilot-fabric-overview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Copilot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Microsoft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Fabric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Warehouse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 AI assistant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designed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streamline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warehousing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tasks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Here’s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Copilot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can do: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Natural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Language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SQL: You can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describe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want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everyday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language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Copilot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will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generate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T-SQL for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Code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Completion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start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writing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T-SQL,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Copilot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suggests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completions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help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write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queries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faster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Quick Actions: You can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quickly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fix SQL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syntax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errors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or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ask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Copilot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explain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purpose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a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query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directly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the editor.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Intelligent Insights: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Copilot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provides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helpful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suggestions and insights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based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warehouse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schema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metadata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can use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Copilot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through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chat pane for questions and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query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generation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Inline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code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completion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while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authoring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SQL.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Quick actions (like Fix and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Explain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in the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ribbon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resolve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errors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or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understand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code.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more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detail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official documentation: 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https://learn.microsoft.com/fabric/data-warehouse/copilot</a:t>
            </a:r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438967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fr-FR" dirty="0"/>
              <a:t>Ajoute une clause pour filtrer les </a:t>
            </a:r>
            <a:r>
              <a:rPr lang="fr-FR" dirty="0" err="1"/>
              <a:t>zipCode</a:t>
            </a:r>
            <a:r>
              <a:rPr lang="fr-FR" dirty="0"/>
              <a:t> sur 5 chiffres</a:t>
            </a:r>
          </a:p>
        </p:txBody>
      </p:sp>
    </p:spTree>
    <p:extLst>
      <p:ext uri="{BB962C8B-B14F-4D97-AF65-F5344CB8AC3E}">
        <p14:creationId xmlns:p14="http://schemas.microsoft.com/office/powerpoint/2010/main" val="29748129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fr-FR" dirty="0" err="1"/>
              <a:t>Explain</a:t>
            </a:r>
            <a:r>
              <a:rPr lang="fr-FR" dirty="0"/>
              <a:t> </a:t>
            </a:r>
            <a:r>
              <a:rPr lang="fr-FR" dirty="0" err="1"/>
              <a:t>query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798667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fr-FR" dirty="0"/>
              <a:t>Fix </a:t>
            </a:r>
            <a:r>
              <a:rPr lang="fr-FR" dirty="0" err="1"/>
              <a:t>query</a:t>
            </a:r>
            <a:r>
              <a:rPr lang="fr-FR" dirty="0"/>
              <a:t> </a:t>
            </a:r>
            <a:r>
              <a:rPr lang="fr-FR" dirty="0" err="1"/>
              <a:t>errors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154309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load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tables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https://services.odata.org/V4/Northwind/Northwind.svc/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731823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fr-FR" dirty="0"/>
              <a:t>Ajoute une colonne Ship qui vaut 20 si </a:t>
            </a:r>
            <a:r>
              <a:rPr lang="fr-FR" dirty="0" err="1"/>
              <a:t>UnitPrice</a:t>
            </a:r>
            <a:r>
              <a:rPr lang="fr-FR" dirty="0"/>
              <a:t> &lt; 50 sinon 10</a:t>
            </a:r>
          </a:p>
        </p:txBody>
      </p:sp>
    </p:spTree>
    <p:extLst>
      <p:ext uri="{BB962C8B-B14F-4D97-AF65-F5344CB8AC3E}">
        <p14:creationId xmlns:p14="http://schemas.microsoft.com/office/powerpoint/2010/main" val="30291376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fr-FR" dirty="0" err="1"/>
              <a:t>Describe</a:t>
            </a:r>
            <a:r>
              <a:rPr lang="fr-FR" dirty="0"/>
              <a:t> </a:t>
            </a:r>
            <a:r>
              <a:rPr lang="fr-FR" dirty="0" err="1"/>
              <a:t>this</a:t>
            </a:r>
            <a:r>
              <a:rPr lang="fr-FR" dirty="0"/>
              <a:t> </a:t>
            </a:r>
            <a:r>
              <a:rPr lang="fr-FR" dirty="0" err="1"/>
              <a:t>query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581541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fr-FR" dirty="0">
                <a:effectLst/>
              </a:rPr>
              <a:t>Charge le contenu des tables sales et </a:t>
            </a:r>
            <a:r>
              <a:rPr lang="fr-FR" dirty="0" err="1">
                <a:effectLst/>
              </a:rPr>
              <a:t>customer</a:t>
            </a:r>
            <a:r>
              <a:rPr lang="fr-FR" dirty="0">
                <a:effectLst/>
              </a:rPr>
              <a:t> dans deux </a:t>
            </a:r>
            <a:r>
              <a:rPr lang="fr-FR" dirty="0" err="1">
                <a:effectLst/>
              </a:rPr>
              <a:t>dataframes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692896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profile tables to check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columns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751802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fr-FR" dirty="0"/>
              <a:t>Présente la démarche de jointure de tables pour créer une "One Big Table"</a:t>
            </a:r>
          </a:p>
        </p:txBody>
      </p:sp>
    </p:spTree>
    <p:extLst>
      <p:ext uri="{BB962C8B-B14F-4D97-AF65-F5344CB8AC3E}">
        <p14:creationId xmlns:p14="http://schemas.microsoft.com/office/powerpoint/2010/main" val="29555862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fr-FR" dirty="0"/>
              <a:t>crée un nouveau </a:t>
            </a:r>
            <a:r>
              <a:rPr lang="fr-FR" dirty="0" err="1"/>
              <a:t>dataframe</a:t>
            </a:r>
            <a:r>
              <a:rPr lang="fr-FR" dirty="0"/>
              <a:t> faisant la jointure des deux précédents pour obtenir le montant total des ventes par client</a:t>
            </a:r>
          </a:p>
        </p:txBody>
      </p:sp>
    </p:spTree>
    <p:extLst>
      <p:ext uri="{BB962C8B-B14F-4D97-AF65-F5344CB8AC3E}">
        <p14:creationId xmlns:p14="http://schemas.microsoft.com/office/powerpoint/2010/main" val="28377594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fr-FR" dirty="0"/>
              <a:t>A partir du </a:t>
            </a:r>
            <a:r>
              <a:rPr lang="fr-FR" dirty="0" err="1"/>
              <a:t>df_sales_per_customer</a:t>
            </a:r>
            <a:r>
              <a:rPr lang="fr-FR" dirty="0"/>
              <a:t>, crée un entrainement de modèle de clustering pour obtenir 3 clusters.</a:t>
            </a:r>
          </a:p>
        </p:txBody>
      </p:sp>
    </p:spTree>
    <p:extLst>
      <p:ext uri="{BB962C8B-B14F-4D97-AF65-F5344CB8AC3E}">
        <p14:creationId xmlns:p14="http://schemas.microsoft.com/office/powerpoint/2010/main" val="40466102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DA638-0AD8-74B1-1241-03110794C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CB475EC-229E-C40D-6D1E-88CD23912A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BA6FF5F-6345-C5CC-1D34-B98F064ED0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fr-FR" dirty="0"/>
              <a:t>Ajoute une représentation visuelle des 3 clusters dans un nuage de points sur les deux axes les plus discriminants.</a:t>
            </a:r>
          </a:p>
        </p:txBody>
      </p:sp>
    </p:spTree>
    <p:extLst>
      <p:ext uri="{BB962C8B-B14F-4D97-AF65-F5344CB8AC3E}">
        <p14:creationId xmlns:p14="http://schemas.microsoft.com/office/powerpoint/2010/main" val="294465544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fr-FR" dirty="0"/>
              <a:t>/</a:t>
            </a:r>
            <a:r>
              <a:rPr lang="fr-FR" dirty="0" err="1"/>
              <a:t>comments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5277496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fr-FR" dirty="0"/>
              <a:t>/</a:t>
            </a:r>
            <a:r>
              <a:rPr lang="fr-FR" dirty="0" err="1"/>
              <a:t>explain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5336130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fr-FR" dirty="0"/>
              <a:t>/</a:t>
            </a:r>
            <a:r>
              <a:rPr lang="fr-FR" dirty="0" err="1"/>
              <a:t>optimize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846338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21FF86-E697-00F6-A9C5-D0F1F2590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B0298C-11F1-C866-4F99-CC733E9C1A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2848A6-B7BB-8667-EC91-53FB2DD3BA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6E5B93-F109-1BE2-AF20-A75CC8ED33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85755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8E856-58B4-34A3-1D7B-A5F46E98C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9E295C-2DB8-71E9-A198-2B5ED897A5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276AE6-7E84-BEB7-6EE9-652149E98B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7E700F-4054-CD40-3D31-908818A517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0743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79616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Contenu adapté de formation-fabric-copilot-exercices.docx, modules 3, 4, 5 et 7.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Contenu adapté de formation-fabric-copilot-exercices.docx, modules 3, 4, 5 et 7.
- Visual on this slide was generated with Microsoft Copilot.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https://learn.microsoft.com/en-us/fabric/data-engineering/manage-workspace-with-vs-code-vfs-mode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Contenu adapté de formation-fabric-copilot-exercices.docx, modules 3, 4, 5 et 7.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fr-FR" dirty="0"/>
              <a:t>Ajoute un test pour vérifier que Bronze </a:t>
            </a:r>
            <a:r>
              <a:rPr lang="fr-FR" dirty="0" err="1"/>
              <a:t>CITY.city_safety</a:t>
            </a:r>
            <a:r>
              <a:rPr lang="fr-FR" dirty="0"/>
              <a:t> </a:t>
            </a:r>
            <a:r>
              <a:rPr lang="fr-FR" dirty="0" err="1"/>
              <a:t>row</a:t>
            </a:r>
            <a:r>
              <a:rPr lang="fr-FR" dirty="0"/>
              <a:t> count = 7350</a:t>
            </a:r>
          </a:p>
        </p:txBody>
      </p:sp>
    </p:spTree>
    <p:extLst>
      <p:ext uri="{BB962C8B-B14F-4D97-AF65-F5344CB8AC3E}">
        <p14:creationId xmlns:p14="http://schemas.microsoft.com/office/powerpoint/2010/main" val="180294910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Contenu adapté de formation-fabric-copilot-exercices.docx, modules 3, 4, 5 et 7.
- Visual on this slide was generated with Microsoft Copilot.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Contenu adapté de formation-fabric-copilot-exercices.docx, modules 3, 4, 5 et 7.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Contenu adapté de formation-fabric-copilot-exercices.docx, modules 3, 4, 5 et 7.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Contenu adapté de formation-fabric-copilot-exercices.docx, modules 3, 4, 5 et 7.
- Visual on this slide was generated with Microsoft Copilot.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Contenu adapté de formation-fabric-copilot-exercices.docx, modules 3, 4, 5 et 7.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Contenu adapté de formation-fabric-copilot-exercices.docx, modules 3, 4, 5 et 7.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Contenu adapté de formation-fabric-copilot-exercices.docx, modules 3, 4, 5 et 7.
- Visual on this slide was generated with Microsoft Copilot.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Contenu adapté de formation-fabric-copilot-exercices.docx, modules 3, 4, 5 et 7.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Contenu adapté de formation-fabric-copilot-exercices.docx, modules 3, 4, 5 et 7.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61554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545913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393280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9E2EA9-0C2C-44B8-EC5F-4DC1DD0F20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0D4CB19-CD85-15AC-2A8D-92F510D833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4C0872B-792F-2069-5F74-42C7B16FF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1375A-1AAC-4B35-8ADD-13CD9406E81B}" type="datetimeFigureOut">
              <a:rPr lang="fr-FR" smtClean="0"/>
              <a:t>10/09/2026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64D2DAC-C695-1A6A-2EA0-B4C8C7168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63A4128-01C8-3CD5-4146-5E02C1C26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A4713-5C37-4D51-BA6F-D4C6BBFF945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32508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0FE7EB-FB41-D166-EEB8-6D151A082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BB602CD-EF27-FEF7-D747-509B3F94E4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D00DE94-65F6-7A28-E7F4-C32D63F6C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1375A-1AAC-4B35-8ADD-13CD9406E81B}" type="datetimeFigureOut">
              <a:rPr lang="fr-FR" smtClean="0"/>
              <a:t>10/09/2026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31CA735-2A14-0FAA-6815-6DA8DBE9D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1B75CC3-8A6C-2118-2A17-99C5EFDAB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A4713-5C37-4D51-BA6F-D4C6BBFF945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7938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AAD505-B21E-51B5-E9F3-E413E9534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E4BFDD4-EB26-AB32-D2B8-F118C21927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240C20E-2248-286E-16D7-3A57293EF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1375A-1AAC-4B35-8ADD-13CD9406E81B}" type="datetimeFigureOut">
              <a:rPr lang="fr-FR" smtClean="0"/>
              <a:t>10/09/2026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0E52A1F-0890-6FC2-C49E-52B09A44D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03115D8-9681-6C96-199E-6EFBC87F4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A4713-5C37-4D51-BA6F-D4C6BBFF945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91233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DAD95E-04BF-4936-4703-D67A07C96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129D218-E675-C270-FB1F-3A5F0AB1A0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0E626C7-4D46-6C4B-D9BB-9A0ED8E149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292951B-707A-0729-046C-AA399BD00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1375A-1AAC-4B35-8ADD-13CD9406E81B}" type="datetimeFigureOut">
              <a:rPr lang="fr-FR" smtClean="0"/>
              <a:t>10/09/2026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99DB751-611C-37EF-7A85-D6BFD26F1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9B4BB6B-1840-4DE2-8EBE-7F1EA4F45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A4713-5C37-4D51-BA6F-D4C6BBFF945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57391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8CC4E3B-3112-95F9-C5E5-BC4366663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F7DBE35-C292-7997-79CB-B6A47B70AF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62FE425-119B-6BAF-7E97-0D9E9ECBAD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5F4504F4-83A5-90DF-42DF-14B12B176D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53BF875-4EDA-1E3E-678E-B1C2866F6C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3156A787-8136-B32B-F32E-549098E0E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1375A-1AAC-4B35-8ADD-13CD9406E81B}" type="datetimeFigureOut">
              <a:rPr lang="fr-FR" smtClean="0"/>
              <a:t>10/09/2026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F340BBFB-DB93-D508-DC4C-F63940021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5A38CA3B-B391-BC26-663D-612436BC7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A4713-5C37-4D51-BA6F-D4C6BBFF945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42807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0D8BDE-82BE-BCEA-2762-1E4B79964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ED40E84-65D4-23D6-12FF-F258ADF58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1375A-1AAC-4B35-8ADD-13CD9406E81B}" type="datetimeFigureOut">
              <a:rPr lang="fr-FR" smtClean="0"/>
              <a:t>10/09/2026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1171A68-95BF-53E9-CBC6-17CE35BBB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A23E1AA-4A28-EA27-3C42-88D58BBA5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A4713-5C37-4D51-BA6F-D4C6BBFF945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56122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AB589540-E748-82C4-C1DA-17E053CE2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1375A-1AAC-4B35-8ADD-13CD9406E81B}" type="datetimeFigureOut">
              <a:rPr lang="fr-FR" smtClean="0"/>
              <a:t>10/09/2026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C283E63-3158-51A7-EC3E-69DFF0DD8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A1E2168-D032-28CF-580A-779E9E10A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A4713-5C37-4D51-BA6F-D4C6BBFF945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6394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511B860-E4EF-D5E1-7B8B-3113F37EC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C135228-4E39-8657-640C-162C43ADE9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3BC1546-76B5-E276-7967-AA28D85606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3EE1B4F-5E9E-845A-6B43-7E51B6DDC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1375A-1AAC-4B35-8ADD-13CD9406E81B}" type="datetimeFigureOut">
              <a:rPr lang="fr-FR" smtClean="0"/>
              <a:t>10/09/2026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CB309D0-F53B-3D89-BC9F-63686F75A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53A1B62-120C-268B-7897-0528A86AD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A4713-5C37-4D51-BA6F-D4C6BBFF945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588655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4828B5-3599-EE33-6C1A-23DD5DBE8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8D237CBD-FB33-1EB8-82C3-1DC8D6A2E1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9232744-74DF-1FDC-B1C0-6B18E531A2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0A5911A-25F1-89AA-AF2A-011FA49EB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1375A-1AAC-4B35-8ADD-13CD9406E81B}" type="datetimeFigureOut">
              <a:rPr lang="fr-FR" smtClean="0"/>
              <a:t>10/09/2026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BDFEF8D-7344-1A51-B847-0B52BD7B5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B2FA9EF-AB5C-9B10-C1A0-82BB98FFF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A4713-5C37-4D51-BA6F-D4C6BBFF945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0971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16756FE-CB99-4645-05A6-700024ED6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7F43EDE-8227-1B29-EBC8-364095AAD5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44DB04B-CE4B-6A93-91F7-084CC2CC6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1375A-1AAC-4B35-8ADD-13CD9406E81B}" type="datetimeFigureOut">
              <a:rPr lang="fr-FR" smtClean="0"/>
              <a:t>10/09/2026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0577907-9077-F8D0-8F46-78E161324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7236784-7677-34C0-D175-445DC371A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A4713-5C37-4D51-BA6F-D4C6BBFF945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49406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5A2930E5-979E-319B-86B4-DC75F57E3E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AEF5AC4-1719-61DF-EE33-2A85AAAB1A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BBE2224-E0C8-E109-0EC3-B3C4B9288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1375A-1AAC-4B35-8ADD-13CD9406E81B}" type="datetimeFigureOut">
              <a:rPr lang="fr-FR" smtClean="0"/>
              <a:t>10/09/2026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252417B-2243-9D32-136E-E959A26A9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EB5DD71-C0F4-1323-59FE-4775067D7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A4713-5C37-4D51-BA6F-D4C6BBFF945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77100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9778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05A5391D-65D3-50FC-F584-6FD496A1B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D6850D7-12FC-593F-9CD6-755EC5EF7A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202A7F3-5273-03FA-6A28-4682387AE1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A1375A-1AAC-4B35-8ADD-13CD9406E81B}" type="datetimeFigureOut">
              <a:rPr lang="fr-FR" smtClean="0"/>
              <a:t>10/09/2026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FCF2554-2253-8623-36FB-7B88B0471B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B42E43A-792D-F52E-851B-CF00140FD1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6A4713-5C37-4D51-BA6F-D4C6BBFF945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30397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8171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hf sldNum="0" hdr="0" ftr="0" dt="0"/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fabric/data-warehouse/copilot-code-completion" TargetMode="External"/><Relationship Id="rId2" Type="http://schemas.openxmlformats.org/officeDocument/2006/relationships/hyperlink" Target="https://learn.microsoft.com/en-us/fabric/data-warehouse/copilot-chat-pane" TargetMode="Externa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learn.microsoft.com/en-us/fabric/data-warehouse/copilot-quick-action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fabric/data-warehouse/copilot" TargetMode="Externa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fabric/fundamentals/copilot-fabric-data-factory#generate-a-data-pipeline-with-copilot" TargetMode="External"/><Relationship Id="rId2" Type="http://schemas.openxmlformats.org/officeDocument/2006/relationships/hyperlink" Target="https://learn.microsoft.com/en-us/fabric/fundamentals/copilot-fabric-data-factory#get-started-with-copilot-for-dataflow-gen2" TargetMode="Externa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learn.microsoft.com/en-us/fabric/fundamentals/copilot-fabric-data-factory#troubleshoot-pipeline-errors-with-copilot" TargetMode="External"/><Relationship Id="rId4" Type="http://schemas.openxmlformats.org/officeDocument/2006/relationships/hyperlink" Target="https://learn.microsoft.com/en-us/fabric/fundamentals/copilot-fabric-data-factory#summarize-a-data-pipeline-with-copilot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fabric/data-engineering/copilot-notebooks-overview#what-you-can-accomplish-with-copilot" TargetMode="External"/><Relationship Id="rId2" Type="http://schemas.openxmlformats.org/officeDocument/2006/relationships/hyperlink" Target="https://learn.microsoft.com/en-us/fabric/data-engineering/copilot-notebooks-chat-pane" TargetMode="Externa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learn.microsoft.com/en-us/fabric/data-engineering/copilot-notebooks-chat-pane#diagnose-notebook-failures" TargetMode="External"/><Relationship Id="rId4" Type="http://schemas.openxmlformats.org/officeDocument/2006/relationships/hyperlink" Target="https://learn.microsoft.com/en-us/fabric/data-engineering/copilot-notebooks-chat-pane#in-cell-copilot" TargetMode="Externa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en-us/fabric/real-time-intelligence/copilot-writing-queries" TargetMode="Externa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5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9.png"/><Relationship Id="rId4" Type="http://schemas.openxmlformats.org/officeDocument/2006/relationships/image" Target="../media/image54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3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3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3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3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3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3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3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3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3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3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3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3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3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3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png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Assistance IA pour les Data Engineers dans  Microsoft Fabric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Accélérer</a:t>
            </a: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les </a:t>
            </a:r>
            <a:r>
              <a:rPr lang="en-US" sz="1800" i="1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développements</a:t>
            </a: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Data Engineering </a:t>
            </a:r>
            <a:r>
              <a:rPr lang="en-US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</a:t>
            </a: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Data Science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3840480"/>
            <a:ext cx="137160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731520" y="402336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 Peton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Architecte IA - Expertime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943600" y="1828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GitHub Copilot pour Microsoft Fabric  -  Expertime</a:t>
            </a:r>
            <a:endParaRPr lang="en-US" sz="800"/>
          </a:p>
        </p:txBody>
      </p:sp>
      <p:sp>
        <p:nvSpPr>
          <p:cNvPr id="5" name="Title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Objectifs de la formation</a:t>
            </a:r>
            <a:endParaRPr lang="en-US" sz="2800"/>
          </a:p>
        </p:txBody>
      </p:sp>
      <p:sp>
        <p:nvSpPr>
          <p:cNvPr id="6" name="Body"/>
          <p:cNvSpPr/>
          <p:nvPr/>
        </p:nvSpPr>
        <p:spPr>
          <a:xfrm>
            <a:off x="457200" y="1440000"/>
            <a:ext cx="8229600" cy="33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Comprendre les capacités Copilot intégrées à chaque workload de Microsoft Fabric.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Adopter les bonnes pratiques de prompting et de vibe coding au quotidien.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Maîtriser GitHub Copilot dans VS Code : installation, paramétrage, extensions.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Connecter le développement local aux items Fabric et exécuter à distance.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Gagner en productivité sur les développements Data Engineering &amp; Data Science.</a:t>
            </a:r>
          </a:p>
        </p:txBody>
      </p:sp>
    </p:spTree>
    <p:extLst>
      <p:ext uri="{BB962C8B-B14F-4D97-AF65-F5344CB8AC3E}">
        <p14:creationId xmlns:p14="http://schemas.microsoft.com/office/powerpoint/2010/main" val="18170389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943600" y="1828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GitHub Copilot pour Microsoft Fabric  -  Expertime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l'issue de la </a:t>
            </a:r>
            <a:r>
              <a:rPr lang="en-US" sz="13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</a:t>
            </a: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vos Data Engineers </a:t>
            </a:r>
            <a:r>
              <a:rPr lang="en-US" sz="13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auront</a:t>
            </a: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découvert</a:t>
            </a: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393192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64008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4440" y="1828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</a:rPr>
              <a:t>Les </a:t>
            </a:r>
            <a:r>
              <a:rPr lang="en-US" sz="1500" b="1" dirty="0" err="1">
                <a:solidFill>
                  <a:srgbClr val="21295C"/>
                </a:solidFill>
                <a:latin typeface="Cambria" pitchFamily="34" charset="0"/>
                <a:ea typeface="Cambria" pitchFamily="34" charset="-122"/>
              </a:rPr>
              <a:t>fonctionnalités</a:t>
            </a: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</a:rPr>
              <a:t> Copilot dans Fabric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34440" y="22402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Notebooks, Dataflows, </a:t>
            </a:r>
            <a:r>
              <a:rPr lang="en-US" sz="11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</a:t>
            </a: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SQL…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600200"/>
            <a:ext cx="393192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4846320" y="187452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84632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440680" y="1828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principes du vibe coding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40680" y="22402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Nouvelle </a:t>
            </a:r>
            <a:r>
              <a:rPr lang="en-US" sz="11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approche</a:t>
            </a: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</a:t>
            </a: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code par assistance IA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108960"/>
            <a:ext cx="393192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640080" y="33832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64008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34440" y="33375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Copilot dans VSC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234440" y="37490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Installation, </a:t>
            </a:r>
            <a:r>
              <a:rPr lang="en-US" sz="11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paramétrage</a:t>
            </a: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extentions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3108960"/>
            <a:ext cx="393192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4846320" y="33832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484632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440680" y="33375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</a:rPr>
              <a:t>Les interactions entre GitHub Copilot et les items Fabric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440680" y="37490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 local, </a:t>
            </a:r>
            <a:r>
              <a:rPr lang="en-US" sz="11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exécution</a:t>
            </a: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à distance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943600" y="1828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dans Fabric -  Fondamentaux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GitHub Copilot pour Microsoft Fabric  -  Expertime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4114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411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280160" y="45720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 err="1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Fonctionnalités</a:t>
            </a: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Copilot dans Fabric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12801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065A82"/>
                </a:solidFill>
                <a:latin typeface="Cambria" pitchFamily="34" charset="0"/>
                <a:ea typeface="Cambria" pitchFamily="34" charset="-122"/>
              </a:rPr>
              <a:t>Chaque</a:t>
            </a: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</a:rPr>
              <a:t> workload dispose de son Copilot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199" y="1691640"/>
            <a:ext cx="4571999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 Data Engineering &amp; Data Science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Data Factory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Data Warehouse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Real-Time Intelligence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600" dirty="0">
              <a:solidFill>
                <a:srgbClr val="1A233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for SQL database</a:t>
            </a:r>
            <a:endParaRPr lang="en-US" sz="1600" dirty="0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31F9863D-7408-4FAD-2553-5900846AEE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8469" y="1183500"/>
            <a:ext cx="3069771" cy="37085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943600" y="1828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dans Fabric -  Fondamentaux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GitHub Copilot pour Microsoft Fabric  -  Expertime</a:t>
            </a:r>
            <a:endParaRPr lang="en-US" sz="800"/>
          </a:p>
        </p:txBody>
      </p:sp>
      <p:sp>
        <p:nvSpPr>
          <p:cNvPr id="5" name="Title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Requêtes</a:t>
            </a: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SQL dans le Data Warehouse</a:t>
            </a:r>
            <a:endParaRPr lang="en-US" sz="2800" dirty="0"/>
          </a:p>
        </p:txBody>
      </p:sp>
      <p:sp>
        <p:nvSpPr>
          <p:cNvPr id="6" name="Body"/>
          <p:cNvSpPr/>
          <p:nvPr/>
        </p:nvSpPr>
        <p:spPr>
          <a:xfrm>
            <a:off x="457200" y="1440000"/>
            <a:ext cx="8229600" cy="33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/>
              </a:rPr>
              <a:t>Générer</a:t>
            </a: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/>
              </a:rPr>
              <a:t> des </a:t>
            </a:r>
            <a:r>
              <a:rPr lang="en-US" sz="16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/>
              </a:rPr>
              <a:t>requêtes</a:t>
            </a: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/>
              </a:rPr>
              <a:t> SQL (preview)</a:t>
            </a: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1600" dirty="0">
              <a:solidFill>
                <a:srgbClr val="1A233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Suggérer</a:t>
            </a: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 des </a:t>
            </a:r>
            <a:r>
              <a:rPr lang="en-US" sz="16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complétions</a:t>
            </a: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 de code SQL (preview)</a:t>
            </a: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1600" dirty="0">
              <a:solidFill>
                <a:srgbClr val="1A233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Corriger</a:t>
            </a: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 le code des </a:t>
            </a:r>
            <a:r>
              <a:rPr lang="en-US" sz="16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requêtes</a:t>
            </a: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 SQL (preview)</a:t>
            </a: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1600" dirty="0">
              <a:solidFill>
                <a:srgbClr val="1A233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Expliquer</a:t>
            </a: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 le code des </a:t>
            </a:r>
            <a:r>
              <a:rPr lang="en-US" sz="16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requêtes</a:t>
            </a: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 SQL (preview)</a:t>
            </a: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611384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1CE305-6E12-654B-9258-56C5FBD51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C597349-08CC-440A-08A7-C025019532C7}"/>
              </a:ext>
            </a:extLst>
          </p:cNvPr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DC469F6-7A4B-3DB9-62DA-2D415B9A77CE}"/>
              </a:ext>
            </a:extLst>
          </p:cNvPr>
          <p:cNvSpPr/>
          <p:nvPr/>
        </p:nvSpPr>
        <p:spPr>
          <a:xfrm>
            <a:off x="5943600" y="1828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dans Fabric -  Fondamentaux</a:t>
            </a:r>
            <a:endParaRPr lang="en-US" sz="9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D204220-A015-A350-04FF-4A50CC6667E4}"/>
              </a:ext>
            </a:extLst>
          </p:cNvPr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GitHub Copilot pour Microsoft Fabric  -  Expertime</a:t>
            </a:r>
            <a:endParaRPr lang="en-US" sz="800"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6AA8FF0C-BEE1-3DFF-9A40-4979A456C38C}"/>
              </a:ext>
            </a:extLst>
          </p:cNvPr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Copilot dans Fabric Data Warehouse</a:t>
            </a:r>
            <a:endParaRPr lang="en-US" sz="2800"/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5F160A31-1713-F5A0-59D7-32534C6EA80D}"/>
              </a:ext>
            </a:extLst>
          </p:cNvPr>
          <p:cNvSpPr/>
          <p:nvPr/>
        </p:nvSpPr>
        <p:spPr>
          <a:xfrm>
            <a:off x="457200" y="1150000"/>
            <a:ext cx="8229600" cy="37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6000"/>
              </a:lnSpc>
              <a:spcAft>
                <a:spcPts val="650"/>
              </a:spcAft>
              <a:buNone/>
            </a:pPr>
            <a:r>
              <a:rPr lang="fr-FR" sz="11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r>
              <a:rPr lang="fr-FR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dans Microsoft </a:t>
            </a:r>
            <a:r>
              <a:rPr lang="fr-FR" sz="11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</a:t>
            </a:r>
            <a:r>
              <a:rPr lang="fr-FR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Data Warehouse est un assistant IA conçu pour simplifier vos tâches d'entreposage de données. Voici ce que </a:t>
            </a:r>
            <a:r>
              <a:rPr lang="fr-FR" sz="11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r>
              <a:rPr lang="fr-FR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peut faire :</a:t>
            </a:r>
          </a:p>
          <a:p>
            <a:pPr marL="342900" indent="-342900">
              <a:lnSpc>
                <a:spcPct val="106000"/>
              </a:lnSpc>
              <a:spcAft>
                <a:spcPts val="450"/>
              </a:spcAft>
              <a:buSzPct val="100000"/>
              <a:buChar char="•"/>
            </a:pPr>
            <a:r>
              <a:rPr lang="fr-FR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</a:t>
            </a:r>
            <a:r>
              <a:rPr lang="fr-FR" sz="1100" b="1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r>
              <a:rPr lang="fr-FR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SQL</a:t>
            </a:r>
            <a:r>
              <a:rPr lang="fr-FR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: décrivez votre besoin en langage courant, et </a:t>
            </a:r>
            <a:r>
              <a:rPr lang="fr-FR" sz="11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r>
              <a:rPr lang="fr-FR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génère le T-SQL pour vous.</a:t>
            </a:r>
          </a:p>
          <a:p>
            <a:pPr marL="342900" indent="-342900">
              <a:lnSpc>
                <a:spcPct val="106000"/>
              </a:lnSpc>
              <a:spcAft>
                <a:spcPts val="450"/>
              </a:spcAft>
              <a:buSzPct val="100000"/>
              <a:buChar char="•"/>
            </a:pPr>
            <a:r>
              <a:rPr lang="fr-FR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</a:t>
            </a:r>
            <a:r>
              <a:rPr lang="fr-FR" sz="1100" b="1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</a:t>
            </a:r>
            <a:r>
              <a:rPr lang="fr-FR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: dès que vous commencez à écrire du T-SQL, </a:t>
            </a:r>
            <a:r>
              <a:rPr lang="fr-FR" sz="11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r>
              <a:rPr lang="fr-FR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suggère des complétions pour écrire vos requêtes plus vite.</a:t>
            </a:r>
          </a:p>
          <a:p>
            <a:pPr marL="342900" indent="-342900">
              <a:lnSpc>
                <a:spcPct val="106000"/>
              </a:lnSpc>
              <a:spcAft>
                <a:spcPts val="450"/>
              </a:spcAft>
              <a:buSzPct val="100000"/>
              <a:buChar char="•"/>
            </a:pPr>
            <a:r>
              <a:rPr lang="fr-FR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Actions</a:t>
            </a:r>
            <a:r>
              <a:rPr lang="fr-FR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: corrigez rapidement les erreurs de syntaxe SQL ou demandez à </a:t>
            </a:r>
            <a:r>
              <a:rPr lang="fr-FR" sz="11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r>
              <a:rPr lang="fr-FR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d'expliquer l'objectif d'une requête directement dans l'éditeur.</a:t>
            </a:r>
          </a:p>
          <a:p>
            <a:pPr marL="342900" indent="-342900">
              <a:lnSpc>
                <a:spcPct val="106000"/>
              </a:lnSpc>
              <a:spcAft>
                <a:spcPts val="450"/>
              </a:spcAft>
              <a:buSzPct val="100000"/>
              <a:buChar char="•"/>
            </a:pPr>
            <a:r>
              <a:rPr lang="fr-FR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Insights</a:t>
            </a:r>
            <a:r>
              <a:rPr lang="fr-FR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: </a:t>
            </a:r>
            <a:r>
              <a:rPr lang="fr-FR" sz="11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r>
              <a:rPr lang="fr-FR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fournit des suggestions et des analyses utiles à partir du schéma et des métadonnées de votre entrepôt.</a:t>
            </a:r>
          </a:p>
          <a:p>
            <a:pPr marL="0" indent="0">
              <a:lnSpc>
                <a:spcPct val="10600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fr-FR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pouvez utiliser </a:t>
            </a:r>
            <a:r>
              <a:rPr lang="fr-FR" sz="1100" b="1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r>
              <a:rPr lang="fr-FR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via :</a:t>
            </a:r>
          </a:p>
          <a:p>
            <a:pPr marL="742950" indent="-285750">
              <a:lnSpc>
                <a:spcPct val="106000"/>
              </a:lnSpc>
              <a:spcAft>
                <a:spcPts val="400"/>
              </a:spcAft>
              <a:buSzPct val="100000"/>
              <a:buChar char="–"/>
            </a:pPr>
            <a:r>
              <a:rPr lang="fr-FR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chat pane pour poser des questions et générer des requêtes.</a:t>
            </a:r>
          </a:p>
          <a:p>
            <a:pPr marL="742950" indent="-285750">
              <a:lnSpc>
                <a:spcPct val="106000"/>
              </a:lnSpc>
              <a:spcAft>
                <a:spcPts val="400"/>
              </a:spcAft>
              <a:buSzPct val="100000"/>
              <a:buChar char="–"/>
            </a:pPr>
            <a:r>
              <a:rPr lang="fr-FR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complétion de code </a:t>
            </a:r>
            <a:r>
              <a:rPr lang="fr-FR" sz="11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</a:t>
            </a:r>
            <a:r>
              <a:rPr lang="fr-FR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pendant l'écriture du SQL.</a:t>
            </a:r>
          </a:p>
          <a:p>
            <a:pPr marL="742950" indent="-285750">
              <a:lnSpc>
                <a:spcPct val="106000"/>
              </a:lnSpc>
              <a:spcAft>
                <a:spcPts val="450"/>
              </a:spcAft>
              <a:buSzPct val="100000"/>
              <a:buChar char="–"/>
            </a:pPr>
            <a:r>
              <a:rPr lang="fr-FR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quick actions (comme Fix et </a:t>
            </a:r>
            <a:r>
              <a:rPr lang="fr-FR" sz="11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r>
              <a:rPr lang="fr-FR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dans le ruban pour corriger les erreurs ou comprendre le code.</a:t>
            </a:r>
          </a:p>
          <a:p>
            <a:pPr marL="0" indent="0">
              <a:lnSpc>
                <a:spcPct val="106000"/>
              </a:lnSpc>
              <a:buNone/>
            </a:pPr>
            <a:endParaRPr lang="fr-FR" sz="1100" dirty="0">
              <a:solidFill>
                <a:srgbClr val="1A233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06000"/>
              </a:lnSpc>
              <a:buNone/>
            </a:pPr>
            <a:r>
              <a:rPr lang="fr-FR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plus de détails dans </a:t>
            </a:r>
            <a:r>
              <a:rPr lang="fr-FR" sz="1100" dirty="0">
                <a:solidFill>
                  <a:srgbClr val="065A82"/>
                </a:solidFill>
                <a:uFill>
                  <a:solidFill>
                    <a:srgbClr val="065A82"/>
                  </a:solidFill>
                </a:uFill>
                <a:latin typeface="Calibri" pitchFamily="34" charset="0"/>
                <a:ea typeface="Calibri" pitchFamily="34" charset="-122"/>
                <a:cs typeface="Calibri" pitchFamily="34" charset="-120"/>
                <a:hlinkClick r:id="rId2"/>
              </a:rPr>
              <a:t>la documentation officielle</a:t>
            </a:r>
            <a:r>
              <a:rPr lang="fr-FR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endParaRPr lang="fr-FR" sz="1200" dirty="0"/>
          </a:p>
        </p:txBody>
      </p:sp>
    </p:spTree>
    <p:extLst>
      <p:ext uri="{BB962C8B-B14F-4D97-AF65-F5344CB8AC3E}">
        <p14:creationId xmlns:p14="http://schemas.microsoft.com/office/powerpoint/2010/main" val="25399053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F7B480-2E0E-7859-5BC3-6B4248240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550CDFB-2A78-FAE2-1F6B-4ECC772F238F}"/>
              </a:ext>
            </a:extLst>
          </p:cNvPr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E72BDD9-E183-360F-A915-245C178C2A8A}"/>
              </a:ext>
            </a:extLst>
          </p:cNvPr>
          <p:cNvSpPr/>
          <p:nvPr/>
        </p:nvSpPr>
        <p:spPr>
          <a:xfrm>
            <a:off x="5943600" y="1828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dans Fabric -  Fondamentaux</a:t>
            </a:r>
            <a:endParaRPr lang="en-US" sz="9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FFC3CFB-4C3B-E42A-9897-CD0CEC03E0B4}"/>
              </a:ext>
            </a:extLst>
          </p:cNvPr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GitHub Copilot pour Microsoft Fabric  -  Expertime</a:t>
            </a:r>
            <a:endParaRPr lang="en-US" sz="800"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3227F5E8-BDC5-3503-A7BF-292B35D16B12}"/>
              </a:ext>
            </a:extLst>
          </p:cNvPr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Copilot Code Completion dans Fabric Data Warehouse (Preview)</a:t>
            </a:r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934AEC86-EF02-AB3F-2A4F-8CC09E376471}"/>
              </a:ext>
            </a:extLst>
          </p:cNvPr>
          <p:cNvSpPr/>
          <p:nvPr/>
        </p:nvSpPr>
        <p:spPr>
          <a:xfrm>
            <a:off x="457200" y="1150000"/>
            <a:ext cx="8229600" cy="37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6000"/>
              </a:lnSpc>
              <a:spcAft>
                <a:spcPts val="650"/>
              </a:spcAft>
              <a:buNone/>
            </a:pPr>
            <a:r>
              <a:rPr lang="fr-FR" sz="1100" b="1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r>
              <a:rPr lang="fr-FR" sz="1100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Code </a:t>
            </a:r>
            <a:r>
              <a:rPr lang="fr-FR" sz="1100" b="1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</a:t>
            </a:r>
            <a:r>
              <a:rPr lang="fr-FR" sz="11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assiste les développeurs SQL en proposant des suggestions T-SQL intelligentes directement dans l’éditeur de requêtes </a:t>
            </a:r>
            <a:r>
              <a:rPr lang="fr-FR" sz="110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</a:t>
            </a:r>
            <a:r>
              <a:rPr lang="fr-FR" sz="11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Data Warehouse. Il s’appuie sur le schéma du Data Warehouse et le contexte de la requête en cours afin de générer des complétions pertinentes en temps réel.</a:t>
            </a:r>
          </a:p>
          <a:p>
            <a:pPr marL="0" indent="0">
              <a:lnSpc>
                <a:spcPct val="10600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fr-FR" sz="1100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 principales</a:t>
            </a:r>
          </a:p>
          <a:p>
            <a:pPr marL="342900" indent="-342900">
              <a:lnSpc>
                <a:spcPct val="106000"/>
              </a:lnSpc>
              <a:spcAft>
                <a:spcPts val="450"/>
              </a:spcAft>
              <a:buSzPct val="100000"/>
              <a:buChar char="•"/>
            </a:pPr>
            <a:r>
              <a:rPr lang="fr-FR" sz="11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Complétion automatique de requêtes T-SQL pendant la saisie.</a:t>
            </a:r>
          </a:p>
          <a:p>
            <a:pPr marL="342900" indent="-342900">
              <a:lnSpc>
                <a:spcPct val="106000"/>
              </a:lnSpc>
              <a:spcAft>
                <a:spcPts val="450"/>
              </a:spcAft>
              <a:buSzPct val="100000"/>
              <a:buChar char="•"/>
            </a:pPr>
            <a:r>
              <a:rPr lang="fr-FR" sz="11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Suggestions contextuelles basées sur les tables, colonnes et objets du Data Warehouse.</a:t>
            </a:r>
          </a:p>
          <a:p>
            <a:pPr marL="342900" indent="-342900">
              <a:lnSpc>
                <a:spcPct val="106000"/>
              </a:lnSpc>
              <a:spcAft>
                <a:spcPts val="450"/>
              </a:spcAft>
              <a:buSzPct val="100000"/>
              <a:buChar char="•"/>
            </a:pPr>
            <a:r>
              <a:rPr lang="fr-FR" sz="11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de blocs de code complets, et non seulement de quelques mots.</a:t>
            </a:r>
          </a:p>
          <a:p>
            <a:pPr marL="342900" indent="-342900">
              <a:lnSpc>
                <a:spcPct val="106000"/>
              </a:lnSpc>
              <a:spcAft>
                <a:spcPts val="450"/>
              </a:spcAft>
              <a:buSzPct val="100000"/>
              <a:buChar char="•"/>
            </a:pPr>
            <a:r>
              <a:rPr lang="fr-FR" sz="11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des commandes DDL, DML et DQL.</a:t>
            </a:r>
          </a:p>
          <a:p>
            <a:pPr marL="342900" indent="-342900">
              <a:lnSpc>
                <a:spcPct val="106000"/>
              </a:lnSpc>
              <a:spcAft>
                <a:spcPts val="450"/>
              </a:spcAft>
              <a:buSzPct val="100000"/>
              <a:buChar char="•"/>
            </a:pPr>
            <a:r>
              <a:rPr lang="fr-FR" sz="11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Possibilité de générer du SQL à partir de commentaires rédigés en langage naturel.</a:t>
            </a:r>
          </a:p>
          <a:p>
            <a:pPr marL="342900" indent="-342900">
              <a:lnSpc>
                <a:spcPct val="106000"/>
              </a:lnSpc>
              <a:spcAft>
                <a:spcPts val="450"/>
              </a:spcAft>
              <a:buSzPct val="100000"/>
              <a:buChar char="•"/>
            </a:pPr>
            <a:r>
              <a:rPr lang="fr-FR" sz="11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Proposition de plusieurs variantes de code pour une même demande.</a:t>
            </a:r>
          </a:p>
          <a:p>
            <a:pPr marL="0" indent="0">
              <a:lnSpc>
                <a:spcPct val="10600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fr-FR" sz="1100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Utilisation</a:t>
            </a:r>
          </a:p>
          <a:p>
            <a:pPr marL="0" indent="0">
              <a:lnSpc>
                <a:spcPct val="106000"/>
              </a:lnSpc>
              <a:buNone/>
            </a:pPr>
            <a:r>
              <a:rPr lang="fr-FR" sz="110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r>
              <a:rPr lang="fr-FR" sz="11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affiche des suggestions directement dans l’éditeur sous forme de texte grisé (« </a:t>
            </a:r>
            <a:r>
              <a:rPr lang="fr-FR" sz="110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</a:t>
            </a:r>
            <a:r>
              <a:rPr lang="fr-FR" sz="11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fr-FR" sz="110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r>
              <a:rPr lang="fr-FR" sz="11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»). Les utilisateurs peuvent accepter l’intégralité d’une proposition, n’en sélectionner qu’une partie ou choisir parmi plusieurs alternatives. Les commentaires en langage naturel peuvent également être utilisés pour décrire l’intention métier, </a:t>
            </a:r>
            <a:r>
              <a:rPr lang="fr-FR" sz="110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r>
              <a:rPr lang="fr-FR" sz="11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générant ensuite la requête SQL correspondante.</a:t>
            </a:r>
          </a:p>
        </p:txBody>
      </p:sp>
    </p:spTree>
    <p:extLst>
      <p:ext uri="{BB962C8B-B14F-4D97-AF65-F5344CB8AC3E}">
        <p14:creationId xmlns:p14="http://schemas.microsoft.com/office/powerpoint/2010/main" val="41977872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E0A13F9A-0417-F13D-E1B4-1D91B90CFB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77763"/>
            <a:ext cx="9144000" cy="4387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1114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C386E5EC-8AC9-E829-C625-7FF91DC20C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8322" y="0"/>
            <a:ext cx="4107355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8077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A1558AA1-4651-F90A-9296-0B21950109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1718"/>
            <a:ext cx="9144000" cy="4560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1082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572A8F08-72B4-6B43-E61A-7E8721BAF0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5355"/>
            <a:ext cx="9144000" cy="4552790"/>
          </a:xfrm>
          <a:prstGeom prst="rect">
            <a:avLst/>
          </a:prstGeom>
        </p:spPr>
      </p:pic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534FC9BA-66F3-6F12-B1B1-B02B3CF2FF2E}"/>
              </a:ext>
            </a:extLst>
          </p:cNvPr>
          <p:cNvSpPr/>
          <p:nvPr/>
        </p:nvSpPr>
        <p:spPr>
          <a:xfrm>
            <a:off x="1682885" y="4659549"/>
            <a:ext cx="1819072" cy="188596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864BB419-109B-32AD-7BE6-529C1CEBC2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2251" y="1313235"/>
            <a:ext cx="5388163" cy="4435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A2E313D2-1833-D9EA-768F-482E7444EF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2251" y="1908980"/>
            <a:ext cx="5023469" cy="20154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4A7A54DF-4C66-ED78-25CA-F14B5A520CCC}"/>
              </a:ext>
            </a:extLst>
          </p:cNvPr>
          <p:cNvSpPr/>
          <p:nvPr/>
        </p:nvSpPr>
        <p:spPr>
          <a:xfrm>
            <a:off x="4324913" y="1066730"/>
            <a:ext cx="1180942" cy="188596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89758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B09ADF48-413E-A32E-68E2-37AD0E3019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4899"/>
            <a:ext cx="9144000" cy="4533701"/>
          </a:xfrm>
          <a:prstGeom prst="rect">
            <a:avLst/>
          </a:prstGeom>
        </p:spPr>
      </p:pic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91B80190-5116-ACCD-6D3E-6DAD5E010E79}"/>
              </a:ext>
            </a:extLst>
          </p:cNvPr>
          <p:cNvSpPr/>
          <p:nvPr/>
        </p:nvSpPr>
        <p:spPr>
          <a:xfrm>
            <a:off x="4324913" y="1066730"/>
            <a:ext cx="548644" cy="188596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110610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9D0F9BFA-CDAC-9F60-93C0-D6D7026F84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6516"/>
            <a:ext cx="9144000" cy="4550468"/>
          </a:xfrm>
          <a:prstGeom prst="rect">
            <a:avLst/>
          </a:prstGeom>
        </p:spPr>
      </p:pic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A71DE278-1130-F949-37D6-67D1AC782DF5}"/>
              </a:ext>
            </a:extLst>
          </p:cNvPr>
          <p:cNvSpPr/>
          <p:nvPr/>
        </p:nvSpPr>
        <p:spPr>
          <a:xfrm>
            <a:off x="4850207" y="1066730"/>
            <a:ext cx="548644" cy="188596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02868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D400AD-65BD-A924-F280-FB95D8FAE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943600" y="1828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dans Fabric -  Fondamentaux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GitHub Copilot pour Microsoft Fabric  -  Expertime</a:t>
            </a:r>
            <a:endParaRPr lang="en-US" sz="800"/>
          </a:p>
        </p:txBody>
      </p:sp>
      <p:sp>
        <p:nvSpPr>
          <p:cNvPr id="5" name="Title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Copilot pour Data Factory</a:t>
            </a:r>
            <a:endParaRPr lang="en-US" sz="2800"/>
          </a:p>
        </p:txBody>
      </p:sp>
      <p:sp>
        <p:nvSpPr>
          <p:cNvPr id="6" name="Body"/>
          <p:cNvSpPr/>
          <p:nvPr/>
        </p:nvSpPr>
        <p:spPr>
          <a:xfrm>
            <a:off x="457200" y="1440000"/>
            <a:ext cx="8229600" cy="33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Dataflows gen2</a:t>
            </a:r>
          </a:p>
          <a:p>
            <a:pPr marL="742950" indent="-285750">
              <a:spcAft>
                <a:spcPts val="800"/>
              </a:spcAft>
              <a:buSzPct val="100000"/>
              <a:buChar char="–"/>
            </a:pPr>
            <a:r>
              <a:rPr lang="en-US" sz="16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/>
              </a:rPr>
              <a:t>Générer</a:t>
            </a: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/>
              </a:rPr>
              <a:t> </a:t>
            </a:r>
            <a:r>
              <a:rPr lang="en-US" sz="16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/>
              </a:rPr>
              <a:t>une</a:t>
            </a: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/>
              </a:rPr>
              <a:t> nouvelle </a:t>
            </a:r>
            <a:r>
              <a:rPr lang="en-US" sz="16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/>
              </a:rPr>
              <a:t>requête</a:t>
            </a:r>
            <a:endParaRPr lang="en-US" sz="1600" dirty="0">
              <a:solidFill>
                <a:srgbClr val="1A2332"/>
              </a:solidFill>
              <a:latin typeface="Calibri" pitchFamily="34" charset="0"/>
              <a:ea typeface="Calibri" pitchFamily="34" charset="-122"/>
              <a:cs typeface="Calibri" pitchFamily="34" charset="-120"/>
              <a:hlinkClick r:id="rId2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600" b="1" dirty="0">
              <a:solidFill>
                <a:srgbClr val="1A233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</a:p>
          <a:p>
            <a:pPr marL="742950" indent="-285750">
              <a:spcAft>
                <a:spcPts val="400"/>
              </a:spcAft>
              <a:buSzPct val="100000"/>
              <a:buChar char="–"/>
            </a:pPr>
            <a:r>
              <a:rPr lang="en-US" sz="16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Générer</a:t>
            </a: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 et </a:t>
            </a:r>
            <a:r>
              <a:rPr lang="en-US" sz="16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exécuter</a:t>
            </a: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 un pipeline</a:t>
            </a: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742950" indent="-285750">
              <a:spcAft>
                <a:spcPts val="400"/>
              </a:spcAft>
              <a:buSzPct val="100000"/>
              <a:buChar char="–"/>
            </a:pPr>
            <a:r>
              <a:rPr lang="en-US" sz="16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Résumer</a:t>
            </a: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 un pipeline</a:t>
            </a: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742950" indent="-285750">
              <a:spcAft>
                <a:spcPts val="400"/>
              </a:spcAft>
              <a:buSzPct val="100000"/>
              <a:buChar char="–"/>
            </a:pPr>
            <a:r>
              <a:rPr lang="en-US" sz="16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/>
              </a:rPr>
              <a:t>Diagnostiquer</a:t>
            </a: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/>
              </a:rPr>
              <a:t> les </a:t>
            </a:r>
            <a:r>
              <a:rPr lang="en-US" sz="16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/>
              </a:rPr>
              <a:t>erreurs</a:t>
            </a: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/>
              </a:rPr>
              <a:t> de pipeline</a:t>
            </a: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228754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F4282E-275F-6020-B42A-B7B74A6B3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8B80F02-503D-FADC-AE53-EC2A8ABDB3D6}"/>
              </a:ext>
            </a:extLst>
          </p:cNvPr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0C80EEE-96FE-2F70-9EBB-73990DCC6CBB}"/>
              </a:ext>
            </a:extLst>
          </p:cNvPr>
          <p:cNvSpPr/>
          <p:nvPr/>
        </p:nvSpPr>
        <p:spPr>
          <a:xfrm>
            <a:off x="5943600" y="1828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dans Fabric -  Fondamentaux</a:t>
            </a:r>
            <a:endParaRPr lang="en-US" sz="9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66D9F2D-1493-955B-68EB-DE17A7EC0D78}"/>
              </a:ext>
            </a:extLst>
          </p:cNvPr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GitHub Copilot pour Microsoft Fabric  -  Expertime</a:t>
            </a:r>
            <a:endParaRPr lang="en-US" sz="800"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E0DB0F53-0D17-075B-CF8D-0F6F7E9B3271}"/>
              </a:ext>
            </a:extLst>
          </p:cNvPr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Génération</a:t>
            </a: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 transformations avec Copilot</a:t>
            </a:r>
            <a:endParaRPr lang="en-US" sz="2800" dirty="0"/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20BBB9CB-816F-9B6C-B181-E76D18B4B608}"/>
              </a:ext>
            </a:extLst>
          </p:cNvPr>
          <p:cNvSpPr/>
          <p:nvPr/>
        </p:nvSpPr>
        <p:spPr>
          <a:xfrm>
            <a:off x="457200" y="1440000"/>
            <a:ext cx="8229600" cy="33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fontAlgn="t">
              <a:lnSpc>
                <a:spcPts val="1550"/>
              </a:lnSpc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fr-FR" sz="1150" dirty="0">
                <a:latin typeface="Segoe UI" panose="020B0502040204020203" pitchFamily="34" charset="0"/>
              </a:rPr>
              <a:t> Une fois les données chargées, </a:t>
            </a:r>
            <a:r>
              <a:rPr lang="fr-FR" sz="1150" dirty="0" err="1">
                <a:latin typeface="Segoe UI" panose="020B0502040204020203" pitchFamily="34" charset="0"/>
              </a:rPr>
              <a:t>Copilot</a:t>
            </a:r>
            <a:r>
              <a:rPr lang="fr-FR" sz="1150" dirty="0">
                <a:latin typeface="Segoe UI" panose="020B0502040204020203" pitchFamily="34" charset="0"/>
              </a:rPr>
              <a:t> peut générer des étapes de transformation à partir d’une instruction textuelle.</a:t>
            </a:r>
          </a:p>
          <a:p>
            <a:pPr fontAlgn="t">
              <a:lnSpc>
                <a:spcPts val="1550"/>
              </a:lnSpc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fr-FR" sz="1150" dirty="0">
                <a:latin typeface="Segoe UI" panose="020B0502040204020203" pitchFamily="34" charset="0"/>
              </a:rPr>
              <a:t> </a:t>
            </a:r>
            <a:r>
              <a:rPr lang="fr-FR" sz="1150" dirty="0" err="1">
                <a:latin typeface="Segoe UI" panose="020B0502040204020203" pitchFamily="34" charset="0"/>
              </a:rPr>
              <a:t>Copilot</a:t>
            </a:r>
            <a:r>
              <a:rPr lang="fr-FR" sz="1150" dirty="0">
                <a:latin typeface="Segoe UI" panose="020B0502040204020203" pitchFamily="34" charset="0"/>
              </a:rPr>
              <a:t> ajoute alors une étape dans la requête sélectionnée. L’utilisateur peut vérifier le résultat dans :</a:t>
            </a:r>
          </a:p>
          <a:p>
            <a:pPr lvl="1" fontAlgn="t">
              <a:lnSpc>
                <a:spcPts val="155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fr-FR" sz="1150" dirty="0">
                <a:latin typeface="Segoe UI" panose="020B0502040204020203" pitchFamily="34" charset="0"/>
              </a:rPr>
              <a:t> la liste </a:t>
            </a:r>
            <a:r>
              <a:rPr lang="fr-FR" sz="1150" b="1" dirty="0" err="1">
                <a:latin typeface="Segoe UI" panose="020B0502040204020203" pitchFamily="34" charset="0"/>
              </a:rPr>
              <a:t>Applied</a:t>
            </a:r>
            <a:r>
              <a:rPr lang="fr-FR" sz="1150" b="1" dirty="0">
                <a:latin typeface="Segoe UI" panose="020B0502040204020203" pitchFamily="34" charset="0"/>
              </a:rPr>
              <a:t> </a:t>
            </a:r>
            <a:r>
              <a:rPr lang="fr-FR" sz="1150" b="1" dirty="0" err="1">
                <a:latin typeface="Segoe UI" panose="020B0502040204020203" pitchFamily="34" charset="0"/>
              </a:rPr>
              <a:t>steps</a:t>
            </a:r>
            <a:r>
              <a:rPr lang="fr-FR" sz="1150" dirty="0">
                <a:latin typeface="Segoe UI" panose="020B0502040204020203" pitchFamily="34" charset="0"/>
              </a:rPr>
              <a:t> ;</a:t>
            </a:r>
          </a:p>
          <a:p>
            <a:pPr lvl="1" fontAlgn="t">
              <a:lnSpc>
                <a:spcPts val="155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fr-FR" sz="1150" dirty="0">
                <a:latin typeface="Segoe UI" panose="020B0502040204020203" pitchFamily="34" charset="0"/>
              </a:rPr>
              <a:t> la barre de formule ;</a:t>
            </a:r>
          </a:p>
          <a:p>
            <a:pPr lvl="1" fontAlgn="t">
              <a:lnSpc>
                <a:spcPts val="155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fr-FR" sz="1150" dirty="0">
                <a:latin typeface="Segoe UI" panose="020B0502040204020203" pitchFamily="34" charset="0"/>
              </a:rPr>
              <a:t> l’aperçu des données.</a:t>
            </a:r>
          </a:p>
          <a:p>
            <a:pPr fontAlgn="t">
              <a:lnSpc>
                <a:spcPts val="1550"/>
              </a:lnSpc>
              <a:spcBef>
                <a:spcPts val="700"/>
              </a:spcBef>
              <a:buFont typeface="Arial" panose="020B0604020202020204" pitchFamily="34" charset="0"/>
              <a:buChar char="•"/>
            </a:pPr>
            <a:endParaRPr lang="fr-FR" sz="1150" dirty="0">
              <a:latin typeface="Segoe UI" panose="020B0502040204020203" pitchFamily="34" charset="0"/>
            </a:endParaRPr>
          </a:p>
          <a:p>
            <a:pPr fontAlgn="t">
              <a:lnSpc>
                <a:spcPts val="1550"/>
              </a:lnSpc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fr-FR" sz="1150" dirty="0">
                <a:latin typeface="Segoe UI" panose="020B0502040204020203" pitchFamily="34" charset="0"/>
              </a:rPr>
              <a:t> </a:t>
            </a:r>
            <a:r>
              <a:rPr lang="fr-FR" sz="1150" dirty="0" err="1">
                <a:latin typeface="Segoe UI" panose="020B0502040204020203" pitchFamily="34" charset="0"/>
              </a:rPr>
              <a:t>Copilot</a:t>
            </a:r>
            <a:r>
              <a:rPr lang="fr-FR" sz="1150" dirty="0">
                <a:latin typeface="Segoe UI" panose="020B0502040204020203" pitchFamily="34" charset="0"/>
              </a:rPr>
              <a:t> peut aussi produire des agrégations.</a:t>
            </a:r>
          </a:p>
          <a:p>
            <a:pPr lvl="1" fontAlgn="t">
              <a:lnSpc>
                <a:spcPts val="1550"/>
              </a:lnSpc>
              <a:spcBef>
                <a:spcPts val="700"/>
              </a:spcBef>
            </a:pPr>
            <a:r>
              <a:rPr lang="fr-FR" sz="1150" dirty="0">
                <a:latin typeface="Segoe UI" panose="020B0502040204020203" pitchFamily="34" charset="0"/>
              </a:rPr>
              <a:t>Exemple : </a:t>
            </a:r>
            <a:r>
              <a:rPr lang="fr-FR" sz="1150" dirty="0">
                <a:latin typeface="Courier New" panose="02070309020205020404" pitchFamily="49" charset="0"/>
              </a:rPr>
              <a:t>Count the total </a:t>
            </a:r>
            <a:r>
              <a:rPr lang="fr-FR" sz="1150" dirty="0" err="1">
                <a:latin typeface="Courier New" panose="02070309020205020404" pitchFamily="49" charset="0"/>
              </a:rPr>
              <a:t>number</a:t>
            </a:r>
            <a:r>
              <a:rPr lang="fr-FR" sz="1150" dirty="0">
                <a:latin typeface="Courier New" panose="02070309020205020404" pitchFamily="49" charset="0"/>
              </a:rPr>
              <a:t> of </a:t>
            </a:r>
            <a:r>
              <a:rPr lang="fr-FR" sz="1150" dirty="0" err="1">
                <a:latin typeface="Courier New" panose="02070309020205020404" pitchFamily="49" charset="0"/>
              </a:rPr>
              <a:t>employees</a:t>
            </a:r>
            <a:r>
              <a:rPr lang="fr-FR" sz="1150" dirty="0">
                <a:latin typeface="Courier New" panose="02070309020205020404" pitchFamily="49" charset="0"/>
              </a:rPr>
              <a:t> by City</a:t>
            </a:r>
            <a:endParaRPr lang="fr-FR" sz="1150" dirty="0">
              <a:latin typeface="Segoe UI" panose="020B0502040204020203" pitchFamily="34" charset="0"/>
            </a:endParaRPr>
          </a:p>
          <a:p>
            <a:pPr fontAlgn="t">
              <a:lnSpc>
                <a:spcPts val="1550"/>
              </a:lnSpc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fr-FR" sz="1150" dirty="0">
                <a:latin typeface="Segoe UI" panose="020B0502040204020203" pitchFamily="34" charset="0"/>
              </a:rPr>
              <a:t> Il peut appliquer des filtres plus avancés.</a:t>
            </a:r>
          </a:p>
          <a:p>
            <a:pPr lvl="1" fontAlgn="t">
              <a:lnSpc>
                <a:spcPts val="1550"/>
              </a:lnSpc>
              <a:spcBef>
                <a:spcPts val="700"/>
              </a:spcBef>
            </a:pPr>
            <a:r>
              <a:rPr lang="fr-FR" sz="1150" dirty="0">
                <a:latin typeface="Segoe UI" panose="020B0502040204020203" pitchFamily="34" charset="0"/>
              </a:rPr>
              <a:t>Exemple : </a:t>
            </a:r>
            <a:r>
              <a:rPr lang="fr-FR" sz="1150" dirty="0">
                <a:latin typeface="Courier New" panose="02070309020205020404" pitchFamily="49" charset="0"/>
              </a:rPr>
              <a:t>Only </a:t>
            </a:r>
            <a:r>
              <a:rPr lang="fr-FR" sz="1150" dirty="0" err="1">
                <a:latin typeface="Courier New" panose="02070309020205020404" pitchFamily="49" charset="0"/>
              </a:rPr>
              <a:t>keep</a:t>
            </a:r>
            <a:r>
              <a:rPr lang="fr-FR" sz="1150" dirty="0">
                <a:latin typeface="Courier New" panose="02070309020205020404" pitchFamily="49" charset="0"/>
              </a:rPr>
              <a:t> </a:t>
            </a:r>
            <a:r>
              <a:rPr lang="fr-FR" sz="1150" dirty="0" err="1">
                <a:latin typeface="Courier New" panose="02070309020205020404" pitchFamily="49" charset="0"/>
              </a:rPr>
              <a:t>orders</a:t>
            </a:r>
            <a:r>
              <a:rPr lang="fr-FR" sz="1150" dirty="0">
                <a:latin typeface="Courier New" panose="02070309020205020404" pitchFamily="49" charset="0"/>
              </a:rPr>
              <a:t> </a:t>
            </a:r>
            <a:r>
              <a:rPr lang="fr-FR" sz="1150" dirty="0" err="1">
                <a:latin typeface="Courier New" panose="02070309020205020404" pitchFamily="49" charset="0"/>
              </a:rPr>
              <a:t>whose</a:t>
            </a:r>
            <a:r>
              <a:rPr lang="fr-FR" sz="1150" dirty="0">
                <a:latin typeface="Courier New" panose="02070309020205020404" pitchFamily="49" charset="0"/>
              </a:rPr>
              <a:t> </a:t>
            </a:r>
            <a:r>
              <a:rPr lang="fr-FR" sz="1150" dirty="0" err="1">
                <a:latin typeface="Courier New" panose="02070309020205020404" pitchFamily="49" charset="0"/>
              </a:rPr>
              <a:t>quantities</a:t>
            </a:r>
            <a:r>
              <a:rPr lang="fr-FR" sz="1150" dirty="0">
                <a:latin typeface="Courier New" panose="02070309020205020404" pitchFamily="49" charset="0"/>
              </a:rPr>
              <a:t> are </a:t>
            </a:r>
            <a:r>
              <a:rPr lang="fr-FR" sz="1150" dirty="0" err="1">
                <a:latin typeface="Courier New" panose="02070309020205020404" pitchFamily="49" charset="0"/>
              </a:rPr>
              <a:t>above</a:t>
            </a:r>
            <a:r>
              <a:rPr lang="fr-FR" sz="1150" dirty="0">
                <a:latin typeface="Courier New" panose="02070309020205020404" pitchFamily="49" charset="0"/>
              </a:rPr>
              <a:t> the </a:t>
            </a:r>
            <a:r>
              <a:rPr lang="fr-FR" sz="1150" dirty="0" err="1">
                <a:latin typeface="Courier New" panose="02070309020205020404" pitchFamily="49" charset="0"/>
              </a:rPr>
              <a:t>median</a:t>
            </a:r>
            <a:r>
              <a:rPr lang="fr-FR" sz="1150" dirty="0">
                <a:latin typeface="Courier New" panose="02070309020205020404" pitchFamily="49" charset="0"/>
              </a:rPr>
              <a:t> value</a:t>
            </a:r>
            <a:endParaRPr lang="fr-FR" sz="1150" dirty="0">
              <a:latin typeface="Segoe UI" panose="020B0502040204020203" pitchFamily="34" charset="0"/>
            </a:endParaRPr>
          </a:p>
          <a:p>
            <a:pPr fontAlgn="t">
              <a:lnSpc>
                <a:spcPts val="1550"/>
              </a:lnSpc>
              <a:spcBef>
                <a:spcPts val="700"/>
              </a:spcBef>
              <a:buNone/>
            </a:pPr>
            <a:r>
              <a:rPr lang="fr-FR" sz="1150" dirty="0">
                <a:latin typeface="Segoe UI" panose="020B0502040204020203" pitchFamily="34" charset="0"/>
              </a:rPr>
              <a:t>Les réponses de </a:t>
            </a:r>
            <a:r>
              <a:rPr lang="fr-FR" sz="1150" dirty="0" err="1">
                <a:latin typeface="Segoe UI" panose="020B0502040204020203" pitchFamily="34" charset="0"/>
              </a:rPr>
              <a:t>Copilot</a:t>
            </a:r>
            <a:r>
              <a:rPr lang="fr-FR" sz="1150" dirty="0">
                <a:latin typeface="Segoe UI" panose="020B0502040204020203" pitchFamily="34" charset="0"/>
              </a:rPr>
              <a:t> apparaissent sous forme de cartes dans le panneau </a:t>
            </a:r>
            <a:r>
              <a:rPr lang="fr-FR" sz="1150" dirty="0" err="1">
                <a:latin typeface="Segoe UI" panose="020B0502040204020203" pitchFamily="34" charset="0"/>
              </a:rPr>
              <a:t>Copilot</a:t>
            </a:r>
            <a:r>
              <a:rPr lang="fr-FR" sz="1150" dirty="0">
                <a:latin typeface="Segoe UI" panose="020B0502040204020203" pitchFamily="34" charset="0"/>
              </a:rPr>
              <a:t>, avec la possibilité d’annuler certaines actions tant que la requête n’a pas été modifiée manuellement.</a:t>
            </a:r>
          </a:p>
        </p:txBody>
      </p:sp>
    </p:spTree>
    <p:extLst>
      <p:ext uri="{BB962C8B-B14F-4D97-AF65-F5344CB8AC3E}">
        <p14:creationId xmlns:p14="http://schemas.microsoft.com/office/powerpoint/2010/main" val="4792685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184E64-4F6B-EAE6-63FC-75F18CB59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E942D73-9B1B-4423-D35F-064A3376B693}"/>
              </a:ext>
            </a:extLst>
          </p:cNvPr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A374437-F533-38E4-E803-E1A92840E62D}"/>
              </a:ext>
            </a:extLst>
          </p:cNvPr>
          <p:cNvSpPr/>
          <p:nvPr/>
        </p:nvSpPr>
        <p:spPr>
          <a:xfrm>
            <a:off x="5943600" y="1828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dans Fabric -  Fondamentaux</a:t>
            </a:r>
            <a:endParaRPr lang="en-US" sz="9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D973B00-3D82-A8FB-D42A-BA6BA5A504A7}"/>
              </a:ext>
            </a:extLst>
          </p:cNvPr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GitHub Copilot pour Microsoft Fabric  -  Expertime</a:t>
            </a:r>
            <a:endParaRPr lang="en-US" sz="800"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2978999C-11AB-AF3B-1528-F4F1DC498314}"/>
              </a:ext>
            </a:extLst>
          </p:cNvPr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Génération de requêtes de transformation par IA</a:t>
            </a:r>
            <a:endParaRPr lang="en-US" sz="2800" dirty="0"/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58BBEE8F-D04F-774A-2A73-F8931FEA4E0C}"/>
              </a:ext>
            </a:extLst>
          </p:cNvPr>
          <p:cNvSpPr/>
          <p:nvPr/>
        </p:nvSpPr>
        <p:spPr>
          <a:xfrm>
            <a:off x="457200" y="1440000"/>
            <a:ext cx="8229600" cy="33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fontAlgn="t">
              <a:lnSpc>
                <a:spcPts val="1800"/>
              </a:lnSpc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fr-FR" sz="1250" dirty="0">
                <a:latin typeface="Segoe UI" panose="020B0502040204020203" pitchFamily="34" charset="0"/>
              </a:rPr>
              <a:t> </a:t>
            </a:r>
            <a:r>
              <a:rPr lang="fr-FR" sz="1250" dirty="0" err="1">
                <a:latin typeface="Segoe UI" panose="020B0502040204020203" pitchFamily="34" charset="0"/>
              </a:rPr>
              <a:t>Copilot</a:t>
            </a:r>
            <a:r>
              <a:rPr lang="fr-FR" sz="1250" dirty="0">
                <a:latin typeface="Segoe UI" panose="020B0502040204020203" pitchFamily="34" charset="0"/>
              </a:rPr>
              <a:t> facilite la création de transformations sans écrire manuellement le code Power Query / M.</a:t>
            </a:r>
          </a:p>
          <a:p>
            <a:pPr fontAlgn="t">
              <a:lnSpc>
                <a:spcPts val="1800"/>
              </a:lnSpc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fr-FR" sz="1250" dirty="0">
                <a:latin typeface="Segoe UI" panose="020B0502040204020203" pitchFamily="34" charset="0"/>
              </a:rPr>
              <a:t> L’utilisateur exprime son besoin en langage naturel.</a:t>
            </a:r>
          </a:p>
          <a:p>
            <a:pPr fontAlgn="t">
              <a:lnSpc>
                <a:spcPts val="1800"/>
              </a:lnSpc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fr-FR" sz="1250" dirty="0">
                <a:latin typeface="Segoe UI" panose="020B0502040204020203" pitchFamily="34" charset="0"/>
              </a:rPr>
              <a:t> </a:t>
            </a:r>
            <a:r>
              <a:rPr lang="fr-FR" sz="1250" dirty="0" err="1">
                <a:latin typeface="Segoe UI" panose="020B0502040204020203" pitchFamily="34" charset="0"/>
              </a:rPr>
              <a:t>Copilot</a:t>
            </a:r>
            <a:r>
              <a:rPr lang="fr-FR" sz="1250" dirty="0">
                <a:latin typeface="Segoe UI" panose="020B0502040204020203" pitchFamily="34" charset="0"/>
              </a:rPr>
              <a:t> traduit cette demande en étapes de transformation.</a:t>
            </a:r>
          </a:p>
          <a:p>
            <a:pPr fontAlgn="t">
              <a:lnSpc>
                <a:spcPts val="1800"/>
              </a:lnSpc>
              <a:spcBef>
                <a:spcPts val="900"/>
              </a:spcBef>
              <a:buFont typeface="Arial" panose="020B0604020202020204" pitchFamily="34" charset="0"/>
              <a:buChar char="•"/>
            </a:pPr>
            <a:endParaRPr lang="fr-FR" sz="1250" dirty="0">
              <a:latin typeface="Segoe UI" panose="020B0502040204020203" pitchFamily="34" charset="0"/>
            </a:endParaRPr>
          </a:p>
          <a:p>
            <a:pPr fontAlgn="t">
              <a:lnSpc>
                <a:spcPts val="1800"/>
              </a:lnSpc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fr-FR" sz="1250" dirty="0">
                <a:latin typeface="Segoe UI" panose="020B0502040204020203" pitchFamily="34" charset="0"/>
              </a:rPr>
              <a:t> L’approche permet d’accélérer les tâches fréquentes :</a:t>
            </a:r>
          </a:p>
          <a:p>
            <a:pPr lvl="1" fontAlgn="t">
              <a:lnSpc>
                <a:spcPts val="1800"/>
              </a:lnSpc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fr-FR" sz="1250" dirty="0">
                <a:latin typeface="Segoe UI" panose="020B0502040204020203" pitchFamily="34" charset="0"/>
              </a:rPr>
              <a:t> filtrage ;</a:t>
            </a:r>
          </a:p>
          <a:p>
            <a:pPr lvl="1" fontAlgn="t">
              <a:lnSpc>
                <a:spcPts val="18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fr-FR" sz="1250" dirty="0">
                <a:latin typeface="Segoe UI" panose="020B0502040204020203" pitchFamily="34" charset="0"/>
              </a:rPr>
              <a:t> agrégation ;</a:t>
            </a:r>
          </a:p>
          <a:p>
            <a:pPr lvl="1" fontAlgn="t">
              <a:lnSpc>
                <a:spcPts val="18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fr-FR" sz="1250" dirty="0">
                <a:latin typeface="Segoe UI" panose="020B0502040204020203" pitchFamily="34" charset="0"/>
              </a:rPr>
              <a:t> nettoyage ;</a:t>
            </a:r>
          </a:p>
          <a:p>
            <a:pPr lvl="1" fontAlgn="t">
              <a:lnSpc>
                <a:spcPts val="18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fr-FR" sz="1250" dirty="0">
                <a:latin typeface="Segoe UI" panose="020B0502040204020203" pitchFamily="34" charset="0"/>
              </a:rPr>
              <a:t> enrichissement ;</a:t>
            </a:r>
          </a:p>
          <a:p>
            <a:pPr lvl="1" fontAlgn="t">
              <a:lnSpc>
                <a:spcPts val="18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fr-FR" sz="1250" dirty="0">
                <a:latin typeface="Segoe UI" panose="020B0502040204020203" pitchFamily="34" charset="0"/>
              </a:rPr>
              <a:t> préparation des données pour analyse.</a:t>
            </a:r>
          </a:p>
        </p:txBody>
      </p:sp>
    </p:spTree>
    <p:extLst>
      <p:ext uri="{BB962C8B-B14F-4D97-AF65-F5344CB8AC3E}">
        <p14:creationId xmlns:p14="http://schemas.microsoft.com/office/powerpoint/2010/main" val="3421388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CD1CF5F-F3D9-1F74-9771-1163D03F81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71654"/>
            <a:ext cx="9144000" cy="4400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0025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A2632EFB-FBB2-E403-FE21-2ECEF1FC1B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2983"/>
            <a:ext cx="9144000" cy="4397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2291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716FF6EE-B894-20FB-FA3B-0A1B63A1C7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8812"/>
            <a:ext cx="9144000" cy="438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9632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EAE84719-286F-208D-8B32-15C25DCEDB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7946"/>
            <a:ext cx="9144000" cy="4407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4239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BA3F5C73-7CE7-92CA-F386-89F5E35A93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4577"/>
            <a:ext cx="9144000" cy="4414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8400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423D675C-6251-9A09-8E81-8DD70F3B23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76521"/>
            <a:ext cx="9144000" cy="4390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0728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12B91FD6-EDF9-E1D6-53F6-0908AC8FF5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5093"/>
            <a:ext cx="9144000" cy="4393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6887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97A11E-929A-AB0E-DBB8-25038494B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943600" y="1828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dans Fabric -  Fondamentaux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GitHub Copilot pour Microsoft Fabric  -  Expertime</a:t>
            </a:r>
            <a:endParaRPr lang="en-US" sz="800"/>
          </a:p>
        </p:txBody>
      </p:sp>
      <p:sp>
        <p:nvSpPr>
          <p:cNvPr id="5" name="Title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Copilot pour Data Engineering et Data Science</a:t>
            </a:r>
            <a:endParaRPr lang="en-US" sz="2800"/>
          </a:p>
        </p:txBody>
      </p:sp>
      <p:sp>
        <p:nvSpPr>
          <p:cNvPr id="6" name="Body"/>
          <p:cNvSpPr/>
          <p:nvPr/>
        </p:nvSpPr>
        <p:spPr>
          <a:xfrm>
            <a:off x="457200" y="1440000"/>
            <a:ext cx="8229600" cy="33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/>
              </a:rPr>
              <a:t>Copilot chat pane</a:t>
            </a: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dans un notebook, avec </a:t>
            </a:r>
            <a:r>
              <a:rPr lang="en-US" sz="16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</a:t>
            </a: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6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refactorisation</a:t>
            </a: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validation de code à </a:t>
            </a:r>
            <a:r>
              <a:rPr lang="en-US" sz="16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l'échelle</a:t>
            </a: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du notebook.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Générer</a:t>
            </a: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 du code </a:t>
            </a:r>
            <a:r>
              <a:rPr lang="en-US" sz="16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ou</a:t>
            </a: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 du markdown dans les workflows de notebook (preview)</a:t>
            </a: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Ajouter</a:t>
            </a: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 des </a:t>
            </a:r>
            <a:r>
              <a:rPr lang="en-US" sz="16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commentaires</a:t>
            </a: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, </a:t>
            </a:r>
            <a:r>
              <a:rPr lang="en-US" sz="16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corriger</a:t>
            </a: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 des </a:t>
            </a:r>
            <a:r>
              <a:rPr lang="en-US" sz="16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erreurs</a:t>
            </a: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 </a:t>
            </a:r>
            <a:r>
              <a:rPr lang="en-US" sz="16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ou</a:t>
            </a: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 </a:t>
            </a:r>
            <a:r>
              <a:rPr lang="en-US" sz="16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optimiser</a:t>
            </a: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 le code du notebook (preview)</a:t>
            </a: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/>
              </a:rPr>
              <a:t>Analyser</a:t>
            </a: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/>
              </a:rPr>
              <a:t> et </a:t>
            </a:r>
            <a:r>
              <a:rPr lang="en-US" sz="16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/>
              </a:rPr>
              <a:t>visualiser</a:t>
            </a: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/>
              </a:rPr>
              <a:t> les données</a:t>
            </a: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/>
              </a:rPr>
              <a:t>Fix with Copilot (preview)</a:t>
            </a: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résumés </a:t>
            </a:r>
            <a:r>
              <a:rPr lang="en-US" sz="16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d'erreurs</a:t>
            </a: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6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 causes </a:t>
            </a:r>
            <a:r>
              <a:rPr lang="en-US" sz="16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racines</a:t>
            </a: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corrections de code </a:t>
            </a:r>
            <a:r>
              <a:rPr lang="en-US" sz="16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soumises</a:t>
            </a: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à validation, </a:t>
            </a:r>
            <a:r>
              <a:rPr lang="en-US" sz="16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depuis</a:t>
            </a: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 chat pane </a:t>
            </a:r>
            <a:r>
              <a:rPr lang="en-US" sz="16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</a:t>
            </a: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 Copilot in-cell.</a:t>
            </a:r>
          </a:p>
        </p:txBody>
      </p:sp>
    </p:spTree>
    <p:extLst>
      <p:ext uri="{BB962C8B-B14F-4D97-AF65-F5344CB8AC3E}">
        <p14:creationId xmlns:p14="http://schemas.microsoft.com/office/powerpoint/2010/main" val="38258793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129F56-10D2-3923-1F6F-DDA298222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903DA1C-EDFB-7B59-EF11-65B387476994}"/>
              </a:ext>
            </a:extLst>
          </p:cNvPr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35B7D33-787D-6EAC-EB40-76E20D323741}"/>
              </a:ext>
            </a:extLst>
          </p:cNvPr>
          <p:cNvSpPr/>
          <p:nvPr/>
        </p:nvSpPr>
        <p:spPr>
          <a:xfrm>
            <a:off x="5943600" y="1828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kern="0" spc="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dans Fabric -  Fondamentaux</a:t>
            </a:r>
            <a:endParaRPr lang="en-US" sz="85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9955FE9-5672-5193-A428-01BE28FB1ABD}"/>
              </a:ext>
            </a:extLst>
          </p:cNvPr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GitHub Copilot pour Microsoft Fabric  -  Expertime</a:t>
            </a:r>
            <a:endParaRPr lang="en-US" sz="800"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CC57FEAB-763C-0538-33E7-AB97DD3CCFDF}"/>
              </a:ext>
            </a:extLst>
          </p:cNvPr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Copilot Chat Pane pour Data Engineering &amp; Data Science (Preview)</a:t>
            </a:r>
            <a:endParaRPr lang="en-US" sz="2800" dirty="0"/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A102ED3E-770F-4DB3-BB18-67AF5B2E0FD7}"/>
              </a:ext>
            </a:extLst>
          </p:cNvPr>
          <p:cNvSpPr/>
          <p:nvPr/>
        </p:nvSpPr>
        <p:spPr>
          <a:xfrm>
            <a:off x="457200" y="1150000"/>
            <a:ext cx="8229600" cy="37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spcAft>
                <a:spcPts val="300"/>
              </a:spcAft>
              <a:buNone/>
            </a:pPr>
            <a:r>
              <a:rPr lang="fr-FR" sz="850" b="1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r>
              <a:rPr lang="fr-FR" sz="850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dans les notebooks </a:t>
            </a:r>
            <a:r>
              <a:rPr lang="fr-FR" sz="850" b="1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</a:t>
            </a:r>
            <a:r>
              <a:rPr lang="fr-FR" sz="85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agit comme un assistant IA conversationnel capable d’accompagner les utilisateurs tout au long du cycle de développement, d’analyse et d’optimisation de notebooks. Il exploite automatiquement le contexte du notebook (</a:t>
            </a:r>
            <a:r>
              <a:rPr lang="fr-FR" sz="85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Lakehouse</a:t>
            </a:r>
            <a:r>
              <a:rPr lang="fr-FR" sz="85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tables, schémas, code existant et environnement d’exécution) pour fournir une assistance pertinente.</a:t>
            </a:r>
          </a:p>
          <a:p>
            <a:pPr marL="0" indent="0">
              <a:lnSpc>
                <a:spcPct val="100000"/>
              </a:lnSpc>
              <a:spcBef>
                <a:spcPts val="200"/>
              </a:spcBef>
              <a:spcAft>
                <a:spcPts val="100"/>
              </a:spcAft>
              <a:buNone/>
            </a:pPr>
            <a:r>
              <a:rPr lang="fr-FR" sz="850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 principales</a:t>
            </a:r>
          </a:p>
          <a:p>
            <a:pPr marL="342900" indent="-342900">
              <a:lnSpc>
                <a:spcPct val="100000"/>
              </a:lnSpc>
              <a:spcAft>
                <a:spcPts val="100"/>
              </a:spcAft>
              <a:buSzPct val="100000"/>
              <a:buChar char="•"/>
            </a:pPr>
            <a:r>
              <a:rPr lang="fr-FR" sz="85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conversationnelle multi-étapes via un panneau de chat intégré.</a:t>
            </a:r>
          </a:p>
          <a:p>
            <a:pPr marL="342900" indent="-342900">
              <a:lnSpc>
                <a:spcPct val="100000"/>
              </a:lnSpc>
              <a:spcAft>
                <a:spcPts val="100"/>
              </a:spcAft>
              <a:buSzPct val="100000"/>
              <a:buChar char="•"/>
            </a:pPr>
            <a:r>
              <a:rPr lang="fr-FR" sz="85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automatique de code </a:t>
            </a:r>
            <a:r>
              <a:rPr lang="fr-FR" sz="85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</a:t>
            </a:r>
            <a:r>
              <a:rPr lang="fr-FR" sz="85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Spark SQL et Python.</a:t>
            </a:r>
          </a:p>
          <a:p>
            <a:pPr marL="342900" indent="-342900">
              <a:lnSpc>
                <a:spcPct val="100000"/>
              </a:lnSpc>
              <a:spcAft>
                <a:spcPts val="100"/>
              </a:spcAft>
              <a:buSzPct val="100000"/>
              <a:buChar char="•"/>
            </a:pPr>
            <a:r>
              <a:rPr lang="fr-FR" sz="85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Exploration, profilage et validation des données.</a:t>
            </a:r>
          </a:p>
          <a:p>
            <a:pPr marL="342900" indent="-342900">
              <a:lnSpc>
                <a:spcPct val="100000"/>
              </a:lnSpc>
              <a:spcAft>
                <a:spcPts val="100"/>
              </a:spcAft>
              <a:buSzPct val="100000"/>
              <a:buChar char="•"/>
            </a:pPr>
            <a:r>
              <a:rPr lang="fr-FR" sz="85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Explication, correction, documentation et optimisation du code existant.</a:t>
            </a:r>
          </a:p>
          <a:p>
            <a:pPr marL="342900" indent="-342900">
              <a:lnSpc>
                <a:spcPct val="100000"/>
              </a:lnSpc>
              <a:spcAft>
                <a:spcPts val="100"/>
              </a:spcAft>
              <a:buSzPct val="100000"/>
              <a:buChar char="•"/>
            </a:pPr>
            <a:r>
              <a:rPr lang="fr-FR" sz="85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des erreurs et assistance au dépannage des notebooks.</a:t>
            </a:r>
          </a:p>
          <a:p>
            <a:pPr marL="342900" indent="-342900">
              <a:lnSpc>
                <a:spcPct val="100000"/>
              </a:lnSpc>
              <a:spcAft>
                <a:spcPts val="100"/>
              </a:spcAft>
              <a:buSzPct val="100000"/>
              <a:buChar char="•"/>
            </a:pPr>
            <a:r>
              <a:rPr lang="fr-FR" sz="85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 modifications avec visualisation des différences (diff </a:t>
            </a:r>
            <a:r>
              <a:rPr lang="fr-FR" sz="85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r>
              <a:rPr lang="fr-FR" sz="85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avant validation.</a:t>
            </a:r>
          </a:p>
          <a:p>
            <a:pPr marL="342900" indent="-342900">
              <a:lnSpc>
                <a:spcPct val="100000"/>
              </a:lnSpc>
              <a:spcAft>
                <a:spcPts val="100"/>
              </a:spcAft>
              <a:buSzPct val="100000"/>
              <a:buChar char="•"/>
            </a:pPr>
            <a:r>
              <a:rPr lang="fr-FR" sz="85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des conversations conservé entre les sessions.</a:t>
            </a:r>
          </a:p>
          <a:p>
            <a:pPr marL="0" indent="0">
              <a:lnSpc>
                <a:spcPct val="100000"/>
              </a:lnSpc>
              <a:spcBef>
                <a:spcPts val="200"/>
              </a:spcBef>
              <a:spcAft>
                <a:spcPts val="100"/>
              </a:spcAft>
              <a:buNone/>
            </a:pPr>
            <a:r>
              <a:rPr lang="fr-FR" sz="850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 avancées</a:t>
            </a:r>
          </a:p>
          <a:p>
            <a:pPr marL="342900" indent="-342900">
              <a:lnSpc>
                <a:spcPct val="100000"/>
              </a:lnSpc>
              <a:spcAft>
                <a:spcPts val="100"/>
              </a:spcAft>
              <a:buSzPct val="100000"/>
              <a:buChar char="•"/>
            </a:pPr>
            <a:r>
              <a:rPr lang="fr-FR" sz="85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de code directement dans les cellules du notebook.</a:t>
            </a:r>
          </a:p>
          <a:p>
            <a:pPr marL="342900" indent="-342900">
              <a:lnSpc>
                <a:spcPct val="100000"/>
              </a:lnSpc>
              <a:spcAft>
                <a:spcPts val="100"/>
              </a:spcAft>
              <a:buSzPct val="100000"/>
              <a:buChar char="•"/>
            </a:pPr>
            <a:r>
              <a:rPr lang="fr-FR" sz="85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Commandes rapides :</a:t>
            </a:r>
          </a:p>
          <a:p>
            <a:pPr marL="742950" indent="-285750">
              <a:lnSpc>
                <a:spcPct val="100000"/>
              </a:lnSpc>
              <a:spcAft>
                <a:spcPts val="100"/>
              </a:spcAft>
              <a:buSzPct val="100000"/>
              <a:buChar char="–"/>
            </a:pPr>
            <a:r>
              <a:rPr lang="fr-FR" sz="850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fr-FR" sz="850" b="1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r>
              <a:rPr lang="fr-FR" sz="85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expliquer le code.</a:t>
            </a:r>
          </a:p>
          <a:p>
            <a:pPr marL="742950" indent="-285750">
              <a:lnSpc>
                <a:spcPct val="100000"/>
              </a:lnSpc>
              <a:spcAft>
                <a:spcPts val="100"/>
              </a:spcAft>
              <a:buSzPct val="100000"/>
              <a:buChar char="–"/>
            </a:pPr>
            <a:r>
              <a:rPr lang="fr-FR" sz="850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/fix</a:t>
            </a:r>
            <a:r>
              <a:rPr lang="fr-FR" sz="85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corriger les erreurs.</a:t>
            </a:r>
          </a:p>
          <a:p>
            <a:pPr marL="742950" indent="-285750">
              <a:lnSpc>
                <a:spcPct val="100000"/>
              </a:lnSpc>
              <a:spcAft>
                <a:spcPts val="100"/>
              </a:spcAft>
              <a:buSzPct val="100000"/>
              <a:buChar char="–"/>
            </a:pPr>
            <a:r>
              <a:rPr lang="fr-FR" sz="850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fr-FR" sz="850" b="1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</a:t>
            </a:r>
            <a:r>
              <a:rPr lang="fr-FR" sz="85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documenter le code.</a:t>
            </a:r>
          </a:p>
          <a:p>
            <a:pPr marL="742950" indent="-285750">
              <a:lnSpc>
                <a:spcPct val="100000"/>
              </a:lnSpc>
              <a:spcAft>
                <a:spcPts val="100"/>
              </a:spcAft>
              <a:buSzPct val="100000"/>
              <a:buChar char="–"/>
            </a:pPr>
            <a:r>
              <a:rPr lang="fr-FR" sz="850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fr-FR" sz="850" b="1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</a:t>
            </a:r>
            <a:r>
              <a:rPr lang="fr-FR" sz="85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optimiser les performances et la qualité du code.</a:t>
            </a:r>
          </a:p>
          <a:p>
            <a:pPr marL="0" indent="0">
              <a:lnSpc>
                <a:spcPct val="100000"/>
              </a:lnSpc>
              <a:spcBef>
                <a:spcPts val="200"/>
              </a:spcBef>
              <a:spcAft>
                <a:spcPts val="100"/>
              </a:spcAft>
              <a:buNone/>
            </a:pPr>
            <a:r>
              <a:rPr lang="fr-FR" sz="850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Aide à l'optimisation et au diagnostic</a:t>
            </a:r>
          </a:p>
          <a:p>
            <a:pPr marL="342900" indent="-342900">
              <a:lnSpc>
                <a:spcPct val="100000"/>
              </a:lnSpc>
              <a:spcAft>
                <a:spcPts val="100"/>
              </a:spcAft>
              <a:buSzPct val="100000"/>
              <a:buChar char="•"/>
            </a:pPr>
            <a:r>
              <a:rPr lang="fr-FR" sz="85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Recommandations sur les jointures, les </a:t>
            </a:r>
            <a:r>
              <a:rPr lang="fr-FR" sz="85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shuffles</a:t>
            </a:r>
            <a:r>
              <a:rPr lang="fr-FR" sz="85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les performances Spark.</a:t>
            </a:r>
          </a:p>
          <a:p>
            <a:pPr marL="342900" indent="-342900">
              <a:lnSpc>
                <a:spcPct val="100000"/>
              </a:lnSpc>
              <a:spcAft>
                <a:spcPts val="100"/>
              </a:spcAft>
              <a:buSzPct val="100000"/>
              <a:buChar char="•"/>
            </a:pPr>
            <a:r>
              <a:rPr lang="fr-FR" sz="85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 de problèmes de qualité des données.</a:t>
            </a:r>
          </a:p>
          <a:p>
            <a:pPr marL="342900" indent="-342900">
              <a:lnSpc>
                <a:spcPct val="100000"/>
              </a:lnSpc>
              <a:spcAft>
                <a:spcPts val="100"/>
              </a:spcAft>
              <a:buSzPct val="100000"/>
              <a:buChar char="•"/>
            </a:pPr>
            <a:r>
              <a:rPr lang="fr-FR" sz="85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automatique des échecs d’exécution.</a:t>
            </a:r>
          </a:p>
          <a:p>
            <a:pPr marL="342900" indent="-342900">
              <a:lnSpc>
                <a:spcPct val="100000"/>
              </a:lnSpc>
              <a:spcAft>
                <a:spcPts val="100"/>
              </a:spcAft>
              <a:buSzPct val="100000"/>
              <a:buChar char="•"/>
            </a:pPr>
            <a:r>
              <a:rPr lang="fr-FR" sz="85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des logs Spark et proposition de correctifs.</a:t>
            </a:r>
          </a:p>
          <a:p>
            <a:pPr marL="342900" indent="-342900">
              <a:lnSpc>
                <a:spcPct val="100000"/>
              </a:lnSpc>
              <a:spcAft>
                <a:spcPts val="100"/>
              </a:spcAft>
              <a:buSzPct val="100000"/>
              <a:buChar char="•"/>
            </a:pPr>
            <a:r>
              <a:rPr lang="fr-FR" sz="85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Suggestions de corrections applicables après validation de l’utilisateur.</a:t>
            </a:r>
          </a:p>
        </p:txBody>
      </p:sp>
    </p:spTree>
    <p:extLst>
      <p:ext uri="{BB962C8B-B14F-4D97-AF65-F5344CB8AC3E}">
        <p14:creationId xmlns:p14="http://schemas.microsoft.com/office/powerpoint/2010/main" val="9584506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op Band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" name="Text 0"/>
          <p:cNvSpPr/>
          <p:nvPr/>
        </p:nvSpPr>
        <p:spPr>
          <a:xfrm>
            <a:off x="480060" y="342900"/>
            <a:ext cx="7543800" cy="240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685800"/>
            <a:r>
              <a:rPr lang="en-US" sz="900" b="1" kern="0" spc="225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 CLÉ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480060" y="562356"/>
            <a:ext cx="822960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2250" b="1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Prompter en contexte data</a:t>
            </a:r>
            <a:endParaRPr lang="en-US" sz="22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0060" y="1220724"/>
            <a:ext cx="8229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685800"/>
            <a:r>
              <a:rPr lang="en-US" sz="1125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bon prompt donne le contexte, pas seulement la demande : données, intention, contraintes.</a:t>
            </a:r>
            <a:endParaRPr lang="en-US" sz="112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80060" y="1680210"/>
            <a:ext cx="4011930" cy="1062990"/>
          </a:xfrm>
          <a:prstGeom prst="rect">
            <a:avLst/>
          </a:prstGeom>
          <a:solidFill>
            <a:srgbClr val="FBEDEC"/>
          </a:solidFill>
          <a:ln w="12700">
            <a:solidFill>
              <a:srgbClr val="E3B7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651510" y="1783080"/>
            <a:ext cx="3429000" cy="240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685800"/>
            <a:r>
              <a:rPr lang="en-US" sz="863" b="1" kern="0" spc="15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VAGUE</a:t>
            </a:r>
            <a:endParaRPr lang="en-US" sz="86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651510" y="2023110"/>
            <a:ext cx="370332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75" i="1" dirty="0">
                <a:solidFill>
                  <a:srgbClr val="7A3B33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« écris du code PySpark pour agréger les ventes »</a:t>
            </a:r>
            <a:endParaRPr lang="en-US" sz="97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629150" y="1680210"/>
            <a:ext cx="4011930" cy="1062990"/>
          </a:xfrm>
          <a:prstGeom prst="rect">
            <a:avLst/>
          </a:prstGeom>
          <a:solidFill>
            <a:srgbClr val="E7F4F1"/>
          </a:solidFill>
          <a:ln w="12700">
            <a:solidFill>
              <a:srgbClr val="9AD3C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800600" y="1783080"/>
            <a:ext cx="3429000" cy="240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685800"/>
            <a:r>
              <a:rPr lang="en-US" sz="863" b="1" kern="0" spc="1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CONTEXTUALISÉ</a:t>
            </a:r>
            <a:endParaRPr lang="en-US" sz="86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800600" y="2023110"/>
            <a:ext cx="370332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00" i="1" dirty="0">
                <a:solidFill>
                  <a:srgbClr val="134E4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« En PySpark, sur df_sales (date, montant, client_id) : CA mensuel par client, montants null → 0, trié décroissant »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80060" y="2983230"/>
            <a:ext cx="2592324" cy="1371600"/>
          </a:xfrm>
          <a:prstGeom prst="rect">
            <a:avLst/>
          </a:prstGeom>
          <a:solidFill>
            <a:srgbClr val="F1F5F9"/>
          </a:solidFill>
          <a:ln w="1270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685800" y="3202686"/>
            <a:ext cx="493776" cy="493776"/>
          </a:xfrm>
          <a:prstGeom prst="ellipse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386" y="3319272"/>
            <a:ext cx="260604" cy="26060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85800" y="3751326"/>
            <a:ext cx="21808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200" b="1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Donner les données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85800" y="4011930"/>
            <a:ext cx="2215134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38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 du DataFrame, colonnes, types, volumétrie.</a:t>
            </a:r>
            <a:endParaRPr lang="en-US" sz="93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3264408" y="2983230"/>
            <a:ext cx="2592324" cy="1371600"/>
          </a:xfrm>
          <a:prstGeom prst="rect">
            <a:avLst/>
          </a:prstGeom>
          <a:solidFill>
            <a:srgbClr val="F1F5F9"/>
          </a:solidFill>
          <a:ln w="1270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4"/>
          <p:cNvSpPr/>
          <p:nvPr/>
        </p:nvSpPr>
        <p:spPr>
          <a:xfrm>
            <a:off x="3470148" y="3202686"/>
            <a:ext cx="493776" cy="493776"/>
          </a:xfrm>
          <a:prstGeom prst="ellipse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6734" y="3319272"/>
            <a:ext cx="260604" cy="26060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470148" y="3751326"/>
            <a:ext cx="21808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200" b="1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commentaire d'abord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3470148" y="4011930"/>
            <a:ext cx="2215134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38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Écrire l'intention en commentaire, laisser compléter.</a:t>
            </a:r>
            <a:endParaRPr lang="en-US" sz="93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7"/>
          <p:cNvSpPr/>
          <p:nvPr/>
        </p:nvSpPr>
        <p:spPr>
          <a:xfrm>
            <a:off x="6048756" y="2983230"/>
            <a:ext cx="2592324" cy="1371600"/>
          </a:xfrm>
          <a:prstGeom prst="rect">
            <a:avLst/>
          </a:prstGeom>
          <a:solidFill>
            <a:srgbClr val="F1F5F9"/>
          </a:solidFill>
          <a:ln w="1270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18"/>
          <p:cNvSpPr/>
          <p:nvPr/>
        </p:nvSpPr>
        <p:spPr>
          <a:xfrm>
            <a:off x="6254496" y="3202686"/>
            <a:ext cx="493776" cy="493776"/>
          </a:xfrm>
          <a:prstGeom prst="ellipse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1082" y="3319272"/>
            <a:ext cx="260604" cy="26060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254496" y="3751326"/>
            <a:ext cx="21808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200" b="1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Découper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0"/>
          <p:cNvSpPr/>
          <p:nvPr/>
        </p:nvSpPr>
        <p:spPr>
          <a:xfrm>
            <a:off x="6254496" y="4011930"/>
            <a:ext cx="2215134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38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cellule = une étape logique nommée.</a:t>
            </a:r>
            <a:endParaRPr lang="en-US" sz="93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1"/>
          <p:cNvSpPr/>
          <p:nvPr/>
        </p:nvSpPr>
        <p:spPr>
          <a:xfrm>
            <a:off x="8457971" y="4766310"/>
            <a:ext cx="480060" cy="240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685800"/>
            <a:r>
              <a:rPr lang="en-US" sz="7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7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01" name="Footer"/>
          <p:cNvSpPr/>
          <p:nvPr/>
        </p:nvSpPr>
        <p:spPr>
          <a:xfrm>
            <a:off x="457200" y="4892040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>
                <a:solidFill>
                  <a:srgbClr val="64748B"/>
                </a:solidFill>
                <a:latin typeface="Calibri" pitchFamily="34" charset="0"/>
              </a:rPr>
              <a:t>Formation GitHub Copilot pour Microsoft Fabric  -  Expertime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F0102BA5-C081-0EFF-2147-FBA4878E26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8454"/>
            <a:ext cx="9144000" cy="4526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4969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26B9F548-6876-3D8A-DFD0-92005F1CC8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229" y="0"/>
            <a:ext cx="2750173" cy="514350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99FCF719-B271-96F5-753E-7BE3E2A05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9" y="0"/>
            <a:ext cx="2722667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7496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057B25D4-49A7-CD05-6B74-F91259ABC6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0527"/>
            <a:ext cx="9144000" cy="4562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2317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Screenshot of the chat history pane showing previous Copilot conversations.">
            <a:extLst>
              <a:ext uri="{FF2B5EF4-FFF2-40B4-BE49-F238E27FC236}">
                <a16:creationId xmlns:a16="http://schemas.microsoft.com/office/drawing/2014/main" id="{B79819EB-DE22-227B-0D8B-1050F614FC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439" y="579956"/>
            <a:ext cx="7160528" cy="3983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7765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43994F60-62DD-8F6F-5C0A-CAB5EAB3A8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7681"/>
            <a:ext cx="9144000" cy="4548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6048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10A84EB5-72C9-1218-8882-76DACF0318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8881"/>
            <a:ext cx="9144000" cy="4545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79466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B18C6-188C-232D-CDB5-2F53A2171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B25FA27F-2F67-C946-C29C-E02EE9F6AE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6043"/>
            <a:ext cx="9144000" cy="4531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57678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CA830-95AE-A5B4-84EA-9519FB346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A5A4EA06-FB18-782D-28E1-E363248651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2488"/>
            <a:ext cx="9144000" cy="453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54011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AEF10-EA32-AE05-01F4-435F74D06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D98D21B7-72B4-FFFC-DB74-5224BFF3DB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8908"/>
            <a:ext cx="9144000" cy="4545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79206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B208643F-C763-8966-6125-C3A2F2DA8E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0542"/>
            <a:ext cx="9144000" cy="4562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55178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EF828FA9-38F5-738D-7457-A195579361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0082"/>
            <a:ext cx="9144000" cy="4543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88385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444D4687-6CAE-548A-8AD6-A38712D2F2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9756"/>
            <a:ext cx="9144000" cy="4583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97988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753DE-A14A-0A80-AFE4-625C91DE1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5E52C263-4BA4-44D3-898F-F2E888CB70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4554"/>
            <a:ext cx="9144000" cy="4574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86003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79F189CD-FB0B-3780-F2A4-2FE1F2A88D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1712"/>
            <a:ext cx="9144000" cy="456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4921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6721C-C478-12BE-6F33-4FB2274B0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66D9FBC3-DEFA-B848-3B93-BF2C6C2945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6803"/>
            <a:ext cx="9144000" cy="4509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06306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5C48E-12DE-0488-4491-309F4D253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F0ECFF38-9CB3-C2DD-842B-AE41E99CC5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6504"/>
            <a:ext cx="9144000" cy="4550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53314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835A32-EEA0-2768-7741-C45648F6B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E95A8012-2DAE-6770-7559-326CC0B94D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0"/>
            <a:ext cx="9144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27028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943600" y="1828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dans Fabric -  Fondamentaux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GitHub Copilot pour Microsoft Fabric  -  Expertime</a:t>
            </a:r>
            <a:endParaRPr lang="en-US" sz="800"/>
          </a:p>
        </p:txBody>
      </p:sp>
      <p:sp>
        <p:nvSpPr>
          <p:cNvPr id="5" name="Title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KQL queryset</a:t>
            </a:r>
            <a:endParaRPr lang="en-US" sz="2800"/>
          </a:p>
        </p:txBody>
      </p:sp>
      <p:sp>
        <p:nvSpPr>
          <p:cNvPr id="6" name="Body"/>
          <p:cNvSpPr/>
          <p:nvPr/>
        </p:nvSpPr>
        <p:spPr>
          <a:xfrm>
            <a:off x="457200" y="1440000"/>
            <a:ext cx="8229600" cy="33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/>
              </a:rPr>
              <a:t>Générer</a:t>
            </a: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/>
              </a:rPr>
              <a:t> des </a:t>
            </a:r>
            <a:r>
              <a:rPr lang="en-US" sz="16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/>
              </a:rPr>
              <a:t>requêtes</a:t>
            </a: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/>
              </a:rPr>
              <a:t> KQL (preview)</a:t>
            </a: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1600" dirty="0">
              <a:solidFill>
                <a:srgbClr val="1A233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/>
              </a:rPr>
              <a:t>Modifier </a:t>
            </a:r>
            <a:r>
              <a:rPr lang="en-US" sz="16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/>
              </a:rPr>
              <a:t>ou</a:t>
            </a: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/>
              </a:rPr>
              <a:t> explorer </a:t>
            </a:r>
            <a:r>
              <a:rPr lang="en-US" sz="16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/>
              </a:rPr>
              <a:t>une</a:t>
            </a: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/>
              </a:rPr>
              <a:t> </a:t>
            </a:r>
            <a:r>
              <a:rPr lang="en-US" sz="16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/>
              </a:rPr>
              <a:t>requête</a:t>
            </a: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/>
              </a:rPr>
              <a:t> KQL </a:t>
            </a:r>
            <a:r>
              <a:rPr lang="en-US" sz="16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/>
              </a:rPr>
              <a:t>générée</a:t>
            </a: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/>
              </a:rPr>
              <a:t> </a:t>
            </a:r>
            <a:r>
              <a:rPr lang="en-US" sz="16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/>
              </a:rPr>
              <a:t>précédemment</a:t>
            </a: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/>
              </a:rPr>
              <a:t> (preview)</a:t>
            </a: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1600" dirty="0">
              <a:solidFill>
                <a:srgbClr val="1A233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/>
              </a:rPr>
              <a:t>Générer</a:t>
            </a: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/>
              </a:rPr>
              <a:t> du KQL pour les </a:t>
            </a:r>
            <a:r>
              <a:rPr lang="en-US" sz="16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/>
              </a:rPr>
              <a:t>raccourcis</a:t>
            </a: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/>
              </a:rPr>
              <a:t> (preview)</a:t>
            </a: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8327923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F1B57F-5FB3-9C89-590A-3012BDF4B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6F83385-71A6-038F-0402-C1C1388D384E}"/>
              </a:ext>
            </a:extLst>
          </p:cNvPr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810BE27-88E8-3E92-8DDC-C4977AB0C288}"/>
              </a:ext>
            </a:extLst>
          </p:cNvPr>
          <p:cNvSpPr/>
          <p:nvPr/>
        </p:nvSpPr>
        <p:spPr>
          <a:xfrm>
            <a:off x="5943600" y="1828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dans Fabric -  Fondamentaux</a:t>
            </a:r>
            <a:endParaRPr lang="en-US" sz="9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014DA48-92B4-0775-491C-FC9D982259AC}"/>
              </a:ext>
            </a:extLst>
          </p:cNvPr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GitHub Copilot pour Microsoft Fabric  -  Expertime</a:t>
            </a:r>
            <a:endParaRPr lang="en-US" sz="800"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6EBE6AE6-CD01-1B53-6E1F-10C1F596889E}"/>
              </a:ext>
            </a:extLst>
          </p:cNvPr>
          <p:cNvSpPr/>
          <p:nvPr/>
        </p:nvSpPr>
        <p:spPr>
          <a:xfrm>
            <a:off x="457200" y="360000"/>
            <a:ext cx="82296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Comprendre où </a:t>
            </a:r>
            <a:r>
              <a:rPr lang="fr-FR" sz="2400" b="1" dirty="0" err="1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Copilot</a:t>
            </a:r>
            <a:r>
              <a:rPr lang="fr-FR" sz="2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apporte le plus de valeur</a:t>
            </a:r>
            <a:endParaRPr lang="en-US" sz="2400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B5A1BF56-4652-794C-77C7-524E61D89F64}"/>
              </a:ext>
            </a:extLst>
          </p:cNvPr>
          <p:cNvSpPr txBox="1"/>
          <p:nvPr/>
        </p:nvSpPr>
        <p:spPr>
          <a:xfrm>
            <a:off x="457200" y="1140000"/>
            <a:ext cx="8229600" cy="74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marL="0" indent="0">
              <a:lnSpc>
                <a:spcPct val="106000"/>
              </a:lnSpc>
              <a:spcAft>
                <a:spcPts val="400"/>
              </a:spcAft>
              <a:buNone/>
            </a:pPr>
            <a:r>
              <a:rPr lang="fr-FR" sz="1100" kern="100" dirty="0" err="1">
                <a:solidFill>
                  <a:srgbClr val="1A233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Copilot</a:t>
            </a:r>
            <a:r>
              <a:rPr lang="fr-FR" sz="1100" kern="100" dirty="0">
                <a:solidFill>
                  <a:srgbClr val="1A233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 dans Microsoft </a:t>
            </a:r>
            <a:r>
              <a:rPr lang="fr-FR" sz="1100" kern="100" dirty="0" err="1">
                <a:solidFill>
                  <a:srgbClr val="1A233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Fabric</a:t>
            </a:r>
            <a:r>
              <a:rPr lang="fr-FR" sz="1100" kern="100" dirty="0">
                <a:solidFill>
                  <a:srgbClr val="1A233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 ne remplace pas l’expertise data : il </a:t>
            </a:r>
            <a:r>
              <a:rPr lang="fr-FR" sz="1100" b="1" kern="100" dirty="0">
                <a:solidFill>
                  <a:srgbClr val="1A233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accélère</a:t>
            </a:r>
            <a:r>
              <a:rPr lang="fr-FR" sz="1100" kern="100" dirty="0">
                <a:solidFill>
                  <a:srgbClr val="1A233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, </a:t>
            </a:r>
            <a:r>
              <a:rPr lang="fr-FR" sz="1100" b="1" kern="100" dirty="0">
                <a:solidFill>
                  <a:srgbClr val="1A233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débloque</a:t>
            </a:r>
            <a:r>
              <a:rPr lang="fr-FR" sz="1100" kern="100" dirty="0">
                <a:solidFill>
                  <a:srgbClr val="1A233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 et </a:t>
            </a:r>
            <a:r>
              <a:rPr lang="fr-FR" sz="1100" b="1" kern="100" dirty="0">
                <a:solidFill>
                  <a:srgbClr val="1A233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standardise</a:t>
            </a:r>
            <a:r>
              <a:rPr lang="fr-FR" sz="1100" kern="100" dirty="0">
                <a:solidFill>
                  <a:srgbClr val="1A233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.</a:t>
            </a:r>
          </a:p>
          <a:p>
            <a:pPr marL="0" indent="0">
              <a:lnSpc>
                <a:spcPct val="106000"/>
              </a:lnSpc>
              <a:spcAft>
                <a:spcPts val="400"/>
              </a:spcAft>
              <a:buNone/>
            </a:pPr>
            <a:endParaRPr lang="fr-FR" sz="1100" kern="100" dirty="0">
              <a:solidFill>
                <a:srgbClr val="1A2332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marL="0" indent="0">
              <a:lnSpc>
                <a:spcPct val="106000"/>
              </a:lnSpc>
              <a:buNone/>
            </a:pPr>
            <a:r>
              <a:rPr lang="fr-FR" sz="1100" b="1" kern="100" dirty="0">
                <a:solidFill>
                  <a:srgbClr val="065A8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Les usages où </a:t>
            </a:r>
            <a:r>
              <a:rPr lang="fr-FR" sz="1100" b="1" kern="100" dirty="0" err="1">
                <a:solidFill>
                  <a:srgbClr val="065A8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Copilot</a:t>
            </a:r>
            <a:r>
              <a:rPr lang="fr-FR" sz="1100" b="1" kern="100" dirty="0">
                <a:solidFill>
                  <a:srgbClr val="065A8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 est vraiment pertinent :</a:t>
            </a:r>
          </a:p>
        </p:txBody>
      </p:sp>
      <p:graphicFrame>
        <p:nvGraphicFramePr>
          <p:cNvPr id="10" name="Tableau 9">
            <a:extLst>
              <a:ext uri="{FF2B5EF4-FFF2-40B4-BE49-F238E27FC236}">
                <a16:creationId xmlns:a16="http://schemas.microsoft.com/office/drawing/2014/main" id="{3400FE08-1F13-9F54-C2EA-79CF5031A1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2208611"/>
              </p:ext>
            </p:extLst>
          </p:nvPr>
        </p:nvGraphicFramePr>
        <p:xfrm>
          <a:off x="457200" y="1980000"/>
          <a:ext cx="8229600" cy="124358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1292627101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199676524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fr-FR" sz="1000" b="1" kern="100">
                          <a:effectLst/>
                          <a:latin typeface="Calibri" pitchFamily="34" charset="0"/>
                          <a:ea typeface="Calibri" pitchFamily="34" charset="0"/>
                          <a:cs typeface="Calibri" pitchFamily="34" charset="0"/>
                        </a:rPr>
                        <a:t>Domaine</a:t>
                      </a:r>
                    </a:p>
                  </a:txBody>
                  <a:tcPr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fr-FR" sz="1000" b="1" kern="100">
                          <a:effectLst/>
                          <a:latin typeface="Calibri" pitchFamily="34" charset="0"/>
                          <a:ea typeface="Calibri" pitchFamily="34" charset="0"/>
                          <a:cs typeface="Calibri" pitchFamily="34" charset="0"/>
                        </a:rPr>
                        <a:t>Apport réel</a:t>
                      </a:r>
                    </a:p>
                  </a:txBody>
                  <a:tcPr marT="27432" marB="27432" anchor="ctr"/>
                </a:tc>
                <a:extLst>
                  <a:ext uri="{0D108BD9-81ED-4DB2-BD59-A6C34878D82A}">
                    <a16:rowId xmlns:a16="http://schemas.microsoft.com/office/drawing/2014/main" val="30235596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fr-FR" sz="1000" kern="100">
                          <a:effectLst/>
                          <a:latin typeface="Calibri" pitchFamily="34" charset="0"/>
                          <a:ea typeface="Calibri" pitchFamily="34" charset="0"/>
                          <a:cs typeface="Calibri" pitchFamily="34" charset="0"/>
                        </a:rPr>
                        <a:t>Data Engineering</a:t>
                      </a:r>
                    </a:p>
                  </a:txBody>
                  <a:tcPr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fr-FR" sz="1000" kern="100">
                          <a:effectLst/>
                          <a:latin typeface="Calibri" pitchFamily="34" charset="0"/>
                          <a:ea typeface="Calibri" pitchFamily="34" charset="0"/>
                          <a:cs typeface="Calibri" pitchFamily="34" charset="0"/>
                        </a:rPr>
                        <a:t>Génération de transformations, explication de pipelines</a:t>
                      </a:r>
                    </a:p>
                  </a:txBody>
                  <a:tcPr marT="27432" marB="27432" anchor="ctr"/>
                </a:tc>
                <a:extLst>
                  <a:ext uri="{0D108BD9-81ED-4DB2-BD59-A6C34878D82A}">
                    <a16:rowId xmlns:a16="http://schemas.microsoft.com/office/drawing/2014/main" val="3881465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fr-FR" sz="1000" kern="100">
                          <a:effectLst/>
                          <a:latin typeface="Calibri" pitchFamily="34" charset="0"/>
                          <a:ea typeface="Calibri" pitchFamily="34" charset="0"/>
                          <a:cs typeface="Calibri" pitchFamily="34" charset="0"/>
                        </a:rPr>
                        <a:t>SQL / Lakehouse / Warehouse</a:t>
                      </a:r>
                    </a:p>
                  </a:txBody>
                  <a:tcPr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fr-FR" sz="1000" kern="100">
                          <a:effectLst/>
                          <a:latin typeface="Calibri" pitchFamily="34" charset="0"/>
                          <a:ea typeface="Calibri" pitchFamily="34" charset="0"/>
                          <a:cs typeface="Calibri" pitchFamily="34" charset="0"/>
                        </a:rPr>
                        <a:t>Aide à l’écriture, compréhension et refactorisation de requêtes</a:t>
                      </a:r>
                    </a:p>
                  </a:txBody>
                  <a:tcPr marT="27432" marB="27432" anchor="ctr"/>
                </a:tc>
                <a:extLst>
                  <a:ext uri="{0D108BD9-81ED-4DB2-BD59-A6C34878D82A}">
                    <a16:rowId xmlns:a16="http://schemas.microsoft.com/office/drawing/2014/main" val="12940862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fr-FR" sz="1000" kern="100">
                          <a:effectLst/>
                          <a:latin typeface="Calibri" pitchFamily="34" charset="0"/>
                          <a:ea typeface="Calibri" pitchFamily="34" charset="0"/>
                          <a:cs typeface="Calibri" pitchFamily="34" charset="0"/>
                        </a:rPr>
                        <a:t>Data Science</a:t>
                      </a:r>
                    </a:p>
                  </a:txBody>
                  <a:tcPr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fr-FR" sz="1000" kern="100">
                          <a:effectLst/>
                          <a:latin typeface="Calibri" pitchFamily="34" charset="0"/>
                          <a:ea typeface="Calibri" pitchFamily="34" charset="0"/>
                          <a:cs typeface="Calibri" pitchFamily="34" charset="0"/>
                        </a:rPr>
                        <a:t>Notebooks Python, feature engineering, explication de modèles</a:t>
                      </a:r>
                    </a:p>
                  </a:txBody>
                  <a:tcPr marT="27432" marB="27432" anchor="ctr"/>
                </a:tc>
                <a:extLst>
                  <a:ext uri="{0D108BD9-81ED-4DB2-BD59-A6C34878D82A}">
                    <a16:rowId xmlns:a16="http://schemas.microsoft.com/office/drawing/2014/main" val="20825658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fr-FR" sz="1000" kern="100">
                          <a:effectLst/>
                          <a:latin typeface="Calibri" pitchFamily="34" charset="0"/>
                          <a:ea typeface="Calibri" pitchFamily="34" charset="0"/>
                          <a:cs typeface="Calibri" pitchFamily="34" charset="0"/>
                        </a:rPr>
                        <a:t>Power BI intégré</a:t>
                      </a:r>
                    </a:p>
                  </a:txBody>
                  <a:tcPr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fr-FR" sz="1000" kern="100">
                          <a:effectLst/>
                          <a:latin typeface="Calibri" pitchFamily="34" charset="0"/>
                          <a:ea typeface="Calibri" pitchFamily="34" charset="0"/>
                          <a:cs typeface="Calibri" pitchFamily="34" charset="0"/>
                        </a:rPr>
                        <a:t>Mesures DAX, narration, interprétation</a:t>
                      </a:r>
                    </a:p>
                  </a:txBody>
                  <a:tcPr marT="27432" marB="27432" anchor="ctr"/>
                </a:tc>
                <a:extLst>
                  <a:ext uri="{0D108BD9-81ED-4DB2-BD59-A6C34878D82A}">
                    <a16:rowId xmlns:a16="http://schemas.microsoft.com/office/drawing/2014/main" val="25253653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fr-FR" sz="1000" kern="100">
                          <a:effectLst/>
                          <a:latin typeface="Calibri" pitchFamily="34" charset="0"/>
                          <a:ea typeface="Calibri" pitchFamily="34" charset="0"/>
                          <a:cs typeface="Calibri" pitchFamily="34" charset="0"/>
                        </a:rPr>
                        <a:t>Documentation</a:t>
                      </a:r>
                    </a:p>
                  </a:txBody>
                  <a:tcPr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fr-FR" sz="1000" kern="100">
                          <a:effectLst/>
                          <a:latin typeface="Calibri" pitchFamily="34" charset="0"/>
                          <a:ea typeface="Calibri" pitchFamily="34" charset="0"/>
                          <a:cs typeface="Calibri" pitchFamily="34" charset="0"/>
                        </a:rPr>
                        <a:t>Résumés, commentaires, explication des flux</a:t>
                      </a:r>
                    </a:p>
                  </a:txBody>
                  <a:tcPr marT="27432" marB="27432" anchor="ctr"/>
                </a:tc>
                <a:extLst>
                  <a:ext uri="{0D108BD9-81ED-4DB2-BD59-A6C34878D82A}">
                    <a16:rowId xmlns:a16="http://schemas.microsoft.com/office/drawing/2014/main" val="2209993989"/>
                  </a:ext>
                </a:extLst>
              </a:tr>
            </a:tbl>
          </a:graphicData>
        </a:graphic>
      </p:graphicFrame>
      <p:sp>
        <p:nvSpPr>
          <p:cNvPr id="13" name="ZoneTexte 12">
            <a:extLst>
              <a:ext uri="{FF2B5EF4-FFF2-40B4-BE49-F238E27FC236}">
                <a16:creationId xmlns:a16="http://schemas.microsoft.com/office/drawing/2014/main" id="{B5A1BF56-4652-794C-77C7-524E61D89F65}"/>
              </a:ext>
            </a:extLst>
          </p:cNvPr>
          <p:cNvSpPr txBox="1"/>
          <p:nvPr/>
        </p:nvSpPr>
        <p:spPr>
          <a:xfrm>
            <a:off x="457200" y="3520000"/>
            <a:ext cx="8229600" cy="124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marL="0" indent="0">
              <a:lnSpc>
                <a:spcPct val="106000"/>
              </a:lnSpc>
              <a:spcAft>
                <a:spcPts val="300"/>
              </a:spcAft>
              <a:buNone/>
            </a:pPr>
            <a:r>
              <a:rPr lang="fr-FR" sz="1100" b="1" kern="100" dirty="0">
                <a:solidFill>
                  <a:srgbClr val="065A8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Où il est moins efficace :</a:t>
            </a:r>
          </a:p>
          <a:p>
            <a:pPr marL="342900" indent="-342900">
              <a:lnSpc>
                <a:spcPct val="106000"/>
              </a:lnSpc>
              <a:spcAft>
                <a:spcPts val="200"/>
              </a:spcAft>
              <a:buSzPct val="100000"/>
              <a:buChar char="•"/>
            </a:pPr>
            <a:r>
              <a:rPr lang="fr-FR" sz="1100" kern="100" dirty="0">
                <a:solidFill>
                  <a:srgbClr val="1A233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Logique métier complexe implicite</a:t>
            </a:r>
          </a:p>
          <a:p>
            <a:pPr marL="342900" indent="-342900">
              <a:lnSpc>
                <a:spcPct val="106000"/>
              </a:lnSpc>
              <a:spcAft>
                <a:spcPts val="200"/>
              </a:spcAft>
              <a:buSzPct val="100000"/>
              <a:buChar char="•"/>
            </a:pPr>
            <a:r>
              <a:rPr lang="fr-FR" sz="1100" kern="100" dirty="0">
                <a:solidFill>
                  <a:srgbClr val="1A233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Cas de performance très spécifiques</a:t>
            </a:r>
          </a:p>
          <a:p>
            <a:pPr marL="342900" indent="-342900">
              <a:lnSpc>
                <a:spcPct val="106000"/>
              </a:lnSpc>
              <a:spcAft>
                <a:spcPts val="200"/>
              </a:spcAft>
              <a:buSzPct val="100000"/>
              <a:buChar char="•"/>
            </a:pPr>
            <a:r>
              <a:rPr lang="fr-FR" sz="1100" kern="100" dirty="0">
                <a:solidFill>
                  <a:srgbClr val="1A233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Design d’architecture cible (il aide, mais ne décide pas)</a:t>
            </a:r>
          </a:p>
        </p:txBody>
      </p:sp>
    </p:spTree>
    <p:extLst>
      <p:ext uri="{BB962C8B-B14F-4D97-AF65-F5344CB8AC3E}">
        <p14:creationId xmlns:p14="http://schemas.microsoft.com/office/powerpoint/2010/main" val="243160123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op Band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" name="Text 0"/>
          <p:cNvSpPr/>
          <p:nvPr/>
        </p:nvSpPr>
        <p:spPr>
          <a:xfrm>
            <a:off x="377190" y="288036"/>
            <a:ext cx="75438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00" b="1" kern="0" spc="1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THÉORIE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377190" y="493776"/>
            <a:ext cx="8366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2250" b="1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« vibe coding », c'est quoi ?</a:t>
            </a:r>
            <a:endParaRPr lang="en-US" sz="22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77190" y="1234440"/>
            <a:ext cx="8387334" cy="78867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pPr defTabSz="685800"/>
            <a:endParaRPr lang="fr-FR" sz="135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30" y="1453896"/>
            <a:ext cx="342900" cy="3429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316736"/>
            <a:ext cx="754380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125" i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Coder en dialoguant avec l'IA : décrire l'intention, laisser l'assistant proposer, puis itérer. Un gain de vitesse réel — mais qui doit être encadré pour rester fiable.</a:t>
            </a:r>
            <a:endParaRPr lang="en-US" sz="112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4"/>
          <p:cNvSpPr/>
          <p:nvPr/>
        </p:nvSpPr>
        <p:spPr>
          <a:xfrm>
            <a:off x="377190" y="2228850"/>
            <a:ext cx="4080510" cy="2366010"/>
          </a:xfrm>
          <a:prstGeom prst="rect">
            <a:avLst/>
          </a:prstGeom>
          <a:solidFill>
            <a:srgbClr val="F4F6F9"/>
          </a:solidFill>
          <a:ln w="12700">
            <a:solidFill>
              <a:srgbClr val="D7DEE6"/>
            </a:solidFill>
            <a:prstDash val="solid"/>
          </a:ln>
          <a:effectLst>
            <a:outerShdw blurRad="88900" dist="38100" dir="8100000" algn="bl" rotWithShape="0">
              <a:srgbClr val="1A2332">
                <a:alpha val="12000"/>
              </a:srgbClr>
            </a:outerShdw>
          </a:effectLst>
        </p:spPr>
        <p:txBody>
          <a:bodyPr/>
          <a:lstStyle/>
          <a:p>
            <a:pPr defTabSz="685800"/>
            <a:endParaRPr lang="fr-FR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5"/>
          <p:cNvSpPr/>
          <p:nvPr/>
        </p:nvSpPr>
        <p:spPr>
          <a:xfrm>
            <a:off x="377190" y="2228850"/>
            <a:ext cx="4080510" cy="61722"/>
          </a:xfrm>
          <a:prstGeom prst="rect">
            <a:avLst/>
          </a:prstGeom>
          <a:solidFill>
            <a:srgbClr val="2EA043"/>
          </a:solidFill>
          <a:ln/>
        </p:spPr>
        <p:txBody>
          <a:bodyPr/>
          <a:lstStyle/>
          <a:p>
            <a:pPr defTabSz="685800"/>
            <a:endParaRPr lang="fr-FR" sz="135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" y="2434590"/>
            <a:ext cx="288036" cy="2880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28700" y="2420874"/>
            <a:ext cx="329184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350" b="1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Bénéfices</a:t>
            </a:r>
            <a:endParaRPr lang="en-US" sz="13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7"/>
          <p:cNvSpPr/>
          <p:nvPr/>
        </p:nvSpPr>
        <p:spPr>
          <a:xfrm>
            <a:off x="637794" y="2846070"/>
            <a:ext cx="360045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 defTabSz="685800">
              <a:spcAft>
                <a:spcPts val="525"/>
              </a:spcAft>
              <a:buSzPct val="100000"/>
              <a:buFontTx/>
              <a:buChar char="•"/>
            </a:pPr>
            <a:r>
              <a:rPr lang="en-US" sz="1013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Prototypage et exploration d'API plus rapides</a:t>
            </a:r>
            <a:endParaRPr lang="en-US" sz="1013" dirty="0">
              <a:solidFill>
                <a:prstClr val="black"/>
              </a:solidFill>
              <a:latin typeface="Calibri" panose="020F0502020204030204"/>
            </a:endParaRPr>
          </a:p>
          <a:p>
            <a:pPr marL="257175" indent="-257175" defTabSz="685800">
              <a:spcAft>
                <a:spcPts val="525"/>
              </a:spcAft>
              <a:buSzPct val="100000"/>
              <a:buFontTx/>
              <a:buChar char="•"/>
            </a:pPr>
            <a:r>
              <a:rPr lang="en-US" sz="1013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Moins de code répétitif (</a:t>
            </a:r>
            <a:r>
              <a:rPr lang="en-US" sz="1013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boilerplate</a:t>
            </a:r>
            <a:r>
              <a:rPr lang="en-US" sz="1013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013" dirty="0">
              <a:solidFill>
                <a:prstClr val="black"/>
              </a:solidFill>
              <a:latin typeface="Calibri" panose="020F0502020204030204"/>
            </a:endParaRPr>
          </a:p>
          <a:p>
            <a:pPr marL="257175" indent="-257175" defTabSz="685800">
              <a:spcAft>
                <a:spcPts val="525"/>
              </a:spcAft>
              <a:buSzPct val="100000"/>
              <a:buFontTx/>
              <a:buChar char="•"/>
            </a:pPr>
            <a:r>
              <a:rPr lang="en-US" sz="1013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et tests générés à la demande</a:t>
            </a:r>
            <a:endParaRPr lang="en-US" sz="1013" dirty="0">
              <a:solidFill>
                <a:prstClr val="black"/>
              </a:solidFill>
              <a:latin typeface="Calibri" panose="020F0502020204030204"/>
            </a:endParaRPr>
          </a:p>
          <a:p>
            <a:pPr marL="257175" indent="-257175" defTabSz="685800">
              <a:spcAft>
                <a:spcPts val="525"/>
              </a:spcAft>
              <a:buSzPct val="100000"/>
              <a:buFontTx/>
              <a:buChar char="•"/>
            </a:pPr>
            <a:r>
              <a:rPr lang="en-US" sz="1013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Montée en compétence accélérée</a:t>
            </a:r>
            <a:endParaRPr lang="en-US" sz="101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4684014" y="2228850"/>
            <a:ext cx="4080510" cy="2366010"/>
          </a:xfrm>
          <a:prstGeom prst="rect">
            <a:avLst/>
          </a:prstGeom>
          <a:solidFill>
            <a:srgbClr val="F4F6F9"/>
          </a:solidFill>
          <a:ln w="12700">
            <a:solidFill>
              <a:srgbClr val="D7DEE6"/>
            </a:solidFill>
            <a:prstDash val="solid"/>
          </a:ln>
          <a:effectLst>
            <a:outerShdw blurRad="88900" dist="38100" dir="8100000" algn="bl" rotWithShape="0">
              <a:srgbClr val="1A2332">
                <a:alpha val="12000"/>
              </a:srgbClr>
            </a:outerShdw>
          </a:effectLst>
        </p:spPr>
        <p:txBody>
          <a:bodyPr/>
          <a:lstStyle/>
          <a:p>
            <a:pPr defTabSz="685800"/>
            <a:endParaRPr lang="fr-FR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4684014" y="2228850"/>
            <a:ext cx="4080510" cy="61722"/>
          </a:xfrm>
          <a:prstGeom prst="rect">
            <a:avLst/>
          </a:prstGeom>
          <a:solidFill>
            <a:srgbClr val="D1242F"/>
          </a:solidFill>
          <a:ln/>
        </p:spPr>
        <p:txBody>
          <a:bodyPr/>
          <a:lstStyle/>
          <a:p>
            <a:pPr defTabSz="685800"/>
            <a:endParaRPr lang="fr-FR" sz="135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4044" y="2434590"/>
            <a:ext cx="288036" cy="28803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335524" y="2420874"/>
            <a:ext cx="329184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350" b="1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Risques sans cadre</a:t>
            </a:r>
            <a:endParaRPr lang="en-US" sz="13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4944618" y="2846070"/>
            <a:ext cx="360045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 defTabSz="685800">
              <a:spcAft>
                <a:spcPts val="525"/>
              </a:spcAft>
              <a:buSzPct val="100000"/>
              <a:buFontTx/>
              <a:buChar char="•"/>
            </a:pPr>
            <a:r>
              <a:rPr lang="en-US" sz="1013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Dette technique et code peu lisible</a:t>
            </a:r>
            <a:endParaRPr lang="en-US" sz="1013" dirty="0">
              <a:solidFill>
                <a:prstClr val="black"/>
              </a:solidFill>
              <a:latin typeface="Calibri" panose="020F0502020204030204"/>
            </a:endParaRPr>
          </a:p>
          <a:p>
            <a:pPr marL="257175" indent="-257175" defTabSz="685800">
              <a:spcAft>
                <a:spcPts val="525"/>
              </a:spcAft>
              <a:buSzPct val="100000"/>
              <a:buFontTx/>
              <a:buChar char="•"/>
            </a:pPr>
            <a:r>
              <a:rPr lang="en-US" sz="1013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Hallucinations : API ou paramètres inexistants</a:t>
            </a:r>
            <a:endParaRPr lang="en-US" sz="1013" dirty="0">
              <a:solidFill>
                <a:prstClr val="black"/>
              </a:solidFill>
              <a:latin typeface="Calibri" panose="020F0502020204030204"/>
            </a:endParaRPr>
          </a:p>
          <a:p>
            <a:pPr marL="257175" indent="-257175" defTabSz="685800">
              <a:spcAft>
                <a:spcPts val="525"/>
              </a:spcAft>
              <a:buSzPct val="100000"/>
              <a:buFontTx/>
              <a:buChar char="•"/>
            </a:pPr>
            <a:r>
              <a:rPr lang="en-US" sz="1013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accepté sans tests ni revue</a:t>
            </a:r>
            <a:endParaRPr lang="en-US" sz="1013" dirty="0">
              <a:solidFill>
                <a:prstClr val="black"/>
              </a:solidFill>
              <a:latin typeface="Calibri" panose="020F0502020204030204"/>
            </a:endParaRPr>
          </a:p>
          <a:p>
            <a:pPr marL="257175" indent="-257175" defTabSz="685800">
              <a:spcAft>
                <a:spcPts val="525"/>
              </a:spcAft>
              <a:buSzPct val="100000"/>
              <a:buFontTx/>
              <a:buChar char="•"/>
            </a:pPr>
            <a:r>
              <a:rPr lang="en-US" sz="1013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Fuite de secrets, dépendances douteuses</a:t>
            </a:r>
            <a:endParaRPr lang="en-US" sz="101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377190" y="4855464"/>
            <a:ext cx="5486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75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GitHub Copilot pour Microsoft Fabric  -  Expertime</a:t>
            </a:r>
            <a:endParaRPr lang="en-US" sz="67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8457971" y="4855464"/>
            <a:ext cx="3429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685800"/>
            <a:r>
              <a:rPr lang="en-US" sz="675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675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7190" y="342900"/>
            <a:ext cx="75438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00" b="1" kern="0" spc="150" dirty="0">
                <a:solidFill>
                  <a:srgbClr val="2E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FONDAMENTAUX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377190" y="548640"/>
            <a:ext cx="8366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2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 3 règles d'or du vibe coding encadré</a:t>
            </a:r>
            <a:endParaRPr lang="en-US" sz="22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77190" y="1371600"/>
            <a:ext cx="2674620" cy="3017520"/>
          </a:xfrm>
          <a:prstGeom prst="rect">
            <a:avLst/>
          </a:prstGeom>
          <a:solidFill>
            <a:srgbClr val="161B22"/>
          </a:solidFill>
          <a:ln w="15875">
            <a:solidFill>
              <a:srgbClr val="8957E5"/>
            </a:solidFill>
            <a:prstDash val="solid"/>
          </a:ln>
        </p:spPr>
        <p:txBody>
          <a:bodyPr/>
          <a:lstStyle/>
          <a:p>
            <a:pPr defTabSz="685800"/>
            <a:endParaRPr lang="fr-FR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337310" y="1680210"/>
            <a:ext cx="754380" cy="754380"/>
          </a:xfrm>
          <a:prstGeom prst="ellipse">
            <a:avLst/>
          </a:prstGeom>
          <a:solidFill>
            <a:srgbClr val="8957E5"/>
          </a:solidFill>
          <a:ln/>
        </p:spPr>
        <p:txBody>
          <a:bodyPr/>
          <a:lstStyle/>
          <a:p>
            <a:pPr defTabSz="685800"/>
            <a:endParaRPr lang="fr-FR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1337310" y="1680210"/>
            <a:ext cx="7543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582930" y="2571750"/>
            <a:ext cx="22631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1425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Contexte explicite</a:t>
            </a:r>
            <a:endParaRPr lang="en-US" sz="142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617220" y="3051810"/>
            <a:ext cx="219456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1013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Ouvrir les bons fichiers, fournir schémas et conventions. L'IA répond à ce qu'elle voit — pas à ce qu'on imagine.</a:t>
            </a:r>
            <a:endParaRPr lang="en-US" sz="101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230118" y="1371600"/>
            <a:ext cx="2674620" cy="3017520"/>
          </a:xfrm>
          <a:prstGeom prst="rect">
            <a:avLst/>
          </a:prstGeom>
          <a:solidFill>
            <a:srgbClr val="161B22"/>
          </a:solidFill>
          <a:ln w="15875">
            <a:solidFill>
              <a:srgbClr val="1F6FEB"/>
            </a:solidFill>
            <a:prstDash val="solid"/>
          </a:ln>
        </p:spPr>
        <p:txBody>
          <a:bodyPr/>
          <a:lstStyle/>
          <a:p>
            <a:pPr defTabSz="685800"/>
            <a:endParaRPr lang="fr-FR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190238" y="1680210"/>
            <a:ext cx="754380" cy="754380"/>
          </a:xfrm>
          <a:prstGeom prst="ellipse">
            <a:avLst/>
          </a:prstGeom>
          <a:solidFill>
            <a:srgbClr val="1F6FEB"/>
          </a:solidFill>
          <a:ln/>
        </p:spPr>
        <p:txBody>
          <a:bodyPr/>
          <a:lstStyle/>
          <a:p>
            <a:pPr defTabSz="685800"/>
            <a:endParaRPr lang="fr-FR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190238" y="1680210"/>
            <a:ext cx="7543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435858" y="2571750"/>
            <a:ext cx="22631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1425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Petites itérations</a:t>
            </a:r>
            <a:endParaRPr lang="en-US" sz="142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470148" y="3051810"/>
            <a:ext cx="219456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1013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Valider étape par étape. Jamais 200 lignes acceptées d'un coup : on lit, on teste, on avance.</a:t>
            </a:r>
            <a:endParaRPr lang="en-US" sz="101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083046" y="1371600"/>
            <a:ext cx="2674620" cy="3017520"/>
          </a:xfrm>
          <a:prstGeom prst="rect">
            <a:avLst/>
          </a:prstGeom>
          <a:solidFill>
            <a:srgbClr val="161B22"/>
          </a:solidFill>
          <a:ln w="15875">
            <a:solidFill>
              <a:srgbClr val="2EA043"/>
            </a:solidFill>
            <a:prstDash val="solid"/>
          </a:ln>
        </p:spPr>
        <p:txBody>
          <a:bodyPr/>
          <a:lstStyle/>
          <a:p>
            <a:pPr defTabSz="685800"/>
            <a:endParaRPr lang="fr-FR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043166" y="1680210"/>
            <a:ext cx="754380" cy="754380"/>
          </a:xfrm>
          <a:prstGeom prst="ellipse">
            <a:avLst/>
          </a:prstGeom>
          <a:solidFill>
            <a:srgbClr val="2EA043"/>
          </a:solidFill>
          <a:ln/>
        </p:spPr>
        <p:txBody>
          <a:bodyPr/>
          <a:lstStyle/>
          <a:p>
            <a:pPr defTabSz="685800"/>
            <a:endParaRPr lang="fr-FR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043166" y="1680210"/>
            <a:ext cx="7543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288786" y="2571750"/>
            <a:ext cx="22631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1425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Rien sans test + revue</a:t>
            </a:r>
            <a:endParaRPr lang="en-US" sz="142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323076" y="3051810"/>
            <a:ext cx="219456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1013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code généré n'est mergé sans tests verts et revue humaine en pull request.</a:t>
            </a:r>
            <a:endParaRPr lang="en-US" sz="101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77190" y="4855464"/>
            <a:ext cx="5486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75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pour Data Engineers · Expertime</a:t>
            </a:r>
            <a:endParaRPr lang="en-US" sz="67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457971" y="4855464"/>
            <a:ext cx="3429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685800"/>
            <a:r>
              <a:rPr lang="en-US" sz="675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675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op Band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" name="Text 0"/>
          <p:cNvSpPr/>
          <p:nvPr/>
        </p:nvSpPr>
        <p:spPr>
          <a:xfrm>
            <a:off x="377190" y="288036"/>
            <a:ext cx="75438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00" b="1" kern="0" spc="1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377190" y="493776"/>
            <a:ext cx="8366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2250" b="1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Panorama de GitHub Copilot</a:t>
            </a:r>
            <a:endParaRPr lang="en-US" sz="22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77190" y="1268730"/>
            <a:ext cx="2695194" cy="1495044"/>
          </a:xfrm>
          <a:prstGeom prst="rect">
            <a:avLst/>
          </a:prstGeom>
          <a:solidFill>
            <a:srgbClr val="F4F6F9"/>
          </a:solidFill>
          <a:ln w="12700">
            <a:solidFill>
              <a:srgbClr val="D7DEE6"/>
            </a:solidFill>
            <a:prstDash val="solid"/>
          </a:ln>
          <a:effectLst>
            <a:outerShdw blurRad="88900" dist="38100" dir="8100000" algn="bl" rotWithShape="0">
              <a:srgbClr val="1A2332">
                <a:alpha val="12000"/>
              </a:srgbClr>
            </a:outerShdw>
          </a:effectLst>
        </p:spPr>
        <p:txBody>
          <a:bodyPr/>
          <a:lstStyle/>
          <a:p>
            <a:pPr defTabSz="685800"/>
            <a:endParaRPr lang="fr-FR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96646" y="1488186"/>
            <a:ext cx="452628" cy="4526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</p:spPr>
        <p:txBody>
          <a:bodyPr/>
          <a:lstStyle/>
          <a:p>
            <a:pPr defTabSz="685800"/>
            <a:endParaRPr lang="fr-FR" sz="135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374" y="1597914"/>
            <a:ext cx="233172" cy="2331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6646" y="1995678"/>
            <a:ext cx="22837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163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Complétion inline</a:t>
            </a:r>
            <a:endParaRPr lang="en-US" sz="116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5"/>
          <p:cNvSpPr/>
          <p:nvPr/>
        </p:nvSpPr>
        <p:spPr>
          <a:xfrm>
            <a:off x="596646" y="2242566"/>
            <a:ext cx="228371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Suggestions au fil de la frappe, guidées par le code et les commentaires.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6"/>
          <p:cNvSpPr/>
          <p:nvPr/>
        </p:nvSpPr>
        <p:spPr>
          <a:xfrm>
            <a:off x="3223260" y="1268730"/>
            <a:ext cx="2695194" cy="1495044"/>
          </a:xfrm>
          <a:prstGeom prst="rect">
            <a:avLst/>
          </a:prstGeom>
          <a:solidFill>
            <a:srgbClr val="F4F6F9"/>
          </a:solidFill>
          <a:ln w="12700">
            <a:solidFill>
              <a:srgbClr val="D7DEE6"/>
            </a:solidFill>
            <a:prstDash val="solid"/>
          </a:ln>
          <a:effectLst>
            <a:outerShdw blurRad="88900" dist="38100" dir="8100000" algn="bl" rotWithShape="0">
              <a:srgbClr val="1A2332">
                <a:alpha val="12000"/>
              </a:srgbClr>
            </a:outerShdw>
          </a:effectLst>
        </p:spPr>
        <p:txBody>
          <a:bodyPr/>
          <a:lstStyle/>
          <a:p>
            <a:pPr defTabSz="685800"/>
            <a:endParaRPr lang="fr-FR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3442716" y="1488186"/>
            <a:ext cx="452628" cy="4526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</p:spPr>
        <p:txBody>
          <a:bodyPr/>
          <a:lstStyle/>
          <a:p>
            <a:pPr defTabSz="685800"/>
            <a:endParaRPr lang="fr-FR" sz="135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2444" y="1597914"/>
            <a:ext cx="233172" cy="2331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42716" y="1995678"/>
            <a:ext cx="22837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163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Chat</a:t>
            </a:r>
            <a:endParaRPr lang="en-US" sz="116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9"/>
          <p:cNvSpPr/>
          <p:nvPr/>
        </p:nvSpPr>
        <p:spPr>
          <a:xfrm>
            <a:off x="3442716" y="2242566"/>
            <a:ext cx="228371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/ réponses et commandes : /explain, /fix, /tests, /doc.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6069330" y="1268730"/>
            <a:ext cx="2695194" cy="1495044"/>
          </a:xfrm>
          <a:prstGeom prst="rect">
            <a:avLst/>
          </a:prstGeom>
          <a:solidFill>
            <a:srgbClr val="F4F6F9"/>
          </a:solidFill>
          <a:ln w="12700">
            <a:solidFill>
              <a:srgbClr val="D7DEE6"/>
            </a:solidFill>
            <a:prstDash val="solid"/>
          </a:ln>
          <a:effectLst>
            <a:outerShdw blurRad="88900" dist="38100" dir="8100000" algn="bl" rotWithShape="0">
              <a:srgbClr val="1A2332">
                <a:alpha val="12000"/>
              </a:srgbClr>
            </a:outerShdw>
          </a:effectLst>
        </p:spPr>
        <p:txBody>
          <a:bodyPr/>
          <a:lstStyle/>
          <a:p>
            <a:pPr defTabSz="685800"/>
            <a:endParaRPr lang="fr-FR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6288786" y="1488186"/>
            <a:ext cx="452628" cy="4526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</p:spPr>
        <p:txBody>
          <a:bodyPr/>
          <a:lstStyle/>
          <a:p>
            <a:pPr defTabSz="685800"/>
            <a:endParaRPr lang="fr-FR" sz="135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8514" y="1597914"/>
            <a:ext cx="233172" cy="2331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88786" y="1995678"/>
            <a:ext cx="22837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163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Edits</a:t>
            </a:r>
            <a:endParaRPr lang="en-US" sz="116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6288786" y="2242566"/>
            <a:ext cx="228371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Modifications cohérentes sur plusieurs fichiers à la fois.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377190" y="2914650"/>
            <a:ext cx="2695194" cy="1495044"/>
          </a:xfrm>
          <a:prstGeom prst="rect">
            <a:avLst/>
          </a:prstGeom>
          <a:solidFill>
            <a:srgbClr val="F4F6F9"/>
          </a:solidFill>
          <a:ln w="12700">
            <a:solidFill>
              <a:srgbClr val="D7DEE6"/>
            </a:solidFill>
            <a:prstDash val="solid"/>
          </a:ln>
          <a:effectLst>
            <a:outerShdw blurRad="88900" dist="38100" dir="8100000" algn="bl" rotWithShape="0">
              <a:srgbClr val="1A2332">
                <a:alpha val="12000"/>
              </a:srgbClr>
            </a:outerShdw>
          </a:effectLst>
        </p:spPr>
        <p:txBody>
          <a:bodyPr/>
          <a:lstStyle/>
          <a:p>
            <a:pPr defTabSz="685800"/>
            <a:endParaRPr lang="fr-FR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5"/>
          <p:cNvSpPr/>
          <p:nvPr/>
        </p:nvSpPr>
        <p:spPr>
          <a:xfrm>
            <a:off x="596646" y="3134106"/>
            <a:ext cx="452628" cy="4526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</p:spPr>
        <p:txBody>
          <a:bodyPr/>
          <a:lstStyle/>
          <a:p>
            <a:pPr defTabSz="685800"/>
            <a:endParaRPr lang="fr-FR" sz="135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6374" y="3243834"/>
            <a:ext cx="233172" cy="2331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96646" y="3641598"/>
            <a:ext cx="22837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163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mode</a:t>
            </a:r>
            <a:endParaRPr lang="en-US" sz="116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596646" y="3888486"/>
            <a:ext cx="228371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Tâches autonomes multi-étapes, sous supervision.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Shape 18"/>
          <p:cNvSpPr/>
          <p:nvPr/>
        </p:nvSpPr>
        <p:spPr>
          <a:xfrm>
            <a:off x="3223260" y="2914650"/>
            <a:ext cx="2695194" cy="1495044"/>
          </a:xfrm>
          <a:prstGeom prst="rect">
            <a:avLst/>
          </a:prstGeom>
          <a:solidFill>
            <a:srgbClr val="F4F6F9"/>
          </a:solidFill>
          <a:ln w="12700">
            <a:solidFill>
              <a:srgbClr val="D7DEE6"/>
            </a:solidFill>
            <a:prstDash val="solid"/>
          </a:ln>
          <a:effectLst>
            <a:outerShdw blurRad="88900" dist="38100" dir="8100000" algn="bl" rotWithShape="0">
              <a:srgbClr val="1A2332">
                <a:alpha val="12000"/>
              </a:srgbClr>
            </a:outerShdw>
          </a:effectLst>
        </p:spPr>
        <p:txBody>
          <a:bodyPr/>
          <a:lstStyle/>
          <a:p>
            <a:pPr defTabSz="685800"/>
            <a:endParaRPr lang="fr-FR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Shape 19"/>
          <p:cNvSpPr/>
          <p:nvPr/>
        </p:nvSpPr>
        <p:spPr>
          <a:xfrm>
            <a:off x="3442716" y="3134106"/>
            <a:ext cx="452628" cy="4526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</p:spPr>
        <p:txBody>
          <a:bodyPr/>
          <a:lstStyle/>
          <a:p>
            <a:pPr defTabSz="685800"/>
            <a:endParaRPr lang="fr-FR" sz="135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52444" y="3243834"/>
            <a:ext cx="233172" cy="23317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442716" y="3641598"/>
            <a:ext cx="22837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163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ciblé</a:t>
            </a:r>
            <a:endParaRPr lang="en-US" sz="116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1"/>
          <p:cNvSpPr/>
          <p:nvPr/>
        </p:nvSpPr>
        <p:spPr>
          <a:xfrm>
            <a:off x="3442716" y="3888486"/>
            <a:ext cx="228371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#file, #selection, @workspace pour cadrer la réponse.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Shape 22"/>
          <p:cNvSpPr/>
          <p:nvPr/>
        </p:nvSpPr>
        <p:spPr>
          <a:xfrm>
            <a:off x="6069330" y="2914650"/>
            <a:ext cx="2695194" cy="1495044"/>
          </a:xfrm>
          <a:prstGeom prst="rect">
            <a:avLst/>
          </a:prstGeom>
          <a:solidFill>
            <a:srgbClr val="F4F6F9"/>
          </a:solidFill>
          <a:ln w="12700">
            <a:solidFill>
              <a:srgbClr val="D7DEE6"/>
            </a:solidFill>
            <a:prstDash val="solid"/>
          </a:ln>
          <a:effectLst>
            <a:outerShdw blurRad="88900" dist="38100" dir="8100000" algn="bl" rotWithShape="0">
              <a:srgbClr val="1A2332">
                <a:alpha val="12000"/>
              </a:srgbClr>
            </a:outerShdw>
          </a:effectLst>
        </p:spPr>
        <p:txBody>
          <a:bodyPr/>
          <a:lstStyle/>
          <a:p>
            <a:pPr defTabSz="685800"/>
            <a:endParaRPr lang="fr-FR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Shape 23"/>
          <p:cNvSpPr/>
          <p:nvPr/>
        </p:nvSpPr>
        <p:spPr>
          <a:xfrm>
            <a:off x="6288786" y="3134106"/>
            <a:ext cx="452628" cy="4526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</p:spPr>
        <p:txBody>
          <a:bodyPr/>
          <a:lstStyle/>
          <a:p>
            <a:pPr defTabSz="685800"/>
            <a:endParaRPr lang="fr-FR" sz="135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98514" y="3243834"/>
            <a:ext cx="233172" cy="23317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288786" y="3641598"/>
            <a:ext cx="22837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163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copilot-instructions.md</a:t>
            </a:r>
            <a:endParaRPr lang="en-US" sz="116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25"/>
          <p:cNvSpPr/>
          <p:nvPr/>
        </p:nvSpPr>
        <p:spPr>
          <a:xfrm>
            <a:off x="6288786" y="3888486"/>
            <a:ext cx="228371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Conventions d'équipe injectées automatiquement dans chaque prompt.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Text 26"/>
          <p:cNvSpPr/>
          <p:nvPr/>
        </p:nvSpPr>
        <p:spPr>
          <a:xfrm>
            <a:off x="377190" y="4855464"/>
            <a:ext cx="5486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75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GitHub Copilot pour Microsoft Fabric  -  Expertime</a:t>
            </a:r>
            <a:endParaRPr lang="en-US" sz="67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Text 27"/>
          <p:cNvSpPr/>
          <p:nvPr/>
        </p:nvSpPr>
        <p:spPr>
          <a:xfrm>
            <a:off x="8457971" y="4855464"/>
            <a:ext cx="3429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685800"/>
            <a:r>
              <a:rPr lang="en-US" sz="675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675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6" name="Image 35" descr="Github Copilot Icon &amp; Logo | Dashboard Icons &amp; Logos">
            <a:extLst>
              <a:ext uri="{FF2B5EF4-FFF2-40B4-BE49-F238E27FC236}">
                <a16:creationId xmlns:a16="http://schemas.microsoft.com/office/drawing/2014/main" id="{CFDF9D08-D04B-10E7-7A09-7FCC1221AE4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50480" y="190210"/>
            <a:ext cx="1079524" cy="855635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A218943-D96F-6006-EEF3-0F6B481E1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9D492FA-2A21-E8AE-1A77-8315F9068517}"/>
              </a:ext>
            </a:extLst>
          </p:cNvPr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B64F7C2-E648-B8BE-E8D1-ED50C20F1C1A}"/>
              </a:ext>
            </a:extLst>
          </p:cNvPr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Formation GitHub Copilot pour Microsoft Fabric  -  Expertime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C613796-B7CC-3FEA-1997-95FBE3B86E16}"/>
              </a:ext>
            </a:extLst>
          </p:cNvPr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Les 3 facons </a:t>
            </a:r>
            <a:r>
              <a:rPr kumimoji="0" lang="en-US" sz="2600" b="1" i="0" u="none" strike="noStrike" kern="1200" cap="none" spc="0" normalizeH="0" baseline="0" noProof="0" dirty="0" err="1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d'utiliser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 GitHub Copilot dans VS Code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E343982C-858B-3F5F-88FB-8F0651A74CE7}"/>
              </a:ext>
            </a:extLst>
          </p:cNvPr>
          <p:cNvSpPr/>
          <p:nvPr/>
        </p:nvSpPr>
        <p:spPr>
          <a:xfrm>
            <a:off x="457200" y="1280160"/>
            <a:ext cx="265176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A5B3D462-B6F4-ED04-D8D6-90E542EE268E}"/>
              </a:ext>
            </a:extLst>
          </p:cNvPr>
          <p:cNvSpPr/>
          <p:nvPr/>
        </p:nvSpPr>
        <p:spPr>
          <a:xfrm>
            <a:off x="457200" y="1280160"/>
            <a:ext cx="2651760" cy="73152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13DF421-E4C1-7ED3-47E9-19F792A52BF8}"/>
              </a:ext>
            </a:extLst>
          </p:cNvPr>
          <p:cNvSpPr/>
          <p:nvPr/>
        </p:nvSpPr>
        <p:spPr>
          <a:xfrm>
            <a:off x="640080" y="1508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Inline completion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6A09B55-7CE3-9863-9081-208D2A5EF241}"/>
              </a:ext>
            </a:extLst>
          </p:cNvPr>
          <p:cNvSpPr/>
          <p:nvPr/>
        </p:nvSpPr>
        <p:spPr>
          <a:xfrm>
            <a:off x="640080" y="19659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30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QUAND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C53B16DB-4BE9-C803-DBA5-0E00ACEB832A}"/>
              </a:ext>
            </a:extLst>
          </p:cNvPr>
          <p:cNvSpPr/>
          <p:nvPr/>
        </p:nvSpPr>
        <p:spPr>
          <a:xfrm>
            <a:off x="640080" y="21945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233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Tu ecris du code, Copilot propose la suite.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2ED27C5D-25D6-21C0-7E61-A8D4633682A6}"/>
              </a:ext>
            </a:extLst>
          </p:cNvPr>
          <p:cNvSpPr/>
          <p:nvPr/>
        </p:nvSpPr>
        <p:spPr>
          <a:xfrm>
            <a:off x="640080" y="28346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30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USAGE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732FFFFB-BC2C-634F-7912-3577D52807E2}"/>
              </a:ext>
            </a:extLst>
          </p:cNvPr>
          <p:cNvSpPr/>
          <p:nvPr/>
        </p:nvSpPr>
        <p:spPr>
          <a:xfrm>
            <a:off x="640080" y="3063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233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Boilerplate, imports, types, signatures.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EDB300E5-68A2-962C-1FD0-D7DEE1A84094}"/>
              </a:ext>
            </a:extLst>
          </p:cNvPr>
          <p:cNvSpPr/>
          <p:nvPr/>
        </p:nvSpPr>
        <p:spPr>
          <a:xfrm>
            <a:off x="640080" y="37033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30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ASTUCE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A38BD920-8E15-A6B7-EC9C-509F58978135}"/>
              </a:ext>
            </a:extLst>
          </p:cNvPr>
          <p:cNvSpPr/>
          <p:nvPr/>
        </p:nvSpPr>
        <p:spPr>
          <a:xfrm>
            <a:off x="640080" y="39319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1A233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Tab pour accepter, Esc pour refuser. Lire AVANT d'accepter.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8C0054FC-4562-5788-6543-E6A149787C12}"/>
              </a:ext>
            </a:extLst>
          </p:cNvPr>
          <p:cNvSpPr/>
          <p:nvPr/>
        </p:nvSpPr>
        <p:spPr>
          <a:xfrm>
            <a:off x="3246120" y="1280160"/>
            <a:ext cx="265176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F7EC9989-FF0F-D66E-B45C-E4A7BA792FE0}"/>
              </a:ext>
            </a:extLst>
          </p:cNvPr>
          <p:cNvSpPr/>
          <p:nvPr/>
        </p:nvSpPr>
        <p:spPr>
          <a:xfrm>
            <a:off x="3246120" y="1280160"/>
            <a:ext cx="2651760" cy="73152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6350E983-E776-5203-91EC-8C499066F198}"/>
              </a:ext>
            </a:extLst>
          </p:cNvPr>
          <p:cNvSpPr/>
          <p:nvPr/>
        </p:nvSpPr>
        <p:spPr>
          <a:xfrm>
            <a:off x="3429000" y="1508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Inline chat (Ctrl+I)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2BCE2D93-788E-3F6E-C41C-B356662EE96F}"/>
              </a:ext>
            </a:extLst>
          </p:cNvPr>
          <p:cNvSpPr/>
          <p:nvPr/>
        </p:nvSpPr>
        <p:spPr>
          <a:xfrm>
            <a:off x="3429000" y="19659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30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QUAND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8D4C3B1F-EC1E-3C04-20DB-158CC19B6806}"/>
              </a:ext>
            </a:extLst>
          </p:cNvPr>
          <p:cNvSpPr/>
          <p:nvPr/>
        </p:nvSpPr>
        <p:spPr>
          <a:xfrm>
            <a:off x="3429000" y="21945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233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Tu selectionnes du code et tu poses une question dessus.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50BD72C4-C41B-ABF2-5ED7-E1C1342CE827}"/>
              </a:ext>
            </a:extLst>
          </p:cNvPr>
          <p:cNvSpPr/>
          <p:nvPr/>
        </p:nvSpPr>
        <p:spPr>
          <a:xfrm>
            <a:off x="3429000" y="28346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30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USAGE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A388CD45-1FBC-2027-F899-4CE64105EC9C}"/>
              </a:ext>
            </a:extLst>
          </p:cNvPr>
          <p:cNvSpPr/>
          <p:nvPr/>
        </p:nvSpPr>
        <p:spPr>
          <a:xfrm>
            <a:off x="3429000" y="3063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233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Refactoring local, explication, generation ciblee.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7B144BDE-EEDC-CE89-209A-B43A10AB0DC1}"/>
              </a:ext>
            </a:extLst>
          </p:cNvPr>
          <p:cNvSpPr/>
          <p:nvPr/>
        </p:nvSpPr>
        <p:spPr>
          <a:xfrm>
            <a:off x="3429000" y="37033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30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ASTUCE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48A5BABC-1BE6-5A53-55AE-C8C7A1D51584}"/>
              </a:ext>
            </a:extLst>
          </p:cNvPr>
          <p:cNvSpPr/>
          <p:nvPr/>
        </p:nvSpPr>
        <p:spPr>
          <a:xfrm>
            <a:off x="3429000" y="39319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1A233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Ideal pour transformer une cellule de notebook.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FF34D661-2B38-B175-BEFD-C4419703D7D7}"/>
              </a:ext>
            </a:extLst>
          </p:cNvPr>
          <p:cNvSpPr/>
          <p:nvPr/>
        </p:nvSpPr>
        <p:spPr>
          <a:xfrm>
            <a:off x="6035040" y="1280160"/>
            <a:ext cx="265176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A49E4992-ED2C-D063-3823-CB646790B861}"/>
              </a:ext>
            </a:extLst>
          </p:cNvPr>
          <p:cNvSpPr/>
          <p:nvPr/>
        </p:nvSpPr>
        <p:spPr>
          <a:xfrm>
            <a:off x="6035040" y="1280160"/>
            <a:ext cx="2651760" cy="73152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3DA91FEE-BCA2-E5F6-D66A-984AE69D5F3E}"/>
              </a:ext>
            </a:extLst>
          </p:cNvPr>
          <p:cNvSpPr/>
          <p:nvPr/>
        </p:nvSpPr>
        <p:spPr>
          <a:xfrm>
            <a:off x="6217920" y="1508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Chat panel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6C6E66F7-81D9-16BF-2DC4-5E97EFF84F82}"/>
              </a:ext>
            </a:extLst>
          </p:cNvPr>
          <p:cNvSpPr/>
          <p:nvPr/>
        </p:nvSpPr>
        <p:spPr>
          <a:xfrm>
            <a:off x="6217920" y="19659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30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QUAND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0E9127DE-0A3A-A64F-3720-88DA75635A14}"/>
              </a:ext>
            </a:extLst>
          </p:cNvPr>
          <p:cNvSpPr/>
          <p:nvPr/>
        </p:nvSpPr>
        <p:spPr>
          <a:xfrm>
            <a:off x="6217920" y="21945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233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longue avec Copilot, multi-fichiers.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C04845C1-8F0F-88D7-5815-409DE73F3395}"/>
              </a:ext>
            </a:extLst>
          </p:cNvPr>
          <p:cNvSpPr/>
          <p:nvPr/>
        </p:nvSpPr>
        <p:spPr>
          <a:xfrm>
            <a:off x="6217920" y="28346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30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USAGE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3B3E59BF-EE0B-586E-271C-7F94AD557D13}"/>
              </a:ext>
            </a:extLst>
          </p:cNvPr>
          <p:cNvSpPr/>
          <p:nvPr/>
        </p:nvSpPr>
        <p:spPr>
          <a:xfrm>
            <a:off x="6217920" y="3063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233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/explain, /tests, /fix, /doc.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9F1053D4-B0D1-0364-0E05-640670644CE4}"/>
              </a:ext>
            </a:extLst>
          </p:cNvPr>
          <p:cNvSpPr/>
          <p:nvPr/>
        </p:nvSpPr>
        <p:spPr>
          <a:xfrm>
            <a:off x="6217920" y="37033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30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ASTUCE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22A183BB-84E1-6DF5-C9FF-BF78641C7DF4}"/>
              </a:ext>
            </a:extLst>
          </p:cNvPr>
          <p:cNvSpPr/>
          <p:nvPr/>
        </p:nvSpPr>
        <p:spPr>
          <a:xfrm>
            <a:off x="6217920" y="39319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1A233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Mentionner @workspace pour scanner tout le repo.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106004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943600" y="1828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GitHub Copilot pour Microsoft Fabric  -  Expertime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Pourquoi VS Code </a:t>
            </a:r>
            <a:r>
              <a:rPr lang="en-US" sz="2800" b="1" dirty="0" err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plutôt</a:t>
            </a: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que le portail Fabric 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393192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3931920" cy="45720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57200" y="12801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Portail Fabric (web)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1874520"/>
            <a:ext cx="35204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natif limite sur les notebooks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restreint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tests unitaires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Refactoring multi-</a:t>
            </a:r>
            <a:r>
              <a:rPr lang="en-US" sz="12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</a:t>
            </a: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pénible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natif puissant </a:t>
            </a:r>
            <a:r>
              <a:rPr lang="en-US" sz="12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</a:t>
            </a: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cantonné</a:t>
            </a: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 </a:t>
            </a:r>
            <a:r>
              <a:rPr lang="en-US" sz="12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périmètre</a:t>
            </a: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sélectionné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280160"/>
            <a:ext cx="3931920" cy="3383280"/>
          </a:xfrm>
          <a:prstGeom prst="rect">
            <a:avLst/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4754880" y="1280160"/>
            <a:ext cx="3931920" cy="4572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754880" y="12801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 Code + Copilot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83480" y="1874520"/>
            <a:ext cx="35204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Git, branches, PR, code review fluides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</a:t>
            </a:r>
            <a:r>
              <a:rPr lang="en-US" sz="12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</a:t>
            </a: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</a:t>
            </a: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autres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Refactoring multi-</a:t>
            </a:r>
            <a:r>
              <a:rPr lang="en-US" sz="12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Fabric Data Engineering : </a:t>
            </a:r>
            <a:r>
              <a:rPr lang="en-US" sz="12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édition</a:t>
            </a: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locale, </a:t>
            </a:r>
            <a:r>
              <a:rPr lang="en-US" sz="12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exécution</a:t>
            </a: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sur cluster Spark Fabric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voit l'ensemble du repo (fichiers, contrats, exemples)</a:t>
            </a:r>
            <a:endParaRPr lang="en-US" sz="12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opBar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" name="Text 0"/>
          <p:cNvSpPr/>
          <p:nvPr/>
        </p:nvSpPr>
        <p:spPr>
          <a:xfrm>
            <a:off x="5943600" y="1828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Exécution</a:t>
            </a:r>
            <a:endParaRPr lang="en-US" sz="900"/>
          </a:p>
        </p:txBody>
      </p:sp>
      <p:sp>
        <p:nvSpPr>
          <p:cNvPr id="3" name="Text 1"/>
          <p:cNvSpPr/>
          <p:nvPr/>
        </p:nvSpPr>
        <p:spPr>
          <a:xfrm>
            <a:off x="457200" y="440000"/>
            <a:ext cx="8229600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Exécuter le notebook : local ou distant ?</a:t>
            </a:r>
            <a:endParaRPr lang="en-US" sz="2800"/>
          </a:p>
        </p:txBody>
      </p:sp>
      <p:sp>
        <p:nvSpPr>
          <p:cNvPr id="4" name="Banner"/>
          <p:cNvSpPr/>
          <p:nvPr/>
        </p:nvSpPr>
        <p:spPr>
          <a:xfrm>
            <a:off x="457200" y="1180000"/>
            <a:ext cx="8229600" cy="5200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IconCircle"/>
          <p:cNvSpPr/>
          <p:nvPr/>
        </p:nvSpPr>
        <p:spPr>
          <a:xfrm>
            <a:off x="640080" y="1290000"/>
            <a:ext cx="300000" cy="3000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080" y="1362000"/>
            <a:ext cx="156000" cy="156000"/>
          </a:xfrm>
          <a:prstGeom prst="rect">
            <a:avLst/>
          </a:prstGeom>
        </p:spPr>
      </p:pic>
      <p:sp>
        <p:nvSpPr>
          <p:cNvPr id="7" name="BannerText"/>
          <p:cNvSpPr/>
          <p:nvPr/>
        </p:nvSpPr>
        <p:spPr>
          <a:xfrm>
            <a:off x="1080000" y="1180000"/>
            <a:ext cx="74700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100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Local » = le calcul, pas les données. </a:t>
            </a: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données du Lakehouse vivent dans OneLake (le cloud), jamais sur votre machine.</a:t>
            </a:r>
            <a:endParaRPr lang="en-US" sz="1100"/>
          </a:p>
        </p:txBody>
      </p:sp>
      <p:sp>
        <p:nvSpPr>
          <p:cNvPr id="8" name="LeftCard"/>
          <p:cNvSpPr/>
          <p:nvPr/>
        </p:nvSpPr>
        <p:spPr>
          <a:xfrm>
            <a:off x="457200" y="1820000"/>
            <a:ext cx="3931920" cy="252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LeftHeaderBar"/>
          <p:cNvSpPr/>
          <p:nvPr/>
        </p:nvSpPr>
        <p:spPr>
          <a:xfrm>
            <a:off x="457200" y="1820000"/>
            <a:ext cx="3931920" cy="5600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LeftHeaderText"/>
          <p:cNvSpPr/>
          <p:nvPr/>
        </p:nvSpPr>
        <p:spPr>
          <a:xfrm>
            <a:off x="457200" y="1820000"/>
            <a:ext cx="393192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900" b="1" kern="0" spc="15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RECOMMANDÉ POUR VALIDER</a:t>
            </a:r>
          </a:p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Runtime Fabric distant</a:t>
            </a:r>
            <a:endParaRPr lang="en-US" sz="1400"/>
          </a:p>
        </p:txBody>
      </p:sp>
      <p:sp>
        <p:nvSpPr>
          <p:cNvPr id="12" name="LeftBullets"/>
          <p:cNvSpPr/>
          <p:nvPr/>
        </p:nvSpPr>
        <p:spPr>
          <a:xfrm>
            <a:off x="685800" y="2470000"/>
            <a:ext cx="3475320" cy="18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spcAft>
                <a:spcPts val="500"/>
              </a:spcAft>
              <a:buSzPct val="100000"/>
              <a:buChar char="•"/>
            </a:pPr>
            <a:r>
              <a:rPr lang="en-US" sz="11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calcul tourne sur le pool Spark du workspace</a:t>
            </a:r>
            <a:endParaRPr lang="en-US" sz="1100"/>
          </a:p>
          <a:p>
            <a:pPr marL="285750" indent="-285750">
              <a:spcAft>
                <a:spcPts val="500"/>
              </a:spcAft>
              <a:buSzPct val="100000"/>
              <a:buChar char="•"/>
            </a:pPr>
            <a:r>
              <a:rPr lang="en-US" sz="11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Obligatoire pour notebookutils / mssparkutils</a:t>
            </a:r>
            <a:endParaRPr lang="en-US" sz="1100"/>
          </a:p>
          <a:p>
            <a:pPr marL="285750" indent="-285750">
              <a:spcAft>
                <a:spcPts val="500"/>
              </a:spcAft>
              <a:buSzPct val="100000"/>
              <a:buChar char="•"/>
            </a:pPr>
            <a:r>
              <a:rPr lang="en-US" sz="11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Comportement fidèle : Delta, V-Order, Lakehouse attaché</a:t>
            </a:r>
            <a:endParaRPr lang="en-US" sz="1100"/>
          </a:p>
          <a:p>
            <a:pPr marL="285750" indent="-285750">
              <a:spcAft>
                <a:spcPts val="500"/>
              </a:spcAft>
              <a:buSzPct val="100000"/>
              <a:buChar char="•"/>
            </a:pPr>
            <a:r>
              <a:rPr lang="en-US" sz="11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l'environnement de production</a:t>
            </a:r>
            <a:endParaRPr lang="en-US" sz="1100"/>
          </a:p>
        </p:txBody>
      </p:sp>
      <p:sp>
        <p:nvSpPr>
          <p:cNvPr id="13" name="RightCard"/>
          <p:cNvSpPr/>
          <p:nvPr/>
        </p:nvSpPr>
        <p:spPr>
          <a:xfrm>
            <a:off x="4754880" y="1820000"/>
            <a:ext cx="3931920" cy="252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RightHeaderBar"/>
          <p:cNvSpPr/>
          <p:nvPr/>
        </p:nvSpPr>
        <p:spPr>
          <a:xfrm>
            <a:off x="4754880" y="1820000"/>
            <a:ext cx="3931920" cy="56000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RightHeaderText"/>
          <p:cNvSpPr/>
          <p:nvPr/>
        </p:nvSpPr>
        <p:spPr>
          <a:xfrm>
            <a:off x="4754880" y="1820000"/>
            <a:ext cx="393192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900" b="1" kern="0" spc="15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ITÉRER VITE</a:t>
            </a:r>
          </a:p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Spark local</a:t>
            </a:r>
            <a:endParaRPr lang="en-US" sz="1400"/>
          </a:p>
        </p:txBody>
      </p:sp>
      <p:sp>
        <p:nvSpPr>
          <p:cNvPr id="17" name="RightBullets"/>
          <p:cNvSpPr/>
          <p:nvPr/>
        </p:nvSpPr>
        <p:spPr>
          <a:xfrm>
            <a:off x="4983480" y="2470000"/>
            <a:ext cx="3475320" cy="18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spcAft>
                <a:spcPts val="500"/>
              </a:spcAft>
              <a:buSzPct val="100000"/>
              <a:buChar char="•"/>
            </a:pPr>
            <a:r>
              <a:rPr lang="en-US" sz="11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Conda local (runtime 1.1/1.2) ou devcontainer Docker</a:t>
            </a:r>
            <a:endParaRPr lang="en-US" sz="1100"/>
          </a:p>
          <a:p>
            <a:pPr marL="285750" indent="-285750">
              <a:spcAft>
                <a:spcPts val="500"/>
              </a:spcAft>
              <a:buSzPct val="100000"/>
              <a:buChar char="•"/>
            </a:pPr>
            <a:r>
              <a:rPr lang="en-US" sz="11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Itération rapide : lint, tests, Git, Copilot</a:t>
            </a:r>
            <a:endParaRPr lang="en-US" sz="1100"/>
          </a:p>
          <a:p>
            <a:pPr marL="285750" indent="-285750">
              <a:spcAft>
                <a:spcPts val="500"/>
              </a:spcAft>
              <a:buSzPct val="100000"/>
              <a:buChar char="•"/>
            </a:pPr>
            <a:r>
              <a:rPr lang="en-US" sz="11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OneLake via chemin ABFSS + Service Principal</a:t>
            </a:r>
            <a:endParaRPr lang="en-US" sz="1100"/>
          </a:p>
          <a:p>
            <a:pPr marL="285750" indent="-285750">
              <a:spcAft>
                <a:spcPts val="500"/>
              </a:spcAft>
              <a:buSzPct val="100000"/>
              <a:buChar char="•"/>
            </a:pPr>
            <a:r>
              <a:rPr lang="en-US" sz="11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1.3+ : plus de conda local ; notebookutils indisponible</a:t>
            </a:r>
            <a:endParaRPr lang="en-US" sz="1100"/>
          </a:p>
        </p:txBody>
      </p:sp>
      <p:sp>
        <p:nvSpPr>
          <p:cNvPr id="18" name="BottomNote"/>
          <p:cNvSpPr/>
          <p:nvPr/>
        </p:nvSpPr>
        <p:spPr>
          <a:xfrm>
            <a:off x="457200" y="4420000"/>
            <a:ext cx="8229600" cy="3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: itérer en local, mais toujours valider sur le runtime distant avant de publier.</a:t>
            </a:r>
            <a:endParaRPr lang="en-US" sz="1000"/>
          </a:p>
        </p:txBody>
      </p:sp>
      <p:sp>
        <p:nvSpPr>
          <p:cNvPr id="19" name="Footer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GitHub Copilot pour Microsoft Fabric  -  Expertime</a:t>
            </a:r>
            <a:endParaRPr lang="en-US" sz="80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943600" y="1828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GitHub Copilot pour Microsoft Fabric  -  Expertime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programme en 4 niveaux progressifs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niveau s'appuie sur le precedent. Le but : passer de la prise en main a l'autonomie qualitative.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234440" y="17099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Fondamentaux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4440" y="20391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1/2 journee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0" y="18288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Installer, configurer, utiliser sans danger.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54380" y="2286000"/>
            <a:ext cx="0" cy="118872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457200" y="2404872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57200" y="240487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234440" y="2423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Prompting efficace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34440" y="275234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journee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254203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Donner le bon contexte pour du code juste.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54380" y="2999232"/>
            <a:ext cx="0" cy="118872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457200" y="3118104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457200" y="311810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234440" y="31363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Patterns Fabric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34440" y="346557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journee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0" y="325526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Medallion, tests, migrations, CI/CD.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54380" y="3712464"/>
            <a:ext cx="0" cy="118872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457200" y="3831336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457200" y="383133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234440" y="384962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Qualite &amp; gouvernance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234440" y="41788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1/2 journee + suivi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29200" y="396849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Revue, securite, mesure d'impact.</a:t>
            </a:r>
            <a:endParaRPr lang="en-US" sz="12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E685EE-BD8C-FCCA-1AD0-D67522382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1F1B3B2-C40A-F2D5-DAC7-50D56F83F3DA}"/>
              </a:ext>
            </a:extLst>
          </p:cNvPr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058318B-93C1-F3DC-93BC-AC276D5FA74C}"/>
              </a:ext>
            </a:extLst>
          </p:cNvPr>
          <p:cNvSpPr/>
          <p:nvPr/>
        </p:nvSpPr>
        <p:spPr>
          <a:xfrm>
            <a:off x="5943600" y="1828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1  -  Fondamentaux</a:t>
            </a:r>
            <a:endParaRPr lang="en-US" sz="9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86C8DCE-FCBA-85F8-A5A0-E2B75723E470}"/>
              </a:ext>
            </a:extLst>
          </p:cNvPr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GitHub Copilot pour Microsoft Fabric  -  Expertime</a:t>
            </a:r>
            <a:endParaRPr lang="en-US" sz="8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B039CF0-B51D-79F5-DB89-9621B203494C}"/>
              </a:ext>
            </a:extLst>
          </p:cNvPr>
          <p:cNvSpPr/>
          <p:nvPr/>
        </p:nvSpPr>
        <p:spPr>
          <a:xfrm>
            <a:off x="457200" y="4114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0EE152F-0DE0-0455-6EA2-46017AB64BCC}"/>
              </a:ext>
            </a:extLst>
          </p:cNvPr>
          <p:cNvSpPr/>
          <p:nvPr/>
        </p:nvSpPr>
        <p:spPr>
          <a:xfrm>
            <a:off x="457200" y="411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DA7C8C2-F047-1AFC-DC47-4C186C8F6281}"/>
              </a:ext>
            </a:extLst>
          </p:cNvPr>
          <p:cNvSpPr/>
          <p:nvPr/>
        </p:nvSpPr>
        <p:spPr>
          <a:xfrm>
            <a:off x="1280160" y="45720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Fondamentaux - installer &amp; configurer</a:t>
            </a:r>
            <a:endParaRPr lang="en-US" sz="26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64B42A7-E0D5-49B8-545B-834332799201}"/>
              </a:ext>
            </a:extLst>
          </p:cNvPr>
          <p:cNvSpPr/>
          <p:nvPr/>
        </p:nvSpPr>
        <p:spPr>
          <a:xfrm>
            <a:off x="457200" y="12801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 à installer</a:t>
            </a:r>
            <a:endParaRPr lang="en-US" sz="16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9BE833A-CCCA-A4C3-A7F1-B8419576DC09}"/>
              </a:ext>
            </a:extLst>
          </p:cNvPr>
          <p:cNvSpPr/>
          <p:nvPr/>
        </p:nvSpPr>
        <p:spPr>
          <a:xfrm>
            <a:off x="457200" y="1691640"/>
            <a:ext cx="39319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(à jour)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GitHub Copilot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GitHub Copilot Chat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Extention</a:t>
            </a: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Fabric (Microsoft)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Fabric Data Engineering (Microsoft)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Pylance, Jupyter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Extention</a:t>
            </a: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Jupyter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</a:t>
            </a:r>
            <a:r>
              <a:rPr lang="en-US" sz="12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optionnel</a:t>
            </a: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 Ruff / Black formatter</a:t>
            </a:r>
            <a:endParaRPr lang="en-US" sz="12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1939474-5B05-52F5-C79F-7E6F391EEE63}"/>
              </a:ext>
            </a:extLst>
          </p:cNvPr>
          <p:cNvSpPr/>
          <p:nvPr/>
        </p:nvSpPr>
        <p:spPr>
          <a:xfrm>
            <a:off x="4572000" y="12801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Authentification &amp; sécurité</a:t>
            </a:r>
            <a:endParaRPr lang="en-US" sz="16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9B0D6441-CB33-D517-75E6-9DD16951C044}"/>
              </a:ext>
            </a:extLst>
          </p:cNvPr>
          <p:cNvSpPr/>
          <p:nvPr/>
        </p:nvSpPr>
        <p:spPr>
          <a:xfrm>
            <a:off x="4572000" y="1691640"/>
            <a:ext cx="41148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 GitHub d'organisation (pas de compte personnel)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Activer </a:t>
            </a:r>
            <a:r>
              <a:rPr lang="en-US" sz="1200" i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exclusion </a:t>
            </a: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les repos sensibles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 a Fabric via </a:t>
            </a:r>
            <a:r>
              <a:rPr lang="en-US" sz="12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l'extension</a:t>
            </a: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dédiée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</a:t>
            </a: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code public similaire : </a:t>
            </a:r>
            <a:r>
              <a:rPr lang="en-US" sz="12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activée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79490745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943600" y="1828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2  -  Prompting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GitHub Copilot pour Microsoft Fabric  -  Expertime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4114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411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280160" y="45720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contexte fait 80% de la qualite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3200400" cy="182880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57200" y="137160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640080" y="25146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qualite d'une suggestion vient du contexte fourni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931920" y="12801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 de contexte que Copilot utilise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931920" y="1691640"/>
            <a:ext cx="48463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fichier ouvert (curseur + autour)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onglets ouverts dans VS Code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</a:t>
            </a:r>
            <a:r>
              <a:rPr lang="en-US" sz="12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</a:t>
            </a: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selectionné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commentaires en haut du fichier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fichier .github/copilot-instructions.md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</a:t>
            </a:r>
            <a:r>
              <a:rPr lang="en-US" sz="12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exemples</a:t>
            </a: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présents</a:t>
            </a: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dans le repo (examples/)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solidFill>
            <a:srgbClr val="FFF7E6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640080" y="41148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i="1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</a:t>
            </a:r>
            <a:r>
              <a:rPr lang="en-US" sz="1200" b="1" i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si Copilot hallucine, ce n'est pas Copilot qui est mauvais - c'est le contexte qui manque.</a:t>
            </a:r>
            <a:endParaRPr lang="en-US" sz="12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943600" y="1828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2  -  Patterns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GitHub Copilot pour Microsoft Fabric  -  Expertime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patterns de prompts </a:t>
            </a:r>
            <a:r>
              <a:rPr lang="en-US" sz="2600" b="1" dirty="0" err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efficaces</a:t>
            </a: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600" b="1" dirty="0" err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</a:t>
            </a: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data engineering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188720" y="1280160"/>
            <a:ext cx="74980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1188720" y="1280160"/>
            <a:ext cx="73152" cy="9601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1417320" y="1371600"/>
            <a:ext cx="7178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Pattern  </a:t>
            </a:r>
            <a:r>
              <a:rPr lang="en-US" sz="1400" b="1" dirty="0" err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schéma</a:t>
            </a: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en commentaire 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17320" y="1719072"/>
            <a:ext cx="7178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Coller un DESCRIBE TABLE ou la liste des colonnes en commentaire AVANT la fonction. Precision +++ sur les transformations.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5146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5720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188720" y="2423160"/>
            <a:ext cx="74980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1188720" y="2423160"/>
            <a:ext cx="73152" cy="9601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1417320" y="2514600"/>
            <a:ext cx="7178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Pattern  contrat YAML vers notebook 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17320" y="2862072"/>
            <a:ext cx="7178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 contracts/silver_&lt;table&gt;.yaml decrit les colonnes, types, regles. Demander a Copilot de generer le notebook a partir du contrat + template.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6576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457200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188720" y="3566160"/>
            <a:ext cx="74980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1188720" y="3566160"/>
            <a:ext cx="73152" cy="9601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1417320" y="3657600"/>
            <a:ext cx="7178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Pattern  moteur cible explicite 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17320" y="4005072"/>
            <a:ext cx="7178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Preciser : genere ceci en PySpark DataFrame API, pas en Spark SQL, cible Fabric Lakehouse Runtime 1.3. Evite les confusions T-SQL / Spark.</a:t>
            </a:r>
            <a:endParaRPr lang="en-US" sz="11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943600" y="1828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2  -  Multiplicateur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GitHub Copilot pour Microsoft Fabric  -  Expertime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fichier .github/copilot-instructions.md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 </a:t>
            </a:r>
            <a:r>
              <a:rPr lang="en-US" sz="12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automatiquement</a:t>
            </a: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à chaque interaction Copilot Chat. Le levier </a:t>
            </a:r>
            <a:r>
              <a:rPr lang="en-US" sz="12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numéro</a:t>
            </a: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 pour la </a:t>
            </a:r>
            <a:r>
              <a:rPr lang="en-US" sz="12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</a:t>
            </a: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du code </a:t>
            </a:r>
            <a:r>
              <a:rPr lang="en-US" sz="12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généré</a:t>
            </a: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8229600" cy="3154680"/>
          </a:xfrm>
          <a:prstGeom prst="rect">
            <a:avLst/>
          </a:prstGeom>
          <a:solidFill>
            <a:srgbClr val="0F1E3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731520" y="1691640"/>
            <a:ext cx="7772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Contexte projet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Plateforme : Microsoft Fabric (Lakehouse + Warehouse).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 : medallion Bronze/Silver/Gold sur OneLake (Delta).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Langages : PySpark 3.5, Spark SQL, T-SQL (Warehouse).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Conventions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Notebooks : 1 notebook = 1 table cible. Nommage nb_&lt;layer&gt;_&lt;table&gt;.py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Tables Delta : snake_case, partition par ingestion_date en Bronze.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Secrets : notebookutils.credentials, jamais en clair.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 eviter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Pas de .collect() sur DataFrames non bornes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Pas d'API Synapse legacy (mssparkutils -&gt; notebookutils)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Pas de code Databricks (dbutils, %run) - Fabric ne le supporte pas</a:t>
            </a:r>
            <a:endParaRPr lang="en-US" sz="11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943600" y="1828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3  -  Patterns Fabric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GitHub Copilot pour Microsoft Fabric  -  Expertime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4114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411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280160" y="45720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 d'usage Fabric à forte valeur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39319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457200" y="1280160"/>
            <a:ext cx="73152" cy="9144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685800" y="13716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Génération</a:t>
            </a: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medallion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1691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Bronze/Silver/Gold a partir d'un contrat YAML et d'un template du repo.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1280160"/>
            <a:ext cx="39319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4663440" y="1280160"/>
            <a:ext cx="73152" cy="9144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892040" y="13716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Tests unitaires PySpark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1691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limites (nulls, doublons, types) generes avec pytest + chispa.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359152"/>
            <a:ext cx="39319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457200" y="2359152"/>
            <a:ext cx="73152" cy="9144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685800" y="24505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Migration T-SQL vers Spark SQL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" y="27706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/explain + /fix sur les fonctions non </a:t>
            </a:r>
            <a:r>
              <a:rPr lang="en-US" sz="105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supportées</a:t>
            </a: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(CHARINDEX, STRING_AGG...).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63440" y="2359152"/>
            <a:ext cx="39319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4663440" y="2359152"/>
            <a:ext cx="73152" cy="9144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4892040" y="24505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Pipelines fabric-cicd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92040" y="27706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Azure DevOps / GitHub Actions pour </a:t>
            </a:r>
            <a:r>
              <a:rPr lang="en-US" sz="105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déployer</a:t>
            </a: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workspaces et items.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3438144"/>
            <a:ext cx="39319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457200" y="3438144"/>
            <a:ext cx="73152" cy="9144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685800" y="35295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Scripts d'admin Fabric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85800" y="384962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Provisioning workspaces, lakehouses, </a:t>
            </a:r>
            <a:r>
              <a:rPr lang="en-US" sz="105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capacités</a:t>
            </a: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via Fabric REST API.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663440" y="3438144"/>
            <a:ext cx="39319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4663440" y="3438144"/>
            <a:ext cx="73152" cy="9144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4892040" y="35295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Documentation auto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892040" y="384962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Fiches de tables markdown + schemas JSON à partir des Delta tables.</a:t>
            </a:r>
            <a:endParaRPr lang="en-US" sz="10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943600" y="1828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4  -  Qualite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GitHub Copilot pour Microsoft Fabric  -  Expertime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4114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411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280160" y="45720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Checklist de revue d'un code </a:t>
            </a:r>
            <a:r>
              <a:rPr lang="en-US" sz="2600" b="1" dirty="0" err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généré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265176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457200" y="1280160"/>
            <a:ext cx="2651760" cy="4572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57200" y="12801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Correction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1874520"/>
            <a:ext cx="22860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nulls explicite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de </a:t>
            </a:r>
            <a:r>
              <a:rPr lang="en-US" sz="11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colonnes</a:t>
            </a: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verifiés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.collect() cache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broadcast() </a:t>
            </a:r>
            <a:r>
              <a:rPr lang="en-US" sz="11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documenté</a:t>
            </a: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 table &lt; 50 MB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1280160"/>
            <a:ext cx="265176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3246120" y="1280160"/>
            <a:ext cx="2651760" cy="4572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3246120" y="12801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74720" y="1874520"/>
            <a:ext cx="22860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secret en clair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notebookutils.credentials</a:t>
            </a: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utilisé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chemin OneLake en dur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1280160"/>
            <a:ext cx="265176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6035040" y="1280160"/>
            <a:ext cx="2651760" cy="4572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6035040" y="12801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Gouvernance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63640" y="1874520"/>
            <a:ext cx="22860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relu ligne par ligne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copie de code public </a:t>
            </a:r>
            <a:r>
              <a:rPr lang="en-US" sz="11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détectée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</a:t>
            </a:r>
            <a:r>
              <a:rPr lang="en-US" sz="11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anonymisé</a:t>
            </a: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</a:t>
            </a: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données sensibles</a:t>
            </a:r>
            <a:endParaRPr lang="en-US" sz="11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op Band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77190" y="493776"/>
            <a:ext cx="8366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2250" b="1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Prompting efficace pour Data Engineers</a:t>
            </a:r>
            <a:endParaRPr lang="en-US" sz="22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77190" y="1268730"/>
            <a:ext cx="2695194" cy="1495044"/>
          </a:xfrm>
          <a:prstGeom prst="rect">
            <a:avLst/>
          </a:prstGeom>
          <a:solidFill>
            <a:srgbClr val="F4F6F9"/>
          </a:solidFill>
          <a:ln w="12700">
            <a:solidFill>
              <a:srgbClr val="D7DEE6"/>
            </a:solidFill>
            <a:prstDash val="solid"/>
          </a:ln>
          <a:effectLst>
            <a:outerShdw blurRad="88900" dist="38100" dir="8100000" algn="bl" rotWithShape="0">
              <a:srgbClr val="1A2332">
                <a:alpha val="12000"/>
              </a:srgbClr>
            </a:outerShdw>
          </a:effectLst>
        </p:spPr>
        <p:txBody>
          <a:bodyPr/>
          <a:lstStyle/>
          <a:p>
            <a:pPr defTabSz="685800"/>
            <a:endParaRPr lang="fr-FR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96646" y="1488186"/>
            <a:ext cx="452628" cy="4526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</p:spPr>
        <p:txBody>
          <a:bodyPr/>
          <a:lstStyle/>
          <a:p>
            <a:pPr defTabSz="685800"/>
            <a:endParaRPr lang="fr-FR" sz="135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374" y="1597914"/>
            <a:ext cx="233172" cy="2331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6646" y="1995678"/>
            <a:ext cx="22837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163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Donner le contexte</a:t>
            </a:r>
            <a:endParaRPr lang="en-US" sz="116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5"/>
          <p:cNvSpPr/>
          <p:nvPr/>
        </p:nvSpPr>
        <p:spPr>
          <a:xfrm>
            <a:off x="596646" y="2242566"/>
            <a:ext cx="228371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Schémas, fichiers, conventions. Référencer #file, #selection, @workspace.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6"/>
          <p:cNvSpPr/>
          <p:nvPr/>
        </p:nvSpPr>
        <p:spPr>
          <a:xfrm>
            <a:off x="3223260" y="1268730"/>
            <a:ext cx="2695194" cy="1495044"/>
          </a:xfrm>
          <a:prstGeom prst="rect">
            <a:avLst/>
          </a:prstGeom>
          <a:solidFill>
            <a:srgbClr val="F4F6F9"/>
          </a:solidFill>
          <a:ln w="12700">
            <a:solidFill>
              <a:srgbClr val="D7DEE6"/>
            </a:solidFill>
            <a:prstDash val="solid"/>
          </a:ln>
          <a:effectLst>
            <a:outerShdw blurRad="88900" dist="38100" dir="8100000" algn="bl" rotWithShape="0">
              <a:srgbClr val="1A2332">
                <a:alpha val="12000"/>
              </a:srgbClr>
            </a:outerShdw>
          </a:effectLst>
        </p:spPr>
        <p:txBody>
          <a:bodyPr/>
          <a:lstStyle/>
          <a:p>
            <a:pPr defTabSz="685800"/>
            <a:endParaRPr lang="fr-FR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3442716" y="1488186"/>
            <a:ext cx="452628" cy="4526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</p:spPr>
        <p:txBody>
          <a:bodyPr/>
          <a:lstStyle/>
          <a:p>
            <a:pPr defTabSz="685800"/>
            <a:endParaRPr lang="fr-FR" sz="135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2444" y="1597914"/>
            <a:ext cx="233172" cy="2331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42716" y="1995678"/>
            <a:ext cx="22837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163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Spécifier entrées / sorties</a:t>
            </a:r>
            <a:endParaRPr lang="en-US" sz="116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9"/>
          <p:cNvSpPr/>
          <p:nvPr/>
        </p:nvSpPr>
        <p:spPr>
          <a:xfrm>
            <a:off x="3442716" y="2242566"/>
            <a:ext cx="228371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Types, contraintes, volumétrie, idempotence attendue.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6069330" y="1268730"/>
            <a:ext cx="2695194" cy="1495044"/>
          </a:xfrm>
          <a:prstGeom prst="rect">
            <a:avLst/>
          </a:prstGeom>
          <a:solidFill>
            <a:srgbClr val="F4F6F9"/>
          </a:solidFill>
          <a:ln w="12700">
            <a:solidFill>
              <a:srgbClr val="D7DEE6"/>
            </a:solidFill>
            <a:prstDash val="solid"/>
          </a:ln>
          <a:effectLst>
            <a:outerShdw blurRad="88900" dist="38100" dir="8100000" algn="bl" rotWithShape="0">
              <a:srgbClr val="1A2332">
                <a:alpha val="12000"/>
              </a:srgbClr>
            </a:outerShdw>
          </a:effectLst>
        </p:spPr>
        <p:txBody>
          <a:bodyPr/>
          <a:lstStyle/>
          <a:p>
            <a:pPr defTabSz="685800"/>
            <a:endParaRPr lang="fr-FR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6288786" y="1488186"/>
            <a:ext cx="452628" cy="4526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</p:spPr>
        <p:txBody>
          <a:bodyPr/>
          <a:lstStyle/>
          <a:p>
            <a:pPr defTabSz="685800"/>
            <a:endParaRPr lang="fr-FR" sz="135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8514" y="1597914"/>
            <a:ext cx="233172" cy="2331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88786" y="1995678"/>
            <a:ext cx="22837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163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Itérer petit à petit</a:t>
            </a:r>
            <a:endParaRPr lang="en-US" sz="116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6288786" y="2242566"/>
            <a:ext cx="228371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intention à la fois ; reformuler plutôt qu'accumuler.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377190" y="2914650"/>
            <a:ext cx="2695194" cy="1495044"/>
          </a:xfrm>
          <a:prstGeom prst="rect">
            <a:avLst/>
          </a:prstGeom>
          <a:solidFill>
            <a:srgbClr val="F4F6F9"/>
          </a:solidFill>
          <a:ln w="12700">
            <a:solidFill>
              <a:srgbClr val="D7DEE6"/>
            </a:solidFill>
            <a:prstDash val="solid"/>
          </a:ln>
          <a:effectLst>
            <a:outerShdw blurRad="88900" dist="38100" dir="8100000" algn="bl" rotWithShape="0">
              <a:srgbClr val="1A2332">
                <a:alpha val="12000"/>
              </a:srgbClr>
            </a:outerShdw>
          </a:effectLst>
        </p:spPr>
        <p:txBody>
          <a:bodyPr/>
          <a:lstStyle/>
          <a:p>
            <a:pPr defTabSz="685800"/>
            <a:endParaRPr lang="fr-FR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5"/>
          <p:cNvSpPr/>
          <p:nvPr/>
        </p:nvSpPr>
        <p:spPr>
          <a:xfrm>
            <a:off x="596646" y="3134106"/>
            <a:ext cx="452628" cy="4526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</p:spPr>
        <p:txBody>
          <a:bodyPr/>
          <a:lstStyle/>
          <a:p>
            <a:pPr defTabSz="685800"/>
            <a:endParaRPr lang="fr-FR" sz="135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6374" y="3243834"/>
            <a:ext cx="233172" cy="2331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96646" y="3641598"/>
            <a:ext cx="22837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163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Demander les tests</a:t>
            </a:r>
            <a:endParaRPr lang="en-US" sz="116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596646" y="3888486"/>
            <a:ext cx="228371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Systématiquement /tests, avec cas nominaux et cas limites.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Shape 18"/>
          <p:cNvSpPr/>
          <p:nvPr/>
        </p:nvSpPr>
        <p:spPr>
          <a:xfrm>
            <a:off x="3223260" y="2914650"/>
            <a:ext cx="2695194" cy="1495044"/>
          </a:xfrm>
          <a:prstGeom prst="rect">
            <a:avLst/>
          </a:prstGeom>
          <a:solidFill>
            <a:srgbClr val="F4F6F9"/>
          </a:solidFill>
          <a:ln w="12700">
            <a:solidFill>
              <a:srgbClr val="D7DEE6"/>
            </a:solidFill>
            <a:prstDash val="solid"/>
          </a:ln>
          <a:effectLst>
            <a:outerShdw blurRad="88900" dist="38100" dir="8100000" algn="bl" rotWithShape="0">
              <a:srgbClr val="1A2332">
                <a:alpha val="12000"/>
              </a:srgbClr>
            </a:outerShdw>
          </a:effectLst>
        </p:spPr>
        <p:txBody>
          <a:bodyPr/>
          <a:lstStyle/>
          <a:p>
            <a:pPr defTabSz="685800"/>
            <a:endParaRPr lang="fr-FR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Shape 19"/>
          <p:cNvSpPr/>
          <p:nvPr/>
        </p:nvSpPr>
        <p:spPr>
          <a:xfrm>
            <a:off x="3442716" y="3134106"/>
            <a:ext cx="452628" cy="4526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</p:spPr>
        <p:txBody>
          <a:bodyPr/>
          <a:lstStyle/>
          <a:p>
            <a:pPr defTabSz="685800"/>
            <a:endParaRPr lang="fr-FR" sz="135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52444" y="3243834"/>
            <a:ext cx="233172" cy="23317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442716" y="3641598"/>
            <a:ext cx="22837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163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Faire justifier le code</a:t>
            </a:r>
            <a:endParaRPr lang="en-US" sz="116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1"/>
          <p:cNvSpPr/>
          <p:nvPr/>
        </p:nvSpPr>
        <p:spPr>
          <a:xfrm>
            <a:off x="3442716" y="3888486"/>
            <a:ext cx="228371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Explique pourquoi cette approche » avant de valider.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Shape 22"/>
          <p:cNvSpPr/>
          <p:nvPr/>
        </p:nvSpPr>
        <p:spPr>
          <a:xfrm>
            <a:off x="6069330" y="2914650"/>
            <a:ext cx="2695194" cy="1495044"/>
          </a:xfrm>
          <a:prstGeom prst="rect">
            <a:avLst/>
          </a:prstGeom>
          <a:solidFill>
            <a:srgbClr val="F4F6F9"/>
          </a:solidFill>
          <a:ln w="12700">
            <a:solidFill>
              <a:srgbClr val="D7DEE6"/>
            </a:solidFill>
            <a:prstDash val="solid"/>
          </a:ln>
          <a:effectLst>
            <a:outerShdw blurRad="88900" dist="38100" dir="8100000" algn="bl" rotWithShape="0">
              <a:srgbClr val="1A2332">
                <a:alpha val="12000"/>
              </a:srgbClr>
            </a:outerShdw>
          </a:effectLst>
        </p:spPr>
        <p:txBody>
          <a:bodyPr/>
          <a:lstStyle/>
          <a:p>
            <a:pPr defTabSz="685800"/>
            <a:endParaRPr lang="fr-FR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Shape 23"/>
          <p:cNvSpPr/>
          <p:nvPr/>
        </p:nvSpPr>
        <p:spPr>
          <a:xfrm>
            <a:off x="6288786" y="3134106"/>
            <a:ext cx="452628" cy="4526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</p:spPr>
        <p:txBody>
          <a:bodyPr/>
          <a:lstStyle/>
          <a:p>
            <a:pPr defTabSz="685800"/>
            <a:endParaRPr lang="fr-FR" sz="135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98514" y="3243834"/>
            <a:ext cx="233172" cy="23317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288786" y="3641598"/>
            <a:ext cx="22837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163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Capitaliser</a:t>
            </a:r>
            <a:endParaRPr lang="en-US" sz="116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25"/>
          <p:cNvSpPr/>
          <p:nvPr/>
        </p:nvSpPr>
        <p:spPr>
          <a:xfrm>
            <a:off x="6288786" y="3888486"/>
            <a:ext cx="228371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Gabarits de prompts et copilot-instructions.md partagés.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Text 26"/>
          <p:cNvSpPr/>
          <p:nvPr/>
        </p:nvSpPr>
        <p:spPr>
          <a:xfrm>
            <a:off x="377190" y="4855464"/>
            <a:ext cx="5486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75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GitHub Copilot pour Microsoft Fabric  -  Expertime</a:t>
            </a:r>
            <a:endParaRPr lang="en-US" sz="67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Text 27"/>
          <p:cNvSpPr/>
          <p:nvPr/>
        </p:nvSpPr>
        <p:spPr>
          <a:xfrm>
            <a:off x="8457971" y="4855464"/>
            <a:ext cx="3429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685800"/>
            <a:r>
              <a:rPr lang="en-US" sz="675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675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72241666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943600" y="1828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Pieges a eviter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GitHub Copilot pour Microsoft Fabric  -  Expertime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Pièges</a:t>
            </a: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600" b="1" dirty="0" err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spécifiques</a:t>
            </a: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à Fabric que Copilot ignore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</a:t>
            </a:r>
            <a:r>
              <a:rPr lang="en-US" sz="12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</a:t>
            </a: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12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été</a:t>
            </a: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massivement entraine sur Databricks et Synapse Analytics. A </a:t>
            </a:r>
            <a:r>
              <a:rPr lang="en-US" sz="12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l’équipe</a:t>
            </a: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cadrer les </a:t>
            </a:r>
            <a:r>
              <a:rPr lang="en-US" sz="12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spécificités</a:t>
            </a: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Fabric.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8229600" cy="41148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640080" y="15544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Suggestion Copilot (à corriger)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0" y="15544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Bonne pratique Fabric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965960"/>
            <a:ext cx="8229600" cy="5303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640080" y="1965960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dbutils.fs / dbutils.secrets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754880" y="1965960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notebookutils.fs / notebookutils.credentials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0080" y="2496312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%run "./other_notebook"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754880" y="2496312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notebookutils.notebook.run('other_notebook')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026664"/>
            <a:ext cx="8229600" cy="5303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640080" y="3026664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spark.read.format('delta').load('/mnt/...')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54880" y="3026664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Chemin abfss:// ou nom de table Lakehouse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0080" y="3557016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mssparkutils (Synapse legacy)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54880" y="3557016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notebookutils (Fabric)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4087368"/>
            <a:ext cx="8229600" cy="5303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640080" y="4087368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T-SQL types Synapse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754880" y="4087368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Spark SQL ou T-SQL Fabric Warehouse</a:t>
            </a:r>
            <a:endParaRPr lang="en-US" sz="10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377190" y="493776"/>
            <a:ext cx="788670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875" b="1" dirty="0">
                <a:solidFill>
                  <a:srgbClr val="1B25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Industrialisation Git — GitHub ou Azure DevOps</a:t>
            </a:r>
            <a:endParaRPr lang="en-US" sz="187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77190" y="1028700"/>
            <a:ext cx="8387334" cy="425196"/>
          </a:xfrm>
          <a:prstGeom prst="rect">
            <a:avLst/>
          </a:prstGeom>
          <a:solidFill>
            <a:srgbClr val="F4F6F9"/>
          </a:solidFill>
          <a:ln w="12700">
            <a:solidFill>
              <a:srgbClr val="D7DEE6"/>
            </a:solidFill>
            <a:prstDash val="solid"/>
          </a:ln>
        </p:spPr>
        <p:txBody>
          <a:bodyPr/>
          <a:lstStyle/>
          <a:p>
            <a:pPr defTabSz="685800"/>
            <a:endParaRPr lang="fr-FR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77190" y="1028700"/>
            <a:ext cx="61722" cy="425196"/>
          </a:xfrm>
          <a:prstGeom prst="rect">
            <a:avLst/>
          </a:prstGeom>
          <a:solidFill>
            <a:srgbClr val="2EA043"/>
          </a:solidFill>
          <a:ln/>
        </p:spPr>
        <p:txBody>
          <a:bodyPr/>
          <a:lstStyle/>
          <a:p>
            <a:pPr defTabSz="685800"/>
            <a:endParaRPr lang="fr-FR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582930" y="1028700"/>
            <a:ext cx="809244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013" b="1" dirty="0">
                <a:solidFill>
                  <a:srgbClr val="2E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  </a:t>
            </a:r>
            <a:r>
              <a:rPr lang="en-US" sz="1013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Faire passer le code généré dans un flux Git complet : branche, pull request et CI. Choisir la piste selon l'outillage de l'équipe.</a:t>
            </a:r>
            <a:endParaRPr lang="en-US" sz="101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77190" y="1611630"/>
            <a:ext cx="4080510" cy="2503170"/>
          </a:xfrm>
          <a:prstGeom prst="rect">
            <a:avLst/>
          </a:prstGeom>
          <a:solidFill>
            <a:srgbClr val="F4F6F9"/>
          </a:solidFill>
          <a:ln w="12700">
            <a:solidFill>
              <a:srgbClr val="D7DEE6"/>
            </a:solidFill>
            <a:prstDash val="solid"/>
          </a:ln>
          <a:effectLst>
            <a:outerShdw blurRad="88900" dist="38100" dir="8100000" algn="bl" rotWithShape="0">
              <a:srgbClr val="1B2530">
                <a:alpha val="12000"/>
              </a:srgbClr>
            </a:outerShdw>
          </a:effectLst>
        </p:spPr>
        <p:txBody>
          <a:bodyPr/>
          <a:lstStyle/>
          <a:p>
            <a:pPr defTabSz="685800"/>
            <a:endParaRPr lang="fr-FR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77190" y="1611630"/>
            <a:ext cx="4080510" cy="480060"/>
          </a:xfrm>
          <a:prstGeom prst="rect">
            <a:avLst/>
          </a:prstGeom>
          <a:solidFill>
            <a:srgbClr val="1B2530"/>
          </a:solidFill>
          <a:ln/>
        </p:spPr>
        <p:txBody>
          <a:bodyPr/>
          <a:lstStyle/>
          <a:p>
            <a:pPr defTabSz="685800"/>
            <a:endParaRPr lang="fr-FR" sz="135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646" y="1714500"/>
            <a:ext cx="274320" cy="274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994410" y="1611630"/>
            <a:ext cx="33604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275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Piste GitHub</a:t>
            </a:r>
            <a:endParaRPr lang="en-US" sz="127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37794" y="2228850"/>
            <a:ext cx="360045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 defTabSz="685800">
              <a:spcAft>
                <a:spcPts val="675"/>
              </a:spcAft>
              <a:buSzPct val="100000"/>
              <a:buFontTx/>
              <a:buChar char="•"/>
            </a:pPr>
            <a:r>
              <a:rPr lang="en-US" sz="1013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 + commit avec messages générés par Copilot, puis pull request</a:t>
            </a:r>
            <a:endParaRPr lang="en-US" sz="1013" dirty="0">
              <a:solidFill>
                <a:prstClr val="black"/>
              </a:solidFill>
              <a:latin typeface="Calibri" panose="020F0502020204030204"/>
            </a:endParaRPr>
          </a:p>
          <a:p>
            <a:pPr marL="257175" indent="-257175" defTabSz="685800">
              <a:spcAft>
                <a:spcPts val="675"/>
              </a:spcAft>
              <a:buSzPct val="100000"/>
              <a:buFontTx/>
              <a:buChar char="•"/>
            </a:pPr>
            <a:r>
              <a:rPr lang="en-US" sz="1013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Revue assistée : description de PR, @copilot, checklist de revue</a:t>
            </a:r>
            <a:endParaRPr lang="en-US" sz="1013" dirty="0">
              <a:solidFill>
                <a:prstClr val="black"/>
              </a:solidFill>
              <a:latin typeface="Calibri" panose="020F0502020204030204"/>
            </a:endParaRPr>
          </a:p>
          <a:p>
            <a:pPr marL="257175" indent="-257175" defTabSz="685800">
              <a:spcAft>
                <a:spcPts val="675"/>
              </a:spcAft>
              <a:buSzPct val="100000"/>
              <a:buFontTx/>
              <a:buChar char="•"/>
            </a:pPr>
            <a:r>
              <a:rPr lang="en-US" sz="1013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GitHub Actions (lint + pytest) co-écrit avec Copilot</a:t>
            </a:r>
            <a:endParaRPr lang="en-US" sz="101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4684014" y="1611630"/>
            <a:ext cx="4080510" cy="2503170"/>
          </a:xfrm>
          <a:prstGeom prst="rect">
            <a:avLst/>
          </a:prstGeom>
          <a:solidFill>
            <a:srgbClr val="F4F6F9"/>
          </a:solidFill>
          <a:ln w="12700">
            <a:solidFill>
              <a:srgbClr val="D7DEE6"/>
            </a:solidFill>
            <a:prstDash val="solid"/>
          </a:ln>
          <a:effectLst>
            <a:outerShdw blurRad="88900" dist="38100" dir="8100000" algn="bl" rotWithShape="0">
              <a:srgbClr val="1B2530">
                <a:alpha val="12000"/>
              </a:srgbClr>
            </a:outerShdw>
          </a:effectLst>
        </p:spPr>
        <p:txBody>
          <a:bodyPr/>
          <a:lstStyle/>
          <a:p>
            <a:pPr defTabSz="685800"/>
            <a:endParaRPr lang="fr-FR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4684014" y="1611630"/>
            <a:ext cx="4080510" cy="480060"/>
          </a:xfrm>
          <a:prstGeom prst="rect">
            <a:avLst/>
          </a:prstGeom>
          <a:solidFill>
            <a:srgbClr val="1F6FEB"/>
          </a:solidFill>
          <a:ln/>
        </p:spPr>
        <p:txBody>
          <a:bodyPr/>
          <a:lstStyle/>
          <a:p>
            <a:pPr defTabSz="685800"/>
            <a:endParaRPr lang="fr-FR" sz="135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3470" y="1714500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301234" y="1611630"/>
            <a:ext cx="33604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275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Piste Azure DevOps</a:t>
            </a:r>
            <a:endParaRPr lang="en-US" sz="127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4944618" y="2228850"/>
            <a:ext cx="360045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 defTabSz="685800">
              <a:spcAft>
                <a:spcPts val="675"/>
              </a:spcAft>
              <a:buSzPct val="100000"/>
              <a:buFontTx/>
              <a:buChar char="•"/>
            </a:pPr>
            <a:r>
              <a:rPr lang="en-US" sz="1013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 + Pull Request reliée à un Work Item</a:t>
            </a:r>
            <a:endParaRPr lang="en-US" sz="1013" dirty="0">
              <a:solidFill>
                <a:prstClr val="black"/>
              </a:solidFill>
              <a:latin typeface="Calibri" panose="020F0502020204030204"/>
            </a:endParaRPr>
          </a:p>
          <a:p>
            <a:pPr marL="257175" indent="-257175" defTabSz="685800">
              <a:spcAft>
                <a:spcPts val="675"/>
              </a:spcAft>
              <a:buSzPct val="100000"/>
              <a:buFontTx/>
              <a:buChar char="•"/>
            </a:pPr>
            <a:r>
              <a:rPr lang="en-US" sz="1013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du contenu de PR et des critères d'acceptation</a:t>
            </a:r>
            <a:endParaRPr lang="en-US" sz="1013" dirty="0">
              <a:solidFill>
                <a:prstClr val="black"/>
              </a:solidFill>
              <a:latin typeface="Calibri" panose="020F0502020204030204"/>
            </a:endParaRPr>
          </a:p>
          <a:p>
            <a:pPr marL="257175" indent="-257175" defTabSz="685800">
              <a:spcAft>
                <a:spcPts val="675"/>
              </a:spcAft>
              <a:buSzPct val="100000"/>
              <a:buFontTx/>
              <a:buChar char="•"/>
            </a:pPr>
            <a:r>
              <a:rPr lang="en-US" sz="1013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YAML Azure Pipelines (lint + tests) assisté par Copilot</a:t>
            </a:r>
            <a:endParaRPr lang="en-US" sz="101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5"/>
          <p:cNvSpPr/>
          <p:nvPr/>
        </p:nvSpPr>
        <p:spPr>
          <a:xfrm>
            <a:off x="377190" y="4251960"/>
            <a:ext cx="8387334" cy="342900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pPr defTabSz="685800"/>
            <a:endParaRPr lang="fr-FR" sz="135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327398"/>
            <a:ext cx="192024" cy="19202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22960" y="4251960"/>
            <a:ext cx="78181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013" b="1" dirty="0">
                <a:solidFill>
                  <a:srgbClr val="2E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   </a:t>
            </a:r>
            <a:r>
              <a:rPr lang="en-US" sz="1013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pull request avec intégration continue verte (lint + tests).</a:t>
            </a:r>
            <a:endParaRPr lang="en-US" sz="101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17"/>
          <p:cNvSpPr/>
          <p:nvPr/>
        </p:nvSpPr>
        <p:spPr>
          <a:xfrm>
            <a:off x="377190" y="4855464"/>
            <a:ext cx="5486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75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pour Data Engineers · Expertime</a:t>
            </a:r>
            <a:endParaRPr lang="en-US" sz="67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18"/>
          <p:cNvSpPr/>
          <p:nvPr/>
        </p:nvSpPr>
        <p:spPr>
          <a:xfrm>
            <a:off x="8457971" y="4855464"/>
            <a:ext cx="3429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685800"/>
            <a:r>
              <a:rPr lang="en-US" sz="675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675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RETENIR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</a:t>
            </a:r>
            <a:r>
              <a:rPr lang="en-US" sz="36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idées-clés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" y="21945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2212848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n'est pas magique : le contexte (instructions, exemples, schema) fait 80% de la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9718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73152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63040" y="2990088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Fabric, le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penche vers Databricks et Synapse.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à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l’équipe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cadrer.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37490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731520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63040" y="3767328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champion, sans rituel et sans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métrique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la formation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s’évapore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3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semaines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jours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op Band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77190" y="493776"/>
            <a:ext cx="8366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2250" b="1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Sécurité &amp; gouvernance</a:t>
            </a:r>
            <a:endParaRPr lang="en-US" sz="22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77190" y="1268730"/>
            <a:ext cx="2695194" cy="1495044"/>
          </a:xfrm>
          <a:prstGeom prst="rect">
            <a:avLst/>
          </a:prstGeom>
          <a:solidFill>
            <a:srgbClr val="F4F6F9"/>
          </a:solidFill>
          <a:ln w="12700">
            <a:solidFill>
              <a:srgbClr val="D7DEE6"/>
            </a:solidFill>
            <a:prstDash val="solid"/>
          </a:ln>
          <a:effectLst>
            <a:outerShdw blurRad="88900" dist="38100" dir="8100000" algn="bl" rotWithShape="0">
              <a:srgbClr val="1A2332">
                <a:alpha val="12000"/>
              </a:srgbClr>
            </a:outerShdw>
          </a:effectLst>
        </p:spPr>
        <p:txBody>
          <a:bodyPr/>
          <a:lstStyle/>
          <a:p>
            <a:pPr defTabSz="685800"/>
            <a:endParaRPr lang="fr-FR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96646" y="1488186"/>
            <a:ext cx="452628" cy="4526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</p:spPr>
        <p:txBody>
          <a:bodyPr/>
          <a:lstStyle/>
          <a:p>
            <a:pPr defTabSz="685800"/>
            <a:endParaRPr lang="fr-FR" sz="135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374" y="1597914"/>
            <a:ext cx="233172" cy="2331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6646" y="1995678"/>
            <a:ext cx="22837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125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secret exposé</a:t>
            </a:r>
            <a:endParaRPr lang="en-US" sz="112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5"/>
          <p:cNvSpPr/>
          <p:nvPr/>
        </p:nvSpPr>
        <p:spPr>
          <a:xfrm>
            <a:off x="596646" y="2242566"/>
            <a:ext cx="228371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d'environnement ou Key Vault — jamais dans le code ni dans les prompts.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6"/>
          <p:cNvSpPr/>
          <p:nvPr/>
        </p:nvSpPr>
        <p:spPr>
          <a:xfrm>
            <a:off x="3223260" y="1268730"/>
            <a:ext cx="2695194" cy="1495044"/>
          </a:xfrm>
          <a:prstGeom prst="rect">
            <a:avLst/>
          </a:prstGeom>
          <a:solidFill>
            <a:srgbClr val="F4F6F9"/>
          </a:solidFill>
          <a:ln w="12700">
            <a:solidFill>
              <a:srgbClr val="D7DEE6"/>
            </a:solidFill>
            <a:prstDash val="solid"/>
          </a:ln>
          <a:effectLst>
            <a:outerShdw blurRad="88900" dist="38100" dir="8100000" algn="bl" rotWithShape="0">
              <a:srgbClr val="1A2332">
                <a:alpha val="12000"/>
              </a:srgbClr>
            </a:outerShdw>
          </a:effectLst>
        </p:spPr>
        <p:txBody>
          <a:bodyPr/>
          <a:lstStyle/>
          <a:p>
            <a:pPr defTabSz="685800"/>
            <a:endParaRPr lang="fr-FR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3442716" y="1488186"/>
            <a:ext cx="452628" cy="4526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</p:spPr>
        <p:txBody>
          <a:bodyPr/>
          <a:lstStyle/>
          <a:p>
            <a:pPr defTabSz="685800"/>
            <a:endParaRPr lang="fr-FR" sz="135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2444" y="1597914"/>
            <a:ext cx="233172" cy="2331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42716" y="1995678"/>
            <a:ext cx="22837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125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Maîtriser les données sensibles</a:t>
            </a:r>
            <a:endParaRPr lang="en-US" sz="112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9"/>
          <p:cNvSpPr/>
          <p:nvPr/>
        </p:nvSpPr>
        <p:spPr>
          <a:xfrm>
            <a:off x="3442716" y="2242566"/>
            <a:ext cx="228371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Anonymisation et périmètre clair avant tout partage avec l'assistant.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6069330" y="1268730"/>
            <a:ext cx="2695194" cy="1495044"/>
          </a:xfrm>
          <a:prstGeom prst="rect">
            <a:avLst/>
          </a:prstGeom>
          <a:solidFill>
            <a:srgbClr val="F4F6F9"/>
          </a:solidFill>
          <a:ln w="12700">
            <a:solidFill>
              <a:srgbClr val="D7DEE6"/>
            </a:solidFill>
            <a:prstDash val="solid"/>
          </a:ln>
          <a:effectLst>
            <a:outerShdw blurRad="88900" dist="38100" dir="8100000" algn="bl" rotWithShape="0">
              <a:srgbClr val="1A2332">
                <a:alpha val="12000"/>
              </a:srgbClr>
            </a:outerShdw>
          </a:effectLst>
        </p:spPr>
        <p:txBody>
          <a:bodyPr/>
          <a:lstStyle/>
          <a:p>
            <a:pPr defTabSz="685800"/>
            <a:endParaRPr lang="fr-FR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6288786" y="1488186"/>
            <a:ext cx="452628" cy="4526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</p:spPr>
        <p:txBody>
          <a:bodyPr/>
          <a:lstStyle/>
          <a:p>
            <a:pPr defTabSz="685800"/>
            <a:endParaRPr lang="fr-FR" sz="135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8514" y="1597914"/>
            <a:ext cx="233172" cy="2331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88786" y="1995678"/>
            <a:ext cx="22837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125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Revoir les dépendances</a:t>
            </a:r>
            <a:endParaRPr lang="en-US" sz="112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6288786" y="2242566"/>
            <a:ext cx="228371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chaque librairie suggérée : version, maintenance, licence.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377190" y="2914650"/>
            <a:ext cx="2695194" cy="1495044"/>
          </a:xfrm>
          <a:prstGeom prst="rect">
            <a:avLst/>
          </a:prstGeom>
          <a:solidFill>
            <a:srgbClr val="F4F6F9"/>
          </a:solidFill>
          <a:ln w="12700">
            <a:solidFill>
              <a:srgbClr val="D7DEE6"/>
            </a:solidFill>
            <a:prstDash val="solid"/>
          </a:ln>
          <a:effectLst>
            <a:outerShdw blurRad="88900" dist="38100" dir="8100000" algn="bl" rotWithShape="0">
              <a:srgbClr val="1A2332">
                <a:alpha val="12000"/>
              </a:srgbClr>
            </a:outerShdw>
          </a:effectLst>
        </p:spPr>
        <p:txBody>
          <a:bodyPr/>
          <a:lstStyle/>
          <a:p>
            <a:pPr defTabSz="685800"/>
            <a:endParaRPr lang="fr-FR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5"/>
          <p:cNvSpPr/>
          <p:nvPr/>
        </p:nvSpPr>
        <p:spPr>
          <a:xfrm>
            <a:off x="596646" y="3134106"/>
            <a:ext cx="452628" cy="4526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</p:spPr>
        <p:txBody>
          <a:bodyPr/>
          <a:lstStyle/>
          <a:p>
            <a:pPr defTabSz="685800"/>
            <a:endParaRPr lang="fr-FR" sz="135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6374" y="3243834"/>
            <a:ext cx="233172" cy="2331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96646" y="3641598"/>
            <a:ext cx="22837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125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exclusions &amp; politiques</a:t>
            </a:r>
            <a:endParaRPr lang="en-US" sz="112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596646" y="3888486"/>
            <a:ext cx="228371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 exclus du contexte, politiques d'entreprise Copilot appliquées.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Shape 18"/>
          <p:cNvSpPr/>
          <p:nvPr/>
        </p:nvSpPr>
        <p:spPr>
          <a:xfrm>
            <a:off x="3223260" y="2914650"/>
            <a:ext cx="2695194" cy="1495044"/>
          </a:xfrm>
          <a:prstGeom prst="rect">
            <a:avLst/>
          </a:prstGeom>
          <a:solidFill>
            <a:srgbClr val="F4F6F9"/>
          </a:solidFill>
          <a:ln w="12700">
            <a:solidFill>
              <a:srgbClr val="D7DEE6"/>
            </a:solidFill>
            <a:prstDash val="solid"/>
          </a:ln>
          <a:effectLst>
            <a:outerShdw blurRad="88900" dist="38100" dir="8100000" algn="bl" rotWithShape="0">
              <a:srgbClr val="1A2332">
                <a:alpha val="12000"/>
              </a:srgbClr>
            </a:outerShdw>
          </a:effectLst>
        </p:spPr>
        <p:txBody>
          <a:bodyPr/>
          <a:lstStyle/>
          <a:p>
            <a:pPr defTabSz="685800"/>
            <a:endParaRPr lang="fr-FR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Shape 19"/>
          <p:cNvSpPr/>
          <p:nvPr/>
        </p:nvSpPr>
        <p:spPr>
          <a:xfrm>
            <a:off x="3442716" y="3134106"/>
            <a:ext cx="452628" cy="4526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</p:spPr>
        <p:txBody>
          <a:bodyPr/>
          <a:lstStyle/>
          <a:p>
            <a:pPr defTabSz="685800"/>
            <a:endParaRPr lang="fr-FR" sz="135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52444" y="3243834"/>
            <a:ext cx="233172" cy="23317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442716" y="3641598"/>
            <a:ext cx="22837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125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Traçabilité en pull request</a:t>
            </a:r>
            <a:endParaRPr lang="en-US" sz="112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1"/>
          <p:cNvSpPr/>
          <p:nvPr/>
        </p:nvSpPr>
        <p:spPr>
          <a:xfrm>
            <a:off x="3442716" y="3888486"/>
            <a:ext cx="228371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code généré passe en PR : revue humaine et historique conservés.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Shape 22"/>
          <p:cNvSpPr/>
          <p:nvPr/>
        </p:nvSpPr>
        <p:spPr>
          <a:xfrm>
            <a:off x="6069330" y="2914650"/>
            <a:ext cx="2695194" cy="1495044"/>
          </a:xfrm>
          <a:prstGeom prst="rect">
            <a:avLst/>
          </a:prstGeom>
          <a:solidFill>
            <a:srgbClr val="F4F6F9"/>
          </a:solidFill>
          <a:ln w="12700">
            <a:solidFill>
              <a:srgbClr val="D7DEE6"/>
            </a:solidFill>
            <a:prstDash val="solid"/>
          </a:ln>
          <a:effectLst>
            <a:outerShdw blurRad="88900" dist="38100" dir="8100000" algn="bl" rotWithShape="0">
              <a:srgbClr val="1A2332">
                <a:alpha val="12000"/>
              </a:srgbClr>
            </a:outerShdw>
          </a:effectLst>
        </p:spPr>
        <p:txBody>
          <a:bodyPr/>
          <a:lstStyle/>
          <a:p>
            <a:pPr defTabSz="685800"/>
            <a:endParaRPr lang="fr-FR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Shape 23"/>
          <p:cNvSpPr/>
          <p:nvPr/>
        </p:nvSpPr>
        <p:spPr>
          <a:xfrm>
            <a:off x="6288786" y="3134106"/>
            <a:ext cx="452628" cy="4526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</p:spPr>
        <p:txBody>
          <a:bodyPr/>
          <a:lstStyle/>
          <a:p>
            <a:pPr defTabSz="685800"/>
            <a:endParaRPr lang="fr-FR" sz="135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98514" y="3243834"/>
            <a:ext cx="233172" cy="23317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288786" y="3641598"/>
            <a:ext cx="22837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125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 &amp; responsabilité</a:t>
            </a:r>
            <a:endParaRPr lang="en-US" sz="112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25"/>
          <p:cNvSpPr/>
          <p:nvPr/>
        </p:nvSpPr>
        <p:spPr>
          <a:xfrm>
            <a:off x="6288786" y="3888486"/>
            <a:ext cx="228371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L'auteur reste responsable du code mergé — Copilot assiste, ne décide pas.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Text 26"/>
          <p:cNvSpPr/>
          <p:nvPr/>
        </p:nvSpPr>
        <p:spPr>
          <a:xfrm>
            <a:off x="377190" y="4855464"/>
            <a:ext cx="5486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75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GitHub Copilot pour Microsoft Fabric  -  Expertime</a:t>
            </a:r>
            <a:endParaRPr lang="en-US" sz="67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Text 27"/>
          <p:cNvSpPr/>
          <p:nvPr/>
        </p:nvSpPr>
        <p:spPr>
          <a:xfrm>
            <a:off x="8457971" y="4855464"/>
            <a:ext cx="3429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685800"/>
            <a:r>
              <a:rPr lang="en-US" sz="675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675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" y="0"/>
            <a:ext cx="9144000" cy="10972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08610" y="185000"/>
            <a:ext cx="13716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00" b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D’ENSEMBLE</a:t>
            </a:r>
            <a:endParaRPr lang="en-US" sz="6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1371600" y="150000"/>
            <a:ext cx="7406640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300" b="1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4 étapes </a:t>
            </a:r>
            <a:r>
              <a:rPr lang="en-US" sz="1300" b="1" err="1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clés</a:t>
            </a:r>
            <a:r>
              <a:rPr lang="en-US" sz="1300" b="1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et leur logique d’enchaînement</a:t>
            </a:r>
            <a:endParaRPr lang="en-US" sz="13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14350" y="1062990"/>
            <a:ext cx="1817370" cy="236601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1076706" y="1289304"/>
            <a:ext cx="685800" cy="6858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1076706" y="142646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1500" b="1">
                <a:solidFill>
                  <a:srgbClr val="FFFFFF"/>
                </a:solidFill>
                <a:latin typeface="Calibri"/>
              </a:rPr>
              <a:t>1</a:t>
            </a:r>
            <a:endParaRPr lang="en-US" sz="15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Text 6"/>
          <p:cNvSpPr/>
          <p:nvPr/>
        </p:nvSpPr>
        <p:spPr>
          <a:xfrm>
            <a:off x="685800" y="2139696"/>
            <a:ext cx="147447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defTabSz="685800"/>
            <a:r>
              <a:rPr lang="en-US" sz="1125" b="1">
                <a:solidFill>
                  <a:srgbClr val="065A82"/>
                </a:solidFill>
                <a:latin typeface="Calibri"/>
              </a:rPr>
              <a:t>Dev en VS Code</a:t>
            </a:r>
            <a:endParaRPr lang="en-US" sz="1125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Text 7"/>
          <p:cNvSpPr/>
          <p:nvPr/>
        </p:nvSpPr>
        <p:spPr>
          <a:xfrm>
            <a:off x="685800" y="2551176"/>
            <a:ext cx="1474470" cy="53492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 defTabSz="685800"/>
            <a:r>
              <a:rPr lang="en-US" sz="788">
                <a:solidFill>
                  <a:srgbClr val="1A2332"/>
                </a:solidFill>
                <a:latin typeface="Calibri"/>
              </a:rPr>
              <a:t>Développer localement ou à distance, publier vers Fabric</a:t>
            </a:r>
            <a:endParaRPr lang="en-US" sz="788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283714" y="2023110"/>
            <a:ext cx="288036" cy="377190"/>
          </a:xfrm>
          <a:prstGeom prst="chevron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2606040" y="1062990"/>
            <a:ext cx="1817370" cy="236601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3168396" y="1289304"/>
            <a:ext cx="685800" cy="6858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3168396" y="142646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1500" b="1">
                <a:solidFill>
                  <a:srgbClr val="FFFFFF"/>
                </a:solidFill>
                <a:latin typeface="Calibri"/>
              </a:rPr>
              <a:t>2</a:t>
            </a:r>
            <a:endParaRPr lang="en-US" sz="15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777490" y="2139696"/>
            <a:ext cx="147447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defTabSz="685800"/>
            <a:r>
              <a:rPr lang="en-US" sz="1125" b="1">
                <a:solidFill>
                  <a:srgbClr val="065A82"/>
                </a:solidFill>
                <a:latin typeface="Calibri"/>
              </a:rPr>
              <a:t>Git Fabric</a:t>
            </a:r>
            <a:endParaRPr lang="en-US" sz="1125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777490" y="2551176"/>
            <a:ext cx="1474470" cy="53492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 defTabSz="685800"/>
            <a:r>
              <a:rPr lang="en-US" sz="788">
                <a:solidFill>
                  <a:srgbClr val="1A2332"/>
                </a:solidFill>
                <a:latin typeface="Calibri"/>
              </a:rPr>
              <a:t>Versionner les items, organiser branches et PR</a:t>
            </a:r>
            <a:endParaRPr lang="en-US" sz="788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375404" y="2023110"/>
            <a:ext cx="288036" cy="377190"/>
          </a:xfrm>
          <a:prstGeom prst="chevron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4697730" y="1062990"/>
            <a:ext cx="1817370" cy="236601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5260086" y="1289304"/>
            <a:ext cx="685800" cy="6858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5260086" y="142646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1500" b="1">
                <a:solidFill>
                  <a:srgbClr val="FFFFFF"/>
                </a:solidFill>
                <a:latin typeface="Calibri"/>
              </a:rPr>
              <a:t>3</a:t>
            </a:r>
            <a:endParaRPr lang="en-US" sz="15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869180" y="2139696"/>
            <a:ext cx="147447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defTabSz="685800"/>
            <a:r>
              <a:rPr lang="en-US" sz="1125" b="1">
                <a:solidFill>
                  <a:srgbClr val="065A82"/>
                </a:solidFill>
                <a:latin typeface="Calibri"/>
              </a:rPr>
              <a:t>Notebooks propres</a:t>
            </a:r>
            <a:endParaRPr lang="en-US" sz="1125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869180" y="2551176"/>
            <a:ext cx="1474470" cy="53492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 defTabSz="685800"/>
            <a:r>
              <a:rPr lang="en-US" sz="788">
                <a:solidFill>
                  <a:srgbClr val="1A2332"/>
                </a:solidFill>
                <a:latin typeface="Calibri"/>
              </a:rPr>
              <a:t>Réduire les diffs, éviter secrets et chemins en dur</a:t>
            </a:r>
            <a:endParaRPr lang="en-US" sz="788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467094" y="2023110"/>
            <a:ext cx="288036" cy="377190"/>
          </a:xfrm>
          <a:prstGeom prst="chevron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6789420" y="1062990"/>
            <a:ext cx="1817370" cy="236601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7351776" y="1289304"/>
            <a:ext cx="685800" cy="6858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7351776" y="142646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1500" b="1">
                <a:solidFill>
                  <a:srgbClr val="FFFFFF"/>
                </a:solidFill>
                <a:latin typeface="Calibri"/>
              </a:rPr>
              <a:t>4</a:t>
            </a:r>
            <a:endParaRPr lang="en-US" sz="15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960870" y="2139696"/>
            <a:ext cx="147447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defTabSz="685800"/>
            <a:r>
              <a:rPr lang="en-US" sz="1125" b="1">
                <a:solidFill>
                  <a:srgbClr val="065A82"/>
                </a:solidFill>
                <a:latin typeface="Calibri"/>
              </a:rPr>
              <a:t>CI/CD as code</a:t>
            </a:r>
            <a:endParaRPr lang="en-US" sz="1125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960870" y="2551176"/>
            <a:ext cx="1474470" cy="53492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 defTabSz="685800"/>
            <a:r>
              <a:rPr lang="en-US" sz="788">
                <a:solidFill>
                  <a:srgbClr val="1A2332"/>
                </a:solidFill>
                <a:latin typeface="Calibri"/>
              </a:rPr>
              <a:t>Déployer via fabric-cicd et pipeline automatisé</a:t>
            </a:r>
            <a:endParaRPr lang="en-US" sz="788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308610" y="4924044"/>
            <a:ext cx="8538210" cy="0"/>
          </a:xfrm>
          <a:prstGeom prst="line">
            <a:avLst/>
          </a:prstGeom>
          <a:noFill/>
          <a:ln w="10160">
            <a:solidFill>
              <a:srgbClr val="DDE7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308610" y="4965192"/>
            <a:ext cx="432054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563">
                <a:solidFill>
                  <a:srgbClr val="64748B"/>
                </a:solidFill>
                <a:latin typeface="Calibri"/>
              </a:rPr>
              <a:t>Formation GitHub Copilot pour Microsoft Fabric  -  Expertime</a:t>
            </a:r>
            <a:endParaRPr lang="en-US" sz="563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8503920" y="4951476"/>
            <a:ext cx="30861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685800"/>
            <a:r>
              <a:rPr lang="en-US" sz="600">
                <a:solidFill>
                  <a:srgbClr val="64748B"/>
                </a:solidFill>
                <a:latin typeface="Calibri"/>
              </a:rPr>
              <a:t>02</a:t>
            </a:r>
            <a:endParaRPr lang="en-US" sz="600">
              <a:solidFill>
                <a:prstClr val="black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705e75c5f1.png"/>
          <p:cNvPicPr>
            <a:picLocks noChangeAspect="1"/>
          </p:cNvPicPr>
          <p:nvPr/>
        </p:nvPicPr>
        <p:blipFill>
          <a:blip r:embed="rId3"/>
          <a:srcRect l="18978" r="18978"/>
          <a:stretch/>
        </p:blipFill>
        <p:spPr>
          <a:xfrm>
            <a:off x="4354830" y="0"/>
            <a:ext cx="4786884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354830" y="0"/>
            <a:ext cx="4786884" cy="5143500"/>
          </a:xfrm>
          <a:prstGeom prst="rect">
            <a:avLst/>
          </a:prstGeom>
          <a:solidFill>
            <a:srgbClr val="0B2545">
              <a:alpha val="60000"/>
            </a:srgbClr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4800600" cy="51435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445770" y="1220724"/>
            <a:ext cx="39776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defTabSz="685800"/>
            <a:r>
              <a:rPr lang="en-US" sz="25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Développer dans VS Code</a:t>
            </a:r>
            <a:endParaRPr lang="en-US" sz="2550" dirty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7" name="Text 4"/>
          <p:cNvSpPr/>
          <p:nvPr/>
        </p:nvSpPr>
        <p:spPr>
          <a:xfrm>
            <a:off x="466344" y="2297430"/>
            <a:ext cx="370332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defTabSz="685800"/>
            <a:r>
              <a:rPr lang="en-US" sz="1200" dirty="0">
                <a:solidFill>
                  <a:srgbClr val="D6E4F0"/>
                </a:solidFill>
                <a:latin typeface="Aptos"/>
              </a:rPr>
              <a:t>Local vs distant : distinguer le confort de développement du runtime de production.</a:t>
            </a:r>
            <a:endParaRPr lang="en-US" sz="1200" dirty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66344" y="3223260"/>
            <a:ext cx="1508760" cy="0"/>
          </a:xfrm>
          <a:prstGeom prst="line">
            <a:avLst/>
          </a:prstGeom>
          <a:noFill/>
          <a:ln w="508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6"/>
          <p:cNvSpPr/>
          <p:nvPr/>
        </p:nvSpPr>
        <p:spPr>
          <a:xfrm>
            <a:off x="308610" y="4924044"/>
            <a:ext cx="8538210" cy="0"/>
          </a:xfrm>
          <a:prstGeom prst="line">
            <a:avLst/>
          </a:prstGeom>
          <a:noFill/>
          <a:ln w="10160">
            <a:solidFill>
              <a:srgbClr val="DDE7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308610" y="4965192"/>
            <a:ext cx="432054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563" dirty="0">
                <a:solidFill>
                  <a:srgbClr val="5B6B7B"/>
                </a:solidFill>
                <a:latin typeface="Aptos"/>
              </a:rPr>
              <a:t>Formation Data Engineers · Fabric · Copilot &amp; CI/CD</a:t>
            </a:r>
            <a:endParaRPr lang="en-US" sz="563" dirty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11" name="Text 8"/>
          <p:cNvSpPr/>
          <p:nvPr/>
        </p:nvSpPr>
        <p:spPr>
          <a:xfrm>
            <a:off x="8503920" y="4951476"/>
            <a:ext cx="30861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685800"/>
            <a:r>
              <a:rPr lang="en-US" sz="600" dirty="0">
                <a:solidFill>
                  <a:srgbClr val="5B6B7B"/>
                </a:solidFill>
                <a:latin typeface="Aptos"/>
              </a:rPr>
              <a:t>03</a:t>
            </a:r>
            <a:endParaRPr lang="en-US" sz="600" dirty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14760D33-5F6B-36D0-93F3-4828BE56A92C}"/>
              </a:ext>
            </a:extLst>
          </p:cNvPr>
          <p:cNvSpPr/>
          <p:nvPr/>
        </p:nvSpPr>
        <p:spPr>
          <a:xfrm>
            <a:off x="445770" y="891540"/>
            <a:ext cx="20574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750" b="1" dirty="0">
                <a:solidFill>
                  <a:srgbClr val="7FA8C9"/>
                </a:solidFill>
                <a:latin typeface="Aptos"/>
              </a:rPr>
              <a:t>ETAPE 1</a:t>
            </a:r>
            <a:endParaRPr lang="en-US" sz="750" dirty="0">
              <a:solidFill>
                <a:prstClr val="black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" y="0"/>
            <a:ext cx="9144000" cy="10972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1371600" y="150000"/>
            <a:ext cx="7406640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300" b="1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 Code comme environnement de développement Fabric</a:t>
            </a:r>
            <a:endParaRPr lang="en-US" sz="13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45770" y="720090"/>
            <a:ext cx="2708910" cy="15773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445770" y="720090"/>
            <a:ext cx="61722" cy="15773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617220" y="843534"/>
            <a:ext cx="24003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defTabSz="685800"/>
            <a:r>
              <a:rPr lang="en-US" sz="1125" b="1">
                <a:solidFill>
                  <a:srgbClr val="065A82"/>
                </a:solidFill>
                <a:latin typeface="Calibri"/>
              </a:rPr>
              <a:t>À installer</a:t>
            </a:r>
            <a:endParaRPr lang="en-US" sz="1125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Text 6"/>
          <p:cNvSpPr/>
          <p:nvPr/>
        </p:nvSpPr>
        <p:spPr>
          <a:xfrm>
            <a:off x="617220" y="1179576"/>
            <a:ext cx="2400300" cy="1001268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defTabSz="685800"/>
            <a:r>
              <a:rPr lang="en-US" sz="848">
                <a:solidFill>
                  <a:srgbClr val="1A2332"/>
                </a:solidFill>
                <a:latin typeface="Calibri"/>
              </a:rPr>
              <a:t>• Fabric Data Engineering : explorer Lakehouse, développer et débugger des notebooks Spark</a:t>
            </a:r>
            <a:endParaRPr lang="en-US" sz="848">
              <a:solidFill>
                <a:prstClr val="black"/>
              </a:solidFill>
              <a:latin typeface="Calibri"/>
            </a:endParaRPr>
          </a:p>
          <a:p>
            <a:pPr defTabSz="685800"/>
            <a:r>
              <a:rPr lang="en-US" sz="848">
                <a:solidFill>
                  <a:srgbClr val="1A2332"/>
                </a:solidFill>
                <a:latin typeface="Calibri"/>
              </a:rPr>
              <a:t>• Microsoft Fabric : gérer workspaces et items</a:t>
            </a:r>
            <a:endParaRPr lang="en-US" sz="848">
              <a:solidFill>
                <a:prstClr val="black"/>
              </a:solidFill>
              <a:latin typeface="Calibri"/>
            </a:endParaRPr>
          </a:p>
          <a:p>
            <a:pPr defTabSz="685800"/>
            <a:r>
              <a:rPr lang="en-US" sz="848">
                <a:solidFill>
                  <a:srgbClr val="1A2332"/>
                </a:solidFill>
                <a:latin typeface="Calibri"/>
              </a:rPr>
              <a:t>• Jupyter + JDK + conda si exécution locale</a:t>
            </a:r>
            <a:endParaRPr lang="en-US" sz="848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326130" y="720090"/>
            <a:ext cx="2708910" cy="15773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326130" y="720090"/>
            <a:ext cx="61722" cy="15773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3497580" y="843534"/>
            <a:ext cx="24003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defTabSz="685800"/>
            <a:r>
              <a:rPr lang="en-US" sz="1125" b="1">
                <a:solidFill>
                  <a:srgbClr val="065A82"/>
                </a:solidFill>
                <a:latin typeface="Calibri"/>
              </a:rPr>
              <a:t>Deux modes de travail</a:t>
            </a:r>
            <a:endParaRPr lang="en-US" sz="1125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497580" y="1179576"/>
            <a:ext cx="2400300" cy="1001268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defTabSz="685800"/>
            <a:r>
              <a:rPr lang="en-US" sz="848">
                <a:solidFill>
                  <a:srgbClr val="1A2332"/>
                </a:solidFill>
                <a:latin typeface="Calibri"/>
              </a:rPr>
              <a:t>Local mode : télécharger l’item, éditer, publier.</a:t>
            </a:r>
            <a:endParaRPr lang="en-US" sz="848">
              <a:solidFill>
                <a:prstClr val="black"/>
              </a:solidFill>
              <a:latin typeface="Calibri"/>
            </a:endParaRPr>
          </a:p>
          <a:p>
            <a:pPr defTabSz="685800"/>
            <a:r>
              <a:rPr lang="en-US" sz="848">
                <a:solidFill>
                  <a:srgbClr val="1A2332"/>
                </a:solidFill>
                <a:latin typeface="Calibri"/>
              </a:rPr>
              <a:t>VFS mode : éditer les items distants sans téléchargement, avec plusieurs workspaces dans une même fenêtre.</a:t>
            </a:r>
            <a:endParaRPr lang="en-US" sz="848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206490" y="720090"/>
            <a:ext cx="2400300" cy="15773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6206490" y="720090"/>
            <a:ext cx="61722" cy="15773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6377940" y="843534"/>
            <a:ext cx="209169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defTabSz="685800"/>
            <a:r>
              <a:rPr lang="en-US" sz="1125" b="1">
                <a:solidFill>
                  <a:srgbClr val="065A82"/>
                </a:solidFill>
                <a:latin typeface="Calibri"/>
              </a:rPr>
              <a:t>Point clé</a:t>
            </a:r>
            <a:endParaRPr lang="en-US" sz="1125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377940" y="1179576"/>
            <a:ext cx="2091690" cy="1001268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defTabSz="685800"/>
            <a:r>
              <a:rPr lang="en-US" sz="900">
                <a:solidFill>
                  <a:srgbClr val="1A2332"/>
                </a:solidFill>
                <a:latin typeface="Calibri"/>
              </a:rPr>
              <a:t>Les données du Lakehouse restent dans OneLake. “Local” concerne le moteur de calcul, pas l’emplacement des données.</a:t>
            </a:r>
            <a:endParaRPr lang="en-US" sz="9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48640" y="2743200"/>
            <a:ext cx="4029075" cy="322326"/>
          </a:xfrm>
          <a:prstGeom prst="rect">
            <a:avLst/>
          </a:prstGeom>
          <a:solidFill>
            <a:srgbClr val="065A82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617220" y="2832354"/>
            <a:ext cx="3891915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750" b="1">
                <a:solidFill>
                  <a:srgbClr val="FFFFFF"/>
                </a:solidFill>
                <a:latin typeface="Calibri"/>
              </a:rPr>
              <a:t>Runtime Fabric distant</a:t>
            </a:r>
            <a:endParaRPr lang="en-US" sz="7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577715" y="2743200"/>
            <a:ext cx="4029075" cy="322326"/>
          </a:xfrm>
          <a:prstGeom prst="rect">
            <a:avLst/>
          </a:prstGeom>
          <a:solidFill>
            <a:srgbClr val="065A82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4646295" y="2832354"/>
            <a:ext cx="3891915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750" b="1">
                <a:solidFill>
                  <a:srgbClr val="FFFFFF"/>
                </a:solidFill>
                <a:latin typeface="Calibri"/>
              </a:rPr>
              <a:t>Spark local</a:t>
            </a:r>
            <a:endParaRPr lang="en-US" sz="7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48640" y="3065526"/>
            <a:ext cx="4029075" cy="322326"/>
          </a:xfrm>
          <a:prstGeom prst="rect">
            <a:avLst/>
          </a:prstGeom>
          <a:solidFill>
            <a:srgbClr val="FFFFFF"/>
          </a:solidFill>
          <a:ln w="7620">
            <a:solidFill>
              <a:srgbClr val="E1E8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658368" y="3134106"/>
            <a:ext cx="3809619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defTabSz="685800"/>
            <a:r>
              <a:rPr lang="en-US" sz="750">
                <a:solidFill>
                  <a:srgbClr val="1A2332"/>
                </a:solidFill>
                <a:latin typeface="Calibri"/>
              </a:rPr>
              <a:t>Calcul sur le pool Spark du workspace</a:t>
            </a:r>
            <a:endParaRPr lang="en-US" sz="7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577715" y="3065526"/>
            <a:ext cx="4029075" cy="322326"/>
          </a:xfrm>
          <a:prstGeom prst="rect">
            <a:avLst/>
          </a:prstGeom>
          <a:solidFill>
            <a:srgbClr val="FFFFFF"/>
          </a:solidFill>
          <a:ln w="7620">
            <a:solidFill>
              <a:srgbClr val="E1E8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4687443" y="3134106"/>
            <a:ext cx="3809619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defTabSz="685800"/>
            <a:r>
              <a:rPr lang="en-US" sz="750">
                <a:solidFill>
                  <a:srgbClr val="1A2332"/>
                </a:solidFill>
                <a:latin typeface="Calibri"/>
              </a:rPr>
              <a:t>Conda local ou devcontainer Docker</a:t>
            </a:r>
            <a:endParaRPr lang="en-US" sz="7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48640" y="3387852"/>
            <a:ext cx="4029075" cy="322326"/>
          </a:xfrm>
          <a:prstGeom prst="rect">
            <a:avLst/>
          </a:prstGeom>
          <a:solidFill>
            <a:srgbClr val="F8FAFC"/>
          </a:solidFill>
          <a:ln w="7620">
            <a:solidFill>
              <a:srgbClr val="E1E8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658368" y="3456432"/>
            <a:ext cx="3809619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defTabSz="685800"/>
            <a:r>
              <a:rPr lang="en-US" sz="750">
                <a:solidFill>
                  <a:srgbClr val="1A2332"/>
                </a:solidFill>
                <a:latin typeface="Calibri"/>
              </a:rPr>
              <a:t>Obligatoire pour notebookutils / mssparkutils</a:t>
            </a:r>
            <a:endParaRPr lang="en-US" sz="7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577715" y="3387852"/>
            <a:ext cx="4029075" cy="322326"/>
          </a:xfrm>
          <a:prstGeom prst="rect">
            <a:avLst/>
          </a:prstGeom>
          <a:solidFill>
            <a:srgbClr val="F8FAFC"/>
          </a:solidFill>
          <a:ln w="7620">
            <a:solidFill>
              <a:srgbClr val="E1E8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4687443" y="3456432"/>
            <a:ext cx="3809619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defTabSz="685800"/>
            <a:r>
              <a:rPr lang="en-US" sz="750">
                <a:solidFill>
                  <a:srgbClr val="1A2332"/>
                </a:solidFill>
                <a:latin typeface="Calibri"/>
              </a:rPr>
              <a:t>Itération rapide : lint, tests, Git, Copilot</a:t>
            </a:r>
            <a:endParaRPr lang="en-US" sz="7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48640" y="3710178"/>
            <a:ext cx="4029075" cy="322326"/>
          </a:xfrm>
          <a:prstGeom prst="rect">
            <a:avLst/>
          </a:prstGeom>
          <a:solidFill>
            <a:srgbClr val="FFFFFF"/>
          </a:solidFill>
          <a:ln w="7620">
            <a:solidFill>
              <a:srgbClr val="E1E8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658368" y="3778758"/>
            <a:ext cx="3809619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defTabSz="685800"/>
            <a:r>
              <a:rPr lang="en-US" sz="750">
                <a:solidFill>
                  <a:srgbClr val="1A2332"/>
                </a:solidFill>
                <a:latin typeface="Calibri"/>
              </a:rPr>
              <a:t>Comportement fidèle : Delta, V-Order, lakehouse attaché</a:t>
            </a:r>
            <a:endParaRPr lang="en-US" sz="7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577715" y="3710178"/>
            <a:ext cx="4029075" cy="322326"/>
          </a:xfrm>
          <a:prstGeom prst="rect">
            <a:avLst/>
          </a:prstGeom>
          <a:solidFill>
            <a:srgbClr val="FFFFFF"/>
          </a:solidFill>
          <a:ln w="7620">
            <a:solidFill>
              <a:srgbClr val="E1E8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4687443" y="3778758"/>
            <a:ext cx="3809619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defTabSz="685800"/>
            <a:r>
              <a:rPr lang="en-US" sz="750">
                <a:solidFill>
                  <a:srgbClr val="1A2332"/>
                </a:solidFill>
                <a:latin typeface="Calibri"/>
              </a:rPr>
              <a:t>Accès OneLake via chemin ABFSS + Service Principal</a:t>
            </a:r>
            <a:endParaRPr lang="en-US" sz="7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548640" y="4032504"/>
            <a:ext cx="4029075" cy="322326"/>
          </a:xfrm>
          <a:prstGeom prst="rect">
            <a:avLst/>
          </a:prstGeom>
          <a:solidFill>
            <a:srgbClr val="F8FAFC"/>
          </a:solidFill>
          <a:ln w="7620">
            <a:solidFill>
              <a:srgbClr val="E1E8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658368" y="4101084"/>
            <a:ext cx="3809619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defTabSz="685800"/>
            <a:r>
              <a:rPr lang="en-US" sz="750">
                <a:solidFill>
                  <a:srgbClr val="1A2332"/>
                </a:solidFill>
                <a:latin typeface="Calibri"/>
              </a:rPr>
              <a:t>Environnement de production</a:t>
            </a:r>
            <a:endParaRPr lang="en-US" sz="7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4577715" y="4032504"/>
            <a:ext cx="4029075" cy="322326"/>
          </a:xfrm>
          <a:prstGeom prst="rect">
            <a:avLst/>
          </a:prstGeom>
          <a:solidFill>
            <a:srgbClr val="F8FAFC"/>
          </a:solidFill>
          <a:ln w="7620">
            <a:solidFill>
              <a:srgbClr val="E1E8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4687443" y="4101084"/>
            <a:ext cx="3809619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defTabSz="685800"/>
            <a:r>
              <a:rPr lang="en-US" sz="750">
                <a:solidFill>
                  <a:srgbClr val="1A2332"/>
                </a:solidFill>
                <a:latin typeface="Calibri"/>
              </a:rPr>
              <a:t>Runtime 1.3+ : plus de conda local intégré</a:t>
            </a:r>
            <a:endParaRPr lang="en-US" sz="7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308610" y="4924044"/>
            <a:ext cx="8538210" cy="0"/>
          </a:xfrm>
          <a:prstGeom prst="line">
            <a:avLst/>
          </a:prstGeom>
          <a:noFill/>
          <a:ln w="10160">
            <a:solidFill>
              <a:srgbClr val="DDE7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308610" y="4965192"/>
            <a:ext cx="432054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563">
                <a:solidFill>
                  <a:srgbClr val="64748B"/>
                </a:solidFill>
                <a:latin typeface="Calibri"/>
              </a:rPr>
              <a:t>Formation GitHub Copilot pour Microsoft Fabric  -  Expertime</a:t>
            </a:r>
            <a:endParaRPr lang="en-US" sz="563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8503920" y="4951476"/>
            <a:ext cx="30861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685800"/>
            <a:r>
              <a:rPr lang="en-US" sz="600">
                <a:solidFill>
                  <a:srgbClr val="64748B"/>
                </a:solidFill>
                <a:latin typeface="Calibri"/>
              </a:rPr>
              <a:t>04</a:t>
            </a:r>
            <a:endParaRPr lang="en-US" sz="600">
              <a:solidFill>
                <a:prstClr val="black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" y="0"/>
            <a:ext cx="9143771" cy="356616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08610" y="89154"/>
            <a:ext cx="13716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00" b="1" dirty="0">
                <a:solidFill>
                  <a:srgbClr val="7FA8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3</a:t>
            </a:r>
            <a:endParaRPr lang="en-US" sz="600" dirty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4" name="Text 2"/>
          <p:cNvSpPr/>
          <p:nvPr/>
        </p:nvSpPr>
        <p:spPr>
          <a:xfrm>
            <a:off x="1371600" y="61722"/>
            <a:ext cx="7406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75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Exercice 3.1 — exécuter en local puis publier</a:t>
            </a:r>
            <a:endParaRPr lang="en-US" sz="975" dirty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14350" y="788670"/>
            <a:ext cx="4114800" cy="32232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defTabSz="685800"/>
            <a:r>
              <a:rPr lang="en-US" sz="1050" dirty="0">
                <a:solidFill>
                  <a:srgbClr val="1A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Installer les extensions, se connecter et sélectionner le workspace.
</a:t>
            </a:r>
            <a:endParaRPr lang="en-US" sz="1050" dirty="0">
              <a:solidFill>
                <a:prstClr val="black"/>
              </a:solidFill>
              <a:latin typeface="Aptos"/>
            </a:endParaRPr>
          </a:p>
          <a:p>
            <a:pPr defTabSz="685800"/>
            <a:r>
              <a:rPr lang="en-US" sz="1050" dirty="0">
                <a:solidFill>
                  <a:srgbClr val="1A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Ouvrir ou créer un notebook ; explorer le Lakehouse et copier le chemin ABFSS d’une table.
</a:t>
            </a:r>
            <a:endParaRPr lang="en-US" sz="1050" dirty="0">
              <a:solidFill>
                <a:prstClr val="black"/>
              </a:solidFill>
              <a:latin typeface="Aptos"/>
            </a:endParaRPr>
          </a:p>
          <a:p>
            <a:pPr defTabSz="685800"/>
            <a:r>
              <a:rPr lang="en-US" sz="1050" dirty="0">
                <a:solidFill>
                  <a:srgbClr val="1A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Lire la table en PySpark et exécuter la cellule sur un kernel local.
</a:t>
            </a:r>
            <a:endParaRPr lang="en-US" sz="1050" dirty="0">
              <a:solidFill>
                <a:prstClr val="black"/>
              </a:solidFill>
              <a:latin typeface="Aptos"/>
            </a:endParaRPr>
          </a:p>
          <a:p>
            <a:pPr defTabSz="685800"/>
            <a:r>
              <a:rPr lang="en-US" sz="1050" dirty="0">
                <a:solidFill>
                  <a:srgbClr val="1A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Basculer sur le runtime Fabric distant pour valider notebookutils et le comportement réel.
</a:t>
            </a:r>
            <a:endParaRPr lang="en-US" sz="1050" dirty="0">
              <a:solidFill>
                <a:prstClr val="black"/>
              </a:solidFill>
              <a:latin typeface="Aptos"/>
            </a:endParaRPr>
          </a:p>
          <a:p>
            <a:pPr defTabSz="685800"/>
            <a:r>
              <a:rPr lang="en-US" sz="1050" dirty="0">
                <a:solidFill>
                  <a:srgbClr val="1A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Publier le notebook vers le workspace.</a:t>
            </a:r>
            <a:endParaRPr lang="en-US" sz="1050" dirty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834890" y="822960"/>
            <a:ext cx="3909060" cy="2228850"/>
          </a:xfrm>
          <a:prstGeom prst="roundRect">
            <a:avLst>
              <a:gd name="adj" fmla="val 1846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958334" y="932688"/>
            <a:ext cx="366903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00" dirty="0">
                <a:solidFill>
                  <a:srgbClr val="7FA8C9"/>
                </a:solidFill>
                <a:latin typeface="Aptos"/>
              </a:rPr>
              <a:t>notebook — pattern local / distant</a:t>
            </a:r>
            <a:endParaRPr lang="en-US" sz="600" dirty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8" name="Text 6"/>
          <p:cNvSpPr/>
          <p:nvPr/>
        </p:nvSpPr>
        <p:spPr>
          <a:xfrm>
            <a:off x="4958334" y="1124712"/>
            <a:ext cx="3669030" cy="1844802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defTabSz="685800"/>
            <a:r>
              <a:rPr lang="en-US" sz="638" dirty="0">
                <a:solidFill>
                  <a:srgbClr val="D6E4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 Un seul code, deux modes : bascule via un flag d'environnement</a:t>
            </a:r>
            <a:endParaRPr lang="en-US" sz="638" dirty="0">
              <a:solidFill>
                <a:prstClr val="black"/>
              </a:solidFill>
              <a:latin typeface="Aptos"/>
            </a:endParaRPr>
          </a:p>
          <a:p>
            <a:pPr defTabSz="685800"/>
            <a:r>
              <a:rPr lang="en-US" sz="638" dirty="0">
                <a:solidFill>
                  <a:srgbClr val="D6E4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import os</a:t>
            </a:r>
            <a:endParaRPr lang="en-US" sz="638" dirty="0">
              <a:solidFill>
                <a:prstClr val="black"/>
              </a:solidFill>
              <a:latin typeface="Aptos"/>
            </a:endParaRPr>
          </a:p>
          <a:p>
            <a:pPr defTabSz="685800"/>
            <a:r>
              <a:rPr lang="en-US" sz="638" dirty="0">
                <a:solidFill>
                  <a:srgbClr val="D6E4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if os.environ.get("LocalDevelopment") == "1":</a:t>
            </a:r>
            <a:endParaRPr lang="en-US" sz="638" dirty="0">
              <a:solidFill>
                <a:prstClr val="black"/>
              </a:solidFill>
              <a:latin typeface="Aptos"/>
            </a:endParaRPr>
          </a:p>
          <a:p>
            <a:pPr defTabSz="685800"/>
            <a:r>
              <a:rPr lang="en-US" sz="638" dirty="0">
                <a:solidFill>
                  <a:srgbClr val="D6E4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from spark_setup import get_local_spark</a:t>
            </a:r>
            <a:endParaRPr lang="en-US" sz="638" dirty="0">
              <a:solidFill>
                <a:prstClr val="black"/>
              </a:solidFill>
              <a:latin typeface="Aptos"/>
            </a:endParaRPr>
          </a:p>
          <a:p>
            <a:pPr defTabSz="685800"/>
            <a:r>
              <a:rPr lang="en-US" sz="638" dirty="0">
                <a:solidFill>
                  <a:srgbClr val="D6E4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spark = get_local_spark()</a:t>
            </a:r>
            <a:endParaRPr lang="en-US" sz="638" dirty="0">
              <a:solidFill>
                <a:prstClr val="black"/>
              </a:solidFill>
              <a:latin typeface="Aptos"/>
            </a:endParaRPr>
          </a:p>
          <a:p>
            <a:pPr defTabSz="685800"/>
            <a:r>
              <a:rPr lang="en-US" sz="638" dirty="0">
                <a:solidFill>
                  <a:srgbClr val="D6E4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 sinon : exécution normale sur le runtime Fabric distant</a:t>
            </a:r>
            <a:endParaRPr lang="en-US" sz="638" dirty="0">
              <a:solidFill>
                <a:prstClr val="black"/>
              </a:solidFill>
              <a:latin typeface="Aptos"/>
            </a:endParaRPr>
          </a:p>
          <a:p>
            <a:pPr defTabSz="685800"/>
            <a:r>
              <a:rPr lang="en-US" sz="638" dirty="0">
                <a:solidFill>
                  <a:srgbClr val="D6E4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df = spark.read.format("delta").load(lakehouse_path)</a:t>
            </a:r>
            <a:endParaRPr lang="en-US" sz="638" dirty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834890" y="3257550"/>
            <a:ext cx="3909060" cy="85725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4834890" y="3257550"/>
            <a:ext cx="61722" cy="85725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5006340" y="3380994"/>
            <a:ext cx="360045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defTabSz="685800"/>
            <a:r>
              <a:rPr lang="en-US" sz="1125" b="1" dirty="0">
                <a:solidFill>
                  <a:srgbClr val="0B2545"/>
                </a:solidFill>
                <a:latin typeface="Aptos"/>
              </a:rPr>
              <a:t>Résultat attendu</a:t>
            </a:r>
            <a:endParaRPr lang="en-US" sz="1125" dirty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006340" y="3717036"/>
            <a:ext cx="3600450" cy="281178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defTabSz="685800"/>
            <a:r>
              <a:rPr lang="en-US" sz="900" dirty="0">
                <a:solidFill>
                  <a:srgbClr val="1A2433"/>
                </a:solidFill>
                <a:latin typeface="Aptos"/>
              </a:rPr>
              <a:t>Le notebook lit la table du Lakehouse, tourne en local pour l’itération, est validé sur le runtime distant, puis publié.</a:t>
            </a:r>
            <a:endParaRPr lang="en-US" sz="900" dirty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08610" y="4924044"/>
            <a:ext cx="8538210" cy="0"/>
          </a:xfrm>
          <a:prstGeom prst="line">
            <a:avLst/>
          </a:prstGeom>
          <a:noFill/>
          <a:ln w="10160">
            <a:solidFill>
              <a:srgbClr val="DDE7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308610" y="4965192"/>
            <a:ext cx="432054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563" dirty="0">
                <a:solidFill>
                  <a:srgbClr val="5B6B7B"/>
                </a:solidFill>
                <a:latin typeface="Aptos"/>
              </a:rPr>
              <a:t>Formation Data Engineers · Fabric · Copilot &amp; CI/CD</a:t>
            </a:r>
            <a:endParaRPr lang="en-US" sz="563" dirty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503920" y="4951476"/>
            <a:ext cx="30861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685800"/>
            <a:r>
              <a:rPr lang="en-US" sz="600" dirty="0">
                <a:solidFill>
                  <a:srgbClr val="5B6B7B"/>
                </a:solidFill>
                <a:latin typeface="Aptos"/>
              </a:rPr>
              <a:t>05</a:t>
            </a:r>
            <a:endParaRPr lang="en-US" sz="600" dirty="0">
              <a:solidFill>
                <a:prstClr val="black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49C289DE-8CCF-9757-2FE9-C881AE6287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036" y="152399"/>
            <a:ext cx="5900880" cy="35479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8740464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C03654AA-05CA-CC81-29E6-DA2D380A4E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1139"/>
            <a:ext cx="9144000" cy="4841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86990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481BFC82-5654-E180-CE7A-2A47B9ABAC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6374"/>
            <a:ext cx="9144000" cy="4850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60131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7682d69e5.png"/>
          <p:cNvPicPr>
            <a:picLocks noChangeAspect="1"/>
          </p:cNvPicPr>
          <p:nvPr/>
        </p:nvPicPr>
        <p:blipFill>
          <a:blip r:embed="rId3"/>
          <a:srcRect l="18978" r="18978"/>
          <a:stretch/>
        </p:blipFill>
        <p:spPr>
          <a:xfrm>
            <a:off x="4354830" y="0"/>
            <a:ext cx="4786884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354830" y="0"/>
            <a:ext cx="4786884" cy="5143500"/>
          </a:xfrm>
          <a:prstGeom prst="rect">
            <a:avLst/>
          </a:prstGeom>
          <a:solidFill>
            <a:srgbClr val="0B2545">
              <a:alpha val="60000"/>
            </a:srgbClr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4800600" cy="51435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445770" y="891540"/>
            <a:ext cx="20574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750" b="1" dirty="0">
                <a:solidFill>
                  <a:srgbClr val="7FA8C9"/>
                </a:solidFill>
                <a:latin typeface="Aptos"/>
              </a:rPr>
              <a:t>ETAPE 2</a:t>
            </a:r>
            <a:endParaRPr lang="en-US" sz="750" dirty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6" name="Text 3"/>
          <p:cNvSpPr/>
          <p:nvPr/>
        </p:nvSpPr>
        <p:spPr>
          <a:xfrm>
            <a:off x="445770" y="1220724"/>
            <a:ext cx="39776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defTabSz="685800"/>
            <a:r>
              <a:rPr lang="en-US" sz="25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Versioning avec Git integration Fabric</a:t>
            </a:r>
            <a:endParaRPr lang="en-US" sz="2550" dirty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7" name="Text 4"/>
          <p:cNvSpPr/>
          <p:nvPr/>
        </p:nvSpPr>
        <p:spPr>
          <a:xfrm>
            <a:off x="466344" y="2297430"/>
            <a:ext cx="370332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defTabSz="685800"/>
            <a:r>
              <a:rPr lang="en-US" sz="1200" dirty="0">
                <a:solidFill>
                  <a:srgbClr val="D6E4F0"/>
                </a:solidFill>
                <a:latin typeface="Aptos"/>
              </a:rPr>
              <a:t>Connecter le workspace au dépôt, sérialiser les items et instaurer le workflow de revue.</a:t>
            </a:r>
            <a:endParaRPr lang="en-US" sz="1200" dirty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66344" y="3223260"/>
            <a:ext cx="1508760" cy="0"/>
          </a:xfrm>
          <a:prstGeom prst="line">
            <a:avLst/>
          </a:prstGeom>
          <a:noFill/>
          <a:ln w="508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6"/>
          <p:cNvSpPr/>
          <p:nvPr/>
        </p:nvSpPr>
        <p:spPr>
          <a:xfrm>
            <a:off x="308610" y="4924044"/>
            <a:ext cx="8538210" cy="0"/>
          </a:xfrm>
          <a:prstGeom prst="line">
            <a:avLst/>
          </a:prstGeom>
          <a:noFill/>
          <a:ln w="10160">
            <a:solidFill>
              <a:srgbClr val="DDE7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308610" y="4965192"/>
            <a:ext cx="432054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563" dirty="0">
                <a:solidFill>
                  <a:srgbClr val="5B6B7B"/>
                </a:solidFill>
                <a:latin typeface="Aptos"/>
              </a:rPr>
              <a:t>Formation Data Engineers · Fabric · Copilot &amp; CI/CD</a:t>
            </a:r>
            <a:endParaRPr lang="en-US" sz="563" dirty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11" name="Text 8"/>
          <p:cNvSpPr/>
          <p:nvPr/>
        </p:nvSpPr>
        <p:spPr>
          <a:xfrm>
            <a:off x="8503920" y="4951476"/>
            <a:ext cx="30861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685800"/>
            <a:r>
              <a:rPr lang="en-US" sz="600" dirty="0">
                <a:solidFill>
                  <a:srgbClr val="5B6B7B"/>
                </a:solidFill>
                <a:latin typeface="Aptos"/>
              </a:rPr>
              <a:t>06</a:t>
            </a:r>
            <a:endParaRPr lang="en-US" sz="600" dirty="0">
              <a:solidFill>
                <a:prstClr val="black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" y="0"/>
            <a:ext cx="9144000" cy="10972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08610" y="185000"/>
            <a:ext cx="13716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00" b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ETAPE 2</a:t>
            </a:r>
            <a:endParaRPr lang="en-US" sz="6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1371600" y="150000"/>
            <a:ext cx="7406640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300" b="1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Git versionne dans Fabric — et ce qu’il ne touche pas</a:t>
            </a:r>
            <a:endParaRPr lang="en-US" sz="13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14350" y="685800"/>
            <a:ext cx="8092440" cy="61722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514350" y="685800"/>
            <a:ext cx="61722" cy="6172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685800" y="809244"/>
            <a:ext cx="778383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defTabSz="685800"/>
            <a:r>
              <a:rPr lang="en-US" sz="1125" b="1">
                <a:solidFill>
                  <a:srgbClr val="065A82"/>
                </a:solidFill>
                <a:latin typeface="Calibri"/>
              </a:rPr>
              <a:t>Point clé</a:t>
            </a:r>
            <a:endParaRPr lang="en-US" sz="1125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Text 6"/>
          <p:cNvSpPr/>
          <p:nvPr/>
        </p:nvSpPr>
        <p:spPr>
          <a:xfrm>
            <a:off x="685800" y="1049274"/>
            <a:ext cx="7783830" cy="240030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defTabSz="685800"/>
            <a:r>
              <a:rPr lang="en-US" sz="1000">
                <a:solidFill>
                  <a:srgbClr val="1A2332"/>
                </a:solidFill>
                <a:latin typeface="Calibri"/>
              </a:rPr>
              <a:t>Seules les métadonnées sont versionnées. Git ne touche jamais aux données des tables Delta ni aux fichiers du Lakehouse.</a:t>
            </a:r>
            <a:endParaRPr lang="en-US" sz="10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82930" y="1543050"/>
            <a:ext cx="3994785" cy="493776"/>
          </a:xfrm>
          <a:prstGeom prst="rect">
            <a:avLst/>
          </a:prstGeom>
          <a:solidFill>
            <a:srgbClr val="065A82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 sz="3200"/>
          </a:p>
        </p:txBody>
      </p:sp>
      <p:sp>
        <p:nvSpPr>
          <p:cNvPr id="10" name="Text 8"/>
          <p:cNvSpPr/>
          <p:nvPr/>
        </p:nvSpPr>
        <p:spPr>
          <a:xfrm>
            <a:off x="651510" y="1632204"/>
            <a:ext cx="3857625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1050" b="1">
                <a:solidFill>
                  <a:srgbClr val="FFFFFF"/>
                </a:solidFill>
                <a:latin typeface="Calibri"/>
              </a:rPr>
              <a:t>Se versionne</a:t>
            </a:r>
            <a:endParaRPr lang="en-US" sz="10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77715" y="1543050"/>
            <a:ext cx="3994785" cy="493776"/>
          </a:xfrm>
          <a:prstGeom prst="rect">
            <a:avLst/>
          </a:prstGeom>
          <a:solidFill>
            <a:srgbClr val="065A82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 sz="3200"/>
          </a:p>
        </p:txBody>
      </p:sp>
      <p:sp>
        <p:nvSpPr>
          <p:cNvPr id="12" name="Text 10"/>
          <p:cNvSpPr/>
          <p:nvPr/>
        </p:nvSpPr>
        <p:spPr>
          <a:xfrm>
            <a:off x="4646295" y="1632204"/>
            <a:ext cx="3857625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1050" b="1">
                <a:solidFill>
                  <a:srgbClr val="FFFFFF"/>
                </a:solidFill>
                <a:latin typeface="Calibri"/>
              </a:rPr>
              <a:t>Ne se versionne pas</a:t>
            </a:r>
            <a:endParaRPr lang="en-US" sz="10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82930" y="2036826"/>
            <a:ext cx="3994785" cy="493776"/>
          </a:xfrm>
          <a:prstGeom prst="rect">
            <a:avLst/>
          </a:prstGeom>
          <a:solidFill>
            <a:srgbClr val="FFFFFF"/>
          </a:solidFill>
          <a:ln w="7620">
            <a:solidFill>
              <a:srgbClr val="E1E8EF"/>
            </a:solidFill>
            <a:prstDash val="solid"/>
          </a:ln>
        </p:spPr>
        <p:txBody>
          <a:bodyPr/>
          <a:lstStyle/>
          <a:p>
            <a:endParaRPr lang="fr-FR" sz="3200"/>
          </a:p>
        </p:txBody>
      </p:sp>
      <p:sp>
        <p:nvSpPr>
          <p:cNvPr id="14" name="Text 12"/>
          <p:cNvSpPr/>
          <p:nvPr/>
        </p:nvSpPr>
        <p:spPr>
          <a:xfrm>
            <a:off x="692658" y="2105406"/>
            <a:ext cx="3775329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defTabSz="685800"/>
            <a:r>
              <a:rPr lang="en-US" sz="1050">
                <a:solidFill>
                  <a:srgbClr val="1A2332"/>
                </a:solidFill>
                <a:latin typeface="Calibri"/>
              </a:rPr>
              <a:t>Définition des notebooks (code)</a:t>
            </a:r>
            <a:endParaRPr lang="en-US" sz="10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577715" y="2036826"/>
            <a:ext cx="3994785" cy="493776"/>
          </a:xfrm>
          <a:prstGeom prst="rect">
            <a:avLst/>
          </a:prstGeom>
          <a:solidFill>
            <a:srgbClr val="FFFFFF"/>
          </a:solidFill>
          <a:ln w="7620">
            <a:solidFill>
              <a:srgbClr val="E1E8EF"/>
            </a:solidFill>
            <a:prstDash val="solid"/>
          </a:ln>
        </p:spPr>
        <p:txBody>
          <a:bodyPr/>
          <a:lstStyle/>
          <a:p>
            <a:endParaRPr lang="fr-FR" sz="3200"/>
          </a:p>
        </p:txBody>
      </p:sp>
      <p:sp>
        <p:nvSpPr>
          <p:cNvPr id="16" name="Text 14"/>
          <p:cNvSpPr/>
          <p:nvPr/>
        </p:nvSpPr>
        <p:spPr>
          <a:xfrm>
            <a:off x="4687443" y="2105406"/>
            <a:ext cx="3775329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defTabSz="685800"/>
            <a:r>
              <a:rPr lang="en-US" sz="1050">
                <a:solidFill>
                  <a:srgbClr val="1A2332"/>
                </a:solidFill>
                <a:latin typeface="Calibri"/>
              </a:rPr>
              <a:t>Données des tables Delta</a:t>
            </a:r>
            <a:endParaRPr lang="en-US" sz="10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82930" y="2530602"/>
            <a:ext cx="3994785" cy="493776"/>
          </a:xfrm>
          <a:prstGeom prst="rect">
            <a:avLst/>
          </a:prstGeom>
          <a:solidFill>
            <a:srgbClr val="F8FAFC"/>
          </a:solidFill>
          <a:ln w="7620">
            <a:solidFill>
              <a:srgbClr val="E1E8EF"/>
            </a:solidFill>
            <a:prstDash val="solid"/>
          </a:ln>
        </p:spPr>
        <p:txBody>
          <a:bodyPr/>
          <a:lstStyle/>
          <a:p>
            <a:endParaRPr lang="fr-FR" sz="3200"/>
          </a:p>
        </p:txBody>
      </p:sp>
      <p:sp>
        <p:nvSpPr>
          <p:cNvPr id="18" name="Text 16"/>
          <p:cNvSpPr/>
          <p:nvPr/>
        </p:nvSpPr>
        <p:spPr>
          <a:xfrm>
            <a:off x="692658" y="2599182"/>
            <a:ext cx="3775329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defTabSz="685800"/>
            <a:r>
              <a:rPr lang="en-US" sz="1050">
                <a:solidFill>
                  <a:srgbClr val="1A2332"/>
                </a:solidFill>
                <a:latin typeface="Calibri"/>
              </a:rPr>
              <a:t>Définition des data pipelines</a:t>
            </a:r>
            <a:endParaRPr lang="en-US" sz="10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577715" y="2530602"/>
            <a:ext cx="3994785" cy="493776"/>
          </a:xfrm>
          <a:prstGeom prst="rect">
            <a:avLst/>
          </a:prstGeom>
          <a:solidFill>
            <a:srgbClr val="F8FAFC"/>
          </a:solidFill>
          <a:ln w="7620">
            <a:solidFill>
              <a:srgbClr val="E1E8EF"/>
            </a:solidFill>
            <a:prstDash val="solid"/>
          </a:ln>
        </p:spPr>
        <p:txBody>
          <a:bodyPr/>
          <a:lstStyle/>
          <a:p>
            <a:endParaRPr lang="fr-FR" sz="3200"/>
          </a:p>
        </p:txBody>
      </p:sp>
      <p:sp>
        <p:nvSpPr>
          <p:cNvPr id="20" name="Text 18"/>
          <p:cNvSpPr/>
          <p:nvPr/>
        </p:nvSpPr>
        <p:spPr>
          <a:xfrm>
            <a:off x="4687443" y="2599182"/>
            <a:ext cx="3775329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defTabSz="685800"/>
            <a:r>
              <a:rPr lang="en-US" sz="1050">
                <a:solidFill>
                  <a:srgbClr val="1A2332"/>
                </a:solidFill>
                <a:latin typeface="Calibri"/>
              </a:rPr>
              <a:t>Fichiers stockés dans OneLake</a:t>
            </a:r>
            <a:endParaRPr lang="en-US" sz="10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82930" y="3024378"/>
            <a:ext cx="3994785" cy="493776"/>
          </a:xfrm>
          <a:prstGeom prst="rect">
            <a:avLst/>
          </a:prstGeom>
          <a:solidFill>
            <a:srgbClr val="FFFFFF"/>
          </a:solidFill>
          <a:ln w="7620">
            <a:solidFill>
              <a:srgbClr val="E1E8EF"/>
            </a:solidFill>
            <a:prstDash val="solid"/>
          </a:ln>
        </p:spPr>
        <p:txBody>
          <a:bodyPr/>
          <a:lstStyle/>
          <a:p>
            <a:endParaRPr lang="fr-FR" sz="3200"/>
          </a:p>
        </p:txBody>
      </p:sp>
      <p:sp>
        <p:nvSpPr>
          <p:cNvPr id="22" name="Text 20"/>
          <p:cNvSpPr/>
          <p:nvPr/>
        </p:nvSpPr>
        <p:spPr>
          <a:xfrm>
            <a:off x="692658" y="3092958"/>
            <a:ext cx="3775329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defTabSz="685800"/>
            <a:r>
              <a:rPr lang="en-US" sz="1050">
                <a:solidFill>
                  <a:srgbClr val="1A2332"/>
                </a:solidFill>
                <a:latin typeface="Calibri"/>
              </a:rPr>
              <a:t>Métadonnées du Lakehouse : nom, GUID</a:t>
            </a:r>
            <a:endParaRPr lang="en-US" sz="10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577715" y="3024378"/>
            <a:ext cx="3994785" cy="493776"/>
          </a:xfrm>
          <a:prstGeom prst="rect">
            <a:avLst/>
          </a:prstGeom>
          <a:solidFill>
            <a:srgbClr val="FFFFFF"/>
          </a:solidFill>
          <a:ln w="7620">
            <a:solidFill>
              <a:srgbClr val="E1E8EF"/>
            </a:solidFill>
            <a:prstDash val="solid"/>
          </a:ln>
        </p:spPr>
        <p:txBody>
          <a:bodyPr/>
          <a:lstStyle/>
          <a:p>
            <a:endParaRPr lang="fr-FR" sz="3200"/>
          </a:p>
        </p:txBody>
      </p:sp>
      <p:sp>
        <p:nvSpPr>
          <p:cNvPr id="24" name="Text 22"/>
          <p:cNvSpPr/>
          <p:nvPr/>
        </p:nvSpPr>
        <p:spPr>
          <a:xfrm>
            <a:off x="4687443" y="3092958"/>
            <a:ext cx="3775329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defTabSz="685800"/>
            <a:r>
              <a:rPr lang="en-US" sz="1050">
                <a:solidFill>
                  <a:srgbClr val="1A2332"/>
                </a:solidFill>
                <a:latin typeface="Calibri"/>
              </a:rPr>
              <a:t>Outputs d’exécution des notebooks</a:t>
            </a:r>
            <a:endParaRPr lang="en-US" sz="10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82930" y="3518154"/>
            <a:ext cx="3994785" cy="493776"/>
          </a:xfrm>
          <a:prstGeom prst="rect">
            <a:avLst/>
          </a:prstGeom>
          <a:solidFill>
            <a:srgbClr val="F8FAFC"/>
          </a:solidFill>
          <a:ln w="7620">
            <a:solidFill>
              <a:srgbClr val="E1E8EF"/>
            </a:solidFill>
            <a:prstDash val="solid"/>
          </a:ln>
        </p:spPr>
        <p:txBody>
          <a:bodyPr/>
          <a:lstStyle/>
          <a:p>
            <a:endParaRPr lang="fr-FR" sz="3200"/>
          </a:p>
        </p:txBody>
      </p:sp>
      <p:sp>
        <p:nvSpPr>
          <p:cNvPr id="26" name="Text 24"/>
          <p:cNvSpPr/>
          <p:nvPr/>
        </p:nvSpPr>
        <p:spPr>
          <a:xfrm>
            <a:off x="692658" y="3586734"/>
            <a:ext cx="3775329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defTabSz="685800"/>
            <a:r>
              <a:rPr lang="en-US" sz="1050">
                <a:solidFill>
                  <a:srgbClr val="1A2332"/>
                </a:solidFill>
                <a:latin typeface="Calibri"/>
              </a:rPr>
              <a:t>Métadonnées des shortcuts OneLake</a:t>
            </a:r>
            <a:endParaRPr lang="en-US" sz="10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577715" y="3518154"/>
            <a:ext cx="3994785" cy="493776"/>
          </a:xfrm>
          <a:prstGeom prst="rect">
            <a:avLst/>
          </a:prstGeom>
          <a:solidFill>
            <a:srgbClr val="F8FAFC"/>
          </a:solidFill>
          <a:ln w="7620">
            <a:solidFill>
              <a:srgbClr val="E1E8EF"/>
            </a:solidFill>
            <a:prstDash val="solid"/>
          </a:ln>
        </p:spPr>
        <p:txBody>
          <a:bodyPr/>
          <a:lstStyle/>
          <a:p>
            <a:endParaRPr lang="fr-FR" sz="3200"/>
          </a:p>
        </p:txBody>
      </p:sp>
      <p:sp>
        <p:nvSpPr>
          <p:cNvPr id="28" name="Text 26"/>
          <p:cNvSpPr/>
          <p:nvPr/>
        </p:nvSpPr>
        <p:spPr>
          <a:xfrm>
            <a:off x="4687443" y="3586734"/>
            <a:ext cx="3775329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defTabSz="685800"/>
            <a:r>
              <a:rPr lang="en-US" sz="1050">
                <a:solidFill>
                  <a:srgbClr val="1A2332"/>
                </a:solidFill>
                <a:latin typeface="Calibri"/>
              </a:rPr>
              <a:t>État runtime : sessions, caches</a:t>
            </a:r>
            <a:endParaRPr lang="en-US" sz="10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308610" y="4924044"/>
            <a:ext cx="8538210" cy="0"/>
          </a:xfrm>
          <a:prstGeom prst="line">
            <a:avLst/>
          </a:prstGeom>
          <a:noFill/>
          <a:ln w="10160">
            <a:solidFill>
              <a:srgbClr val="DDE7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308610" y="4965192"/>
            <a:ext cx="432054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563">
                <a:solidFill>
                  <a:srgbClr val="64748B"/>
                </a:solidFill>
                <a:latin typeface="Calibri"/>
              </a:rPr>
              <a:t>Formation GitHub Copilot pour Microsoft Fabric  -  Expertime</a:t>
            </a:r>
            <a:endParaRPr lang="en-US" sz="563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8503920" y="4951476"/>
            <a:ext cx="30861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685800"/>
            <a:r>
              <a:rPr lang="en-US" sz="600">
                <a:solidFill>
                  <a:srgbClr val="64748B"/>
                </a:solidFill>
                <a:latin typeface="Calibri"/>
              </a:rPr>
              <a:t>07</a:t>
            </a:r>
            <a:endParaRPr lang="en-US" sz="600">
              <a:solidFill>
                <a:prstClr val="black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" y="0"/>
            <a:ext cx="9144000" cy="10972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08610" y="185000"/>
            <a:ext cx="13716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00" b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ETAPE 2</a:t>
            </a:r>
            <a:endParaRPr lang="en-US" sz="6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1371600" y="150000"/>
            <a:ext cx="7406640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300" b="1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Stratégie branches, workspaces et Pull Requests</a:t>
            </a:r>
            <a:endParaRPr lang="en-US" sz="13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14350" y="857250"/>
            <a:ext cx="1796796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514350" y="857250"/>
            <a:ext cx="61722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685800" y="980694"/>
            <a:ext cx="148818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defTabSz="685800"/>
            <a:r>
              <a:rPr lang="en-US" sz="1125" b="1">
                <a:solidFill>
                  <a:srgbClr val="065A82"/>
                </a:solidFill>
                <a:latin typeface="Calibri"/>
              </a:rPr>
              <a:t>feature/*</a:t>
            </a:r>
            <a:endParaRPr lang="en-US" sz="1125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Text 6"/>
          <p:cNvSpPr/>
          <p:nvPr/>
        </p:nvSpPr>
        <p:spPr>
          <a:xfrm>
            <a:off x="685800" y="1316736"/>
            <a:ext cx="1488186" cy="384048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defTabSz="685800"/>
            <a:r>
              <a:rPr lang="en-US" sz="863">
                <a:solidFill>
                  <a:srgbClr val="1A2332"/>
                </a:solidFill>
                <a:latin typeface="Calibri"/>
              </a:rPr>
              <a:t>Workspace bac à sable</a:t>
            </a:r>
            <a:endParaRPr lang="en-US" sz="863">
              <a:solidFill>
                <a:prstClr val="black"/>
              </a:solidFill>
              <a:latin typeface="Calibri"/>
            </a:endParaRPr>
          </a:p>
          <a:p>
            <a:pPr defTabSz="685800"/>
            <a:r>
              <a:rPr lang="en-US" sz="863">
                <a:solidFill>
                  <a:srgbClr val="1A2332"/>
                </a:solidFill>
                <a:latin typeface="Calibri"/>
              </a:rPr>
              <a:t>Git Sync bidirectionnel</a:t>
            </a:r>
            <a:endParaRPr lang="en-US" sz="863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297430" y="1165860"/>
            <a:ext cx="260604" cy="308610"/>
          </a:xfrm>
          <a:prstGeom prst="chevron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2606040" y="857250"/>
            <a:ext cx="1796796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2606040" y="857250"/>
            <a:ext cx="61722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2777490" y="980694"/>
            <a:ext cx="148818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defTabSz="685800"/>
            <a:r>
              <a:rPr lang="en-US" sz="1125" b="1">
                <a:solidFill>
                  <a:srgbClr val="065A82"/>
                </a:solidFill>
                <a:latin typeface="Calibri"/>
              </a:rPr>
              <a:t>dev</a:t>
            </a:r>
            <a:endParaRPr lang="en-US" sz="1125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777490" y="1316736"/>
            <a:ext cx="1488186" cy="384048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defTabSz="685800"/>
            <a:r>
              <a:rPr lang="en-US" sz="863">
                <a:solidFill>
                  <a:srgbClr val="1A2332"/>
                </a:solidFill>
                <a:latin typeface="Calibri"/>
              </a:rPr>
              <a:t>Workspace DEV</a:t>
            </a:r>
            <a:endParaRPr lang="en-US" sz="863">
              <a:solidFill>
                <a:prstClr val="black"/>
              </a:solidFill>
              <a:latin typeface="Calibri"/>
            </a:endParaRPr>
          </a:p>
          <a:p>
            <a:pPr defTabSz="685800"/>
            <a:r>
              <a:rPr lang="en-US" sz="863">
                <a:solidFill>
                  <a:srgbClr val="1A2332"/>
                </a:solidFill>
                <a:latin typeface="Calibri"/>
              </a:rPr>
              <a:t>Git Sync bidirectionnel</a:t>
            </a:r>
            <a:endParaRPr lang="en-US" sz="863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389120" y="1165860"/>
            <a:ext cx="260604" cy="308610"/>
          </a:xfrm>
          <a:prstGeom prst="chevron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4697730" y="857250"/>
            <a:ext cx="1796796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4697730" y="857250"/>
            <a:ext cx="61722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4869180" y="980694"/>
            <a:ext cx="148818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defTabSz="685800"/>
            <a:r>
              <a:rPr lang="en-US" sz="1125" b="1">
                <a:solidFill>
                  <a:srgbClr val="065A82"/>
                </a:solidFill>
                <a:latin typeface="Calibri"/>
              </a:rPr>
              <a:t>uat</a:t>
            </a:r>
            <a:endParaRPr lang="en-US" sz="1125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869180" y="1316736"/>
            <a:ext cx="1488186" cy="384048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defTabSz="685800"/>
            <a:r>
              <a:rPr lang="en-US" sz="863">
                <a:solidFill>
                  <a:srgbClr val="1A2332"/>
                </a:solidFill>
                <a:latin typeface="Calibri"/>
              </a:rPr>
              <a:t>Workspace UAT</a:t>
            </a:r>
            <a:endParaRPr lang="en-US" sz="863">
              <a:solidFill>
                <a:prstClr val="black"/>
              </a:solidFill>
              <a:latin typeface="Calibri"/>
            </a:endParaRPr>
          </a:p>
          <a:p>
            <a:pPr defTabSz="685800"/>
            <a:r>
              <a:rPr lang="en-US" sz="863">
                <a:solidFill>
                  <a:srgbClr val="1A2332"/>
                </a:solidFill>
                <a:latin typeface="Calibri"/>
              </a:rPr>
              <a:t>Déployé par pipeline</a:t>
            </a:r>
            <a:endParaRPr lang="en-US" sz="863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480810" y="1165860"/>
            <a:ext cx="260604" cy="308610"/>
          </a:xfrm>
          <a:prstGeom prst="chevron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6789420" y="857250"/>
            <a:ext cx="1796796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6789420" y="857250"/>
            <a:ext cx="61722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6960870" y="980694"/>
            <a:ext cx="148818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defTabSz="685800"/>
            <a:r>
              <a:rPr lang="en-US" sz="1125" b="1">
                <a:solidFill>
                  <a:srgbClr val="065A82"/>
                </a:solidFill>
                <a:latin typeface="Calibri"/>
              </a:rPr>
              <a:t>main</a:t>
            </a:r>
            <a:endParaRPr lang="en-US" sz="1125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960870" y="1316736"/>
            <a:ext cx="1488186" cy="384048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defTabSz="685800"/>
            <a:r>
              <a:rPr lang="en-US" sz="863">
                <a:solidFill>
                  <a:srgbClr val="1A2332"/>
                </a:solidFill>
                <a:latin typeface="Calibri"/>
              </a:rPr>
              <a:t>Workspace PROD</a:t>
            </a:r>
            <a:endParaRPr lang="en-US" sz="863">
              <a:solidFill>
                <a:prstClr val="black"/>
              </a:solidFill>
              <a:latin typeface="Calibri"/>
            </a:endParaRPr>
          </a:p>
          <a:p>
            <a:pPr defTabSz="685800"/>
            <a:r>
              <a:rPr lang="en-US" sz="863">
                <a:solidFill>
                  <a:srgbClr val="1A2332"/>
                </a:solidFill>
                <a:latin typeface="Calibri"/>
              </a:rPr>
              <a:t>Déployé par pipeline</a:t>
            </a:r>
            <a:endParaRPr lang="en-US" sz="863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2856357" y="2571750"/>
            <a:ext cx="380619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2856357" y="2571750"/>
            <a:ext cx="61722" cy="12344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3027807" y="2695194"/>
            <a:ext cx="349758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defTabSz="685800"/>
            <a:r>
              <a:rPr lang="en-US" sz="1125" b="1">
                <a:solidFill>
                  <a:srgbClr val="065A82"/>
                </a:solidFill>
                <a:latin typeface="Calibri"/>
              </a:rPr>
              <a:t>Règles d’équipe</a:t>
            </a:r>
            <a:endParaRPr lang="en-US" sz="1125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3027807" y="3031236"/>
            <a:ext cx="3497580" cy="658368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defTabSz="685800"/>
            <a:r>
              <a:rPr lang="en-US" sz="900">
                <a:solidFill>
                  <a:srgbClr val="1A2332"/>
                </a:solidFill>
                <a:latin typeface="Calibri"/>
              </a:rPr>
              <a:t>• PR obligatoire vers dev / main</a:t>
            </a:r>
            <a:endParaRPr lang="en-US" sz="900">
              <a:solidFill>
                <a:prstClr val="black"/>
              </a:solidFill>
              <a:latin typeface="Calibri"/>
            </a:endParaRPr>
          </a:p>
          <a:p>
            <a:pPr defTabSz="685800"/>
            <a:r>
              <a:rPr lang="en-US" sz="900">
                <a:solidFill>
                  <a:srgbClr val="1A2332"/>
                </a:solidFill>
                <a:latin typeface="Calibri"/>
              </a:rPr>
              <a:t>• Pas de commit direct</a:t>
            </a:r>
            <a:endParaRPr lang="en-US" sz="900">
              <a:solidFill>
                <a:prstClr val="black"/>
              </a:solidFill>
              <a:latin typeface="Calibri"/>
            </a:endParaRPr>
          </a:p>
          <a:p>
            <a:pPr defTabSz="685800"/>
            <a:r>
              <a:rPr lang="en-US" sz="900">
                <a:solidFill>
                  <a:srgbClr val="1A2332"/>
                </a:solidFill>
                <a:latin typeface="Calibri"/>
              </a:rPr>
              <a:t>• Squash merge pour un historique lisible</a:t>
            </a:r>
            <a:endParaRPr lang="en-US" sz="900">
              <a:solidFill>
                <a:prstClr val="black"/>
              </a:solidFill>
              <a:latin typeface="Calibri"/>
            </a:endParaRPr>
          </a:p>
          <a:p>
            <a:pPr defTabSz="685800"/>
            <a:r>
              <a:rPr lang="en-US" sz="900">
                <a:solidFill>
                  <a:srgbClr val="1A2332"/>
                </a:solidFill>
                <a:latin typeface="Calibri"/>
              </a:rPr>
              <a:t>• Revue ciblée sur le code généré par l’assistant</a:t>
            </a:r>
            <a:endParaRPr lang="en-US" sz="9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308610" y="4924044"/>
            <a:ext cx="8538210" cy="0"/>
          </a:xfrm>
          <a:prstGeom prst="line">
            <a:avLst/>
          </a:prstGeom>
          <a:noFill/>
          <a:ln w="10160">
            <a:solidFill>
              <a:srgbClr val="DDE7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308610" y="4965192"/>
            <a:ext cx="432054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563">
                <a:solidFill>
                  <a:srgbClr val="64748B"/>
                </a:solidFill>
                <a:latin typeface="Calibri"/>
              </a:rPr>
              <a:t>Formation GitHub Copilot pour Microsoft Fabric  -  Expertime</a:t>
            </a:r>
            <a:endParaRPr lang="en-US" sz="563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8503920" y="4951476"/>
            <a:ext cx="30861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685800"/>
            <a:r>
              <a:rPr lang="en-US" sz="600">
                <a:solidFill>
                  <a:srgbClr val="64748B"/>
                </a:solidFill>
                <a:latin typeface="Calibri"/>
              </a:rPr>
              <a:t>08</a:t>
            </a:r>
            <a:endParaRPr lang="en-US" sz="600">
              <a:solidFill>
                <a:prstClr val="black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29471a7fa0.png"/>
          <p:cNvPicPr>
            <a:picLocks noChangeAspect="1"/>
          </p:cNvPicPr>
          <p:nvPr/>
        </p:nvPicPr>
        <p:blipFill>
          <a:blip r:embed="rId3"/>
          <a:srcRect l="18978" r="18978"/>
          <a:stretch/>
        </p:blipFill>
        <p:spPr>
          <a:xfrm>
            <a:off x="4354830" y="0"/>
            <a:ext cx="4786884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354830" y="0"/>
            <a:ext cx="4786884" cy="5143500"/>
          </a:xfrm>
          <a:prstGeom prst="rect">
            <a:avLst/>
          </a:prstGeom>
          <a:solidFill>
            <a:srgbClr val="0B2545">
              <a:alpha val="60000"/>
            </a:srgbClr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4800600" cy="51435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445770" y="891540"/>
            <a:ext cx="20574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750" b="1" dirty="0">
                <a:solidFill>
                  <a:srgbClr val="7FA8C9"/>
                </a:solidFill>
                <a:latin typeface="Aptos"/>
              </a:rPr>
              <a:t>ETAPE 3</a:t>
            </a:r>
            <a:endParaRPr lang="en-US" sz="750" dirty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6" name="Text 3"/>
          <p:cNvSpPr/>
          <p:nvPr/>
        </p:nvSpPr>
        <p:spPr>
          <a:xfrm>
            <a:off x="445770" y="1220724"/>
            <a:ext cx="39776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defTabSz="685800"/>
            <a:r>
              <a:rPr lang="en-US" sz="25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Notebooks propres et versionnables</a:t>
            </a:r>
            <a:endParaRPr lang="en-US" sz="2550" dirty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7" name="Text 4"/>
          <p:cNvSpPr/>
          <p:nvPr/>
        </p:nvSpPr>
        <p:spPr>
          <a:xfrm>
            <a:off x="466344" y="2297430"/>
            <a:ext cx="370332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defTabSz="685800"/>
            <a:r>
              <a:rPr lang="en-US" sz="1200" dirty="0">
                <a:solidFill>
                  <a:srgbClr val="D6E4F0"/>
                </a:solidFill>
                <a:latin typeface="Aptos"/>
              </a:rPr>
              <a:t>Réduire les conflits de merge et sécuriser le passage d’un environnement à l’autre.</a:t>
            </a:r>
            <a:endParaRPr lang="en-US" sz="1200" dirty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66344" y="3223260"/>
            <a:ext cx="1508760" cy="0"/>
          </a:xfrm>
          <a:prstGeom prst="line">
            <a:avLst/>
          </a:prstGeom>
          <a:noFill/>
          <a:ln w="508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6"/>
          <p:cNvSpPr/>
          <p:nvPr/>
        </p:nvSpPr>
        <p:spPr>
          <a:xfrm>
            <a:off x="308610" y="4924044"/>
            <a:ext cx="8538210" cy="0"/>
          </a:xfrm>
          <a:prstGeom prst="line">
            <a:avLst/>
          </a:prstGeom>
          <a:noFill/>
          <a:ln w="10160">
            <a:solidFill>
              <a:srgbClr val="DDE7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308610" y="4965192"/>
            <a:ext cx="432054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563" dirty="0">
                <a:solidFill>
                  <a:srgbClr val="5B6B7B"/>
                </a:solidFill>
                <a:latin typeface="Aptos"/>
              </a:rPr>
              <a:t>Formation Data Engineers · Fabric · Copilot &amp; CI/CD</a:t>
            </a:r>
            <a:endParaRPr lang="en-US" sz="563" dirty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11" name="Text 8"/>
          <p:cNvSpPr/>
          <p:nvPr/>
        </p:nvSpPr>
        <p:spPr>
          <a:xfrm>
            <a:off x="8503920" y="4951476"/>
            <a:ext cx="30861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685800"/>
            <a:r>
              <a:rPr lang="en-US" sz="600" dirty="0">
                <a:solidFill>
                  <a:srgbClr val="5B6B7B"/>
                </a:solidFill>
                <a:latin typeface="Aptos"/>
              </a:rPr>
              <a:t>09</a:t>
            </a:r>
            <a:endParaRPr lang="en-US" sz="600" dirty="0">
              <a:solidFill>
                <a:prstClr val="black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" y="0"/>
            <a:ext cx="9144000" cy="10972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08610" y="185000"/>
            <a:ext cx="13716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00" b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ETAPE 3</a:t>
            </a:r>
            <a:endParaRPr lang="en-US" sz="6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1371600" y="150000"/>
            <a:ext cx="7406640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300" b="1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Checklist d’un notebook prêt à être commité</a:t>
            </a:r>
            <a:endParaRPr lang="en-US" sz="13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82930" y="788670"/>
            <a:ext cx="3806190" cy="740664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754380" y="973836"/>
            <a:ext cx="356616" cy="35661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754380" y="1008126"/>
            <a:ext cx="3566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975" b="1">
                <a:solidFill>
                  <a:srgbClr val="FFFFFF"/>
                </a:solidFill>
                <a:latin typeface="Calibri"/>
              </a:rPr>
              <a:t>✓</a:t>
            </a:r>
            <a:endParaRPr lang="en-US" sz="975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Text 6"/>
          <p:cNvSpPr/>
          <p:nvPr/>
        </p:nvSpPr>
        <p:spPr>
          <a:xfrm>
            <a:off x="1234440" y="980694"/>
            <a:ext cx="298323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defTabSz="685800"/>
            <a:r>
              <a:rPr lang="en-US" sz="1050" b="1">
                <a:solidFill>
                  <a:srgbClr val="1A2332"/>
                </a:solidFill>
                <a:latin typeface="Calibri"/>
              </a:rPr>
              <a:t>Vider les outputs avant chaque commit</a:t>
            </a:r>
            <a:endParaRPr lang="en-US" sz="10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834890" y="788670"/>
            <a:ext cx="3806190" cy="740664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5006340" y="973836"/>
            <a:ext cx="356616" cy="35661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5006340" y="1008126"/>
            <a:ext cx="3566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975" b="1">
                <a:solidFill>
                  <a:srgbClr val="FFFFFF"/>
                </a:solidFill>
                <a:latin typeface="Calibri"/>
              </a:rPr>
              <a:t>✓</a:t>
            </a:r>
            <a:endParaRPr lang="en-US" sz="975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486400" y="980694"/>
            <a:ext cx="298323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defTabSz="685800"/>
            <a:r>
              <a:rPr lang="en-US" sz="1050">
                <a:solidFill>
                  <a:srgbClr val="1A2332"/>
                </a:solidFill>
                <a:latin typeface="Calibri"/>
              </a:rPr>
              <a:t>Nommer les cellules et structurer en sections</a:t>
            </a:r>
            <a:endParaRPr lang="en-US" sz="10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82930" y="1851660"/>
            <a:ext cx="3806190" cy="740664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754380" y="2036826"/>
            <a:ext cx="356616" cy="35661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754380" y="2071116"/>
            <a:ext cx="3566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975" b="1">
                <a:solidFill>
                  <a:srgbClr val="FFFFFF"/>
                </a:solidFill>
                <a:latin typeface="Calibri"/>
              </a:rPr>
              <a:t>✓</a:t>
            </a:r>
            <a:endParaRPr lang="en-US" sz="975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234440" y="2043684"/>
            <a:ext cx="298323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defTabSz="685800"/>
            <a:r>
              <a:rPr lang="en-US" sz="1050">
                <a:solidFill>
                  <a:srgbClr val="1A2332"/>
                </a:solidFill>
                <a:latin typeface="Calibri"/>
              </a:rPr>
              <a:t>Une cellule = une étape logique</a:t>
            </a:r>
            <a:endParaRPr lang="en-US" sz="10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834890" y="1851660"/>
            <a:ext cx="3806190" cy="740664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5006340" y="2036826"/>
            <a:ext cx="356616" cy="35661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5006340" y="2071116"/>
            <a:ext cx="3566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975" b="1">
                <a:solidFill>
                  <a:srgbClr val="FFFFFF"/>
                </a:solidFill>
                <a:latin typeface="Calibri"/>
              </a:rPr>
              <a:t>✓</a:t>
            </a:r>
            <a:endParaRPr lang="en-US" sz="975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486400" y="2043684"/>
            <a:ext cx="298323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defTabSz="685800"/>
            <a:r>
              <a:rPr lang="en-US" sz="1050" b="1">
                <a:solidFill>
                  <a:srgbClr val="1A2332"/>
                </a:solidFill>
                <a:latin typeface="Calibri"/>
              </a:rPr>
              <a:t>Externaliser secrets et connexions</a:t>
            </a:r>
            <a:endParaRPr lang="en-US" sz="10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82930" y="2914650"/>
            <a:ext cx="3806190" cy="740664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754380" y="3099816"/>
            <a:ext cx="356616" cy="35661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754380" y="3134106"/>
            <a:ext cx="3566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975" b="1">
                <a:solidFill>
                  <a:srgbClr val="FFFFFF"/>
                </a:solidFill>
                <a:latin typeface="Calibri"/>
              </a:rPr>
              <a:t>✓</a:t>
            </a:r>
            <a:endParaRPr lang="en-US" sz="975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234440" y="3106674"/>
            <a:ext cx="298323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defTabSz="685800"/>
            <a:r>
              <a:rPr lang="en-US" sz="1050">
                <a:solidFill>
                  <a:srgbClr val="1A2332"/>
                </a:solidFill>
                <a:latin typeface="Calibri"/>
              </a:rPr>
              <a:t>Paramétrer le notebook plutôt que coder les chemins</a:t>
            </a:r>
            <a:endParaRPr lang="en-US" sz="10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834890" y="2914650"/>
            <a:ext cx="3806190" cy="740664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5006340" y="3099816"/>
            <a:ext cx="356616" cy="35661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5006340" y="3134106"/>
            <a:ext cx="3566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975" b="1">
                <a:solidFill>
                  <a:srgbClr val="FFFFFF"/>
                </a:solidFill>
                <a:latin typeface="Calibri"/>
              </a:rPr>
              <a:t>✓</a:t>
            </a:r>
            <a:endParaRPr lang="en-US" sz="975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486400" y="3106674"/>
            <a:ext cx="298323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defTabSz="685800"/>
            <a:r>
              <a:rPr lang="en-US" sz="1050">
                <a:solidFill>
                  <a:srgbClr val="1A2332"/>
                </a:solidFill>
                <a:latin typeface="Calibri"/>
              </a:rPr>
              <a:t>Relire le diff Git avant de pousser</a:t>
            </a:r>
            <a:endParaRPr lang="en-US" sz="10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82930" y="4114800"/>
            <a:ext cx="8058150" cy="51435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582930" y="4114800"/>
            <a:ext cx="61722" cy="51435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754380" y="4238244"/>
            <a:ext cx="77495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defTabSz="685800"/>
            <a:r>
              <a:rPr lang="en-US" sz="1125" b="1">
                <a:solidFill>
                  <a:srgbClr val="065A82"/>
                </a:solidFill>
                <a:latin typeface="Calibri"/>
              </a:rPr>
              <a:t>Pourquoi ?</a:t>
            </a:r>
            <a:endParaRPr lang="en-US" sz="1125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742950" y="4464558"/>
            <a:ext cx="7749540" cy="178308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defTabSz="685800"/>
            <a:r>
              <a:rPr lang="en-US" sz="938">
                <a:solidFill>
                  <a:srgbClr val="1A2332"/>
                </a:solidFill>
                <a:latin typeface="Calibri"/>
              </a:rPr>
              <a:t>Un notebook avec outputs et chemins codés en dur produit des diffs illisibles, des conflits de merge et casse au déploiement entre environnements.</a:t>
            </a:r>
            <a:endParaRPr lang="en-US" sz="938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308610" y="4924044"/>
            <a:ext cx="8538210" cy="0"/>
          </a:xfrm>
          <a:prstGeom prst="line">
            <a:avLst/>
          </a:prstGeom>
          <a:noFill/>
          <a:ln w="10160">
            <a:solidFill>
              <a:srgbClr val="DDE7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308610" y="4965192"/>
            <a:ext cx="432054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563">
                <a:solidFill>
                  <a:srgbClr val="64748B"/>
                </a:solidFill>
                <a:latin typeface="Calibri"/>
              </a:rPr>
              <a:t>Formation GitHub Copilot pour Microsoft Fabric  -  Expertime</a:t>
            </a:r>
            <a:endParaRPr lang="en-US" sz="563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8503920" y="4951476"/>
            <a:ext cx="30861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685800"/>
            <a:r>
              <a:rPr lang="en-US" sz="600">
                <a:solidFill>
                  <a:srgbClr val="64748B"/>
                </a:solidFill>
                <a:latin typeface="Calibri"/>
              </a:rPr>
              <a:t>10</a:t>
            </a:r>
            <a:endParaRPr lang="en-US" sz="600">
              <a:solidFill>
                <a:prstClr val="black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" y="0"/>
            <a:ext cx="9144000" cy="10972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08610" y="185000"/>
            <a:ext cx="13716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00" b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ETAPE 3</a:t>
            </a:r>
            <a:endParaRPr lang="en-US" sz="6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1371600" y="150000"/>
            <a:ext cx="7406640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300" b="1" err="1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Assainir</a:t>
            </a:r>
            <a:r>
              <a:rPr lang="en-US" sz="1300" b="1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un notebook « sale »</a:t>
            </a:r>
            <a:endParaRPr lang="en-US" sz="13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720090"/>
            <a:ext cx="2537460" cy="99441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548640" y="720090"/>
            <a:ext cx="61722" cy="99441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720090" y="843534"/>
            <a:ext cx="222885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defTabSz="685800"/>
            <a:r>
              <a:rPr lang="en-US" sz="1125" b="1">
                <a:solidFill>
                  <a:srgbClr val="065A82"/>
                </a:solidFill>
                <a:latin typeface="Calibri"/>
              </a:rPr>
              <a:t>Point de départ</a:t>
            </a:r>
            <a:endParaRPr lang="en-US" sz="1125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Text 6"/>
          <p:cNvSpPr/>
          <p:nvPr/>
        </p:nvSpPr>
        <p:spPr>
          <a:xfrm>
            <a:off x="720090" y="1179576"/>
            <a:ext cx="2228850" cy="418338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defTabSz="685800"/>
            <a:r>
              <a:rPr lang="en-US" sz="863">
                <a:solidFill>
                  <a:srgbClr val="1A2332"/>
                </a:solidFill>
                <a:latin typeface="Calibri"/>
              </a:rPr>
              <a:t>Notebook fourni avec outputs présents, chemin Lakehouse codé en dur et cellules fourre-tout.</a:t>
            </a:r>
            <a:endParaRPr lang="en-US" sz="863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291840" y="720090"/>
            <a:ext cx="2674620" cy="99441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291840" y="720090"/>
            <a:ext cx="61722" cy="99441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3463290" y="843534"/>
            <a:ext cx="236601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defTabSz="685800"/>
            <a:r>
              <a:rPr lang="en-US" sz="1125" b="1">
                <a:solidFill>
                  <a:srgbClr val="065A82"/>
                </a:solidFill>
                <a:latin typeface="Calibri"/>
              </a:rPr>
              <a:t>Actions à réaliser</a:t>
            </a:r>
            <a:endParaRPr lang="en-US" sz="1125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463290" y="1179576"/>
            <a:ext cx="2366010" cy="418338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defTabSz="685800"/>
            <a:r>
              <a:rPr lang="en-US" sz="848">
                <a:solidFill>
                  <a:srgbClr val="1A2332"/>
                </a:solidFill>
                <a:latin typeface="Calibri"/>
              </a:rPr>
              <a:t>Vider les outputs, découper les cellules, remplacer le chemin en dur par un paramètre widget, générer un en-tête de documentation avec l’assistant.</a:t>
            </a:r>
            <a:endParaRPr lang="en-US" sz="848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172200" y="720090"/>
            <a:ext cx="2297430" cy="99441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6172200" y="720090"/>
            <a:ext cx="61722" cy="99441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6343650" y="843534"/>
            <a:ext cx="198882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defTabSz="685800"/>
            <a:r>
              <a:rPr lang="en-US" sz="1125" b="1">
                <a:solidFill>
                  <a:srgbClr val="065A82"/>
                </a:solidFill>
                <a:latin typeface="Calibri"/>
              </a:rPr>
              <a:t>Validation</a:t>
            </a:r>
            <a:endParaRPr lang="en-US" sz="1125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343650" y="1179576"/>
            <a:ext cx="1988820" cy="418338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defTabSz="685800"/>
            <a:r>
              <a:rPr lang="en-US" sz="885">
                <a:solidFill>
                  <a:srgbClr val="1A2332"/>
                </a:solidFill>
                <a:latin typeface="Calibri"/>
              </a:rPr>
              <a:t>Commiter et comparer le diff avant / après.</a:t>
            </a:r>
            <a:endParaRPr lang="en-US" sz="885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54380" y="2297430"/>
            <a:ext cx="3291840" cy="1234440"/>
          </a:xfrm>
          <a:prstGeom prst="roundRect">
            <a:avLst>
              <a:gd name="adj" fmla="val 3333"/>
            </a:avLst>
          </a:prstGeom>
          <a:solidFill>
            <a:srgbClr val="FFF5F3"/>
          </a:solidFill>
          <a:ln w="12700">
            <a:solidFill>
              <a:srgbClr val="F3C4B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925830" y="2455164"/>
            <a:ext cx="7543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750" b="1">
                <a:solidFill>
                  <a:srgbClr val="B85042"/>
                </a:solidFill>
                <a:latin typeface="Calibri"/>
              </a:rPr>
              <a:t>AVANT</a:t>
            </a:r>
            <a:endParaRPr lang="en-US" sz="7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25830" y="2708910"/>
            <a:ext cx="291465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defTabSz="685800"/>
            <a:r>
              <a:rPr lang="en-US" sz="975">
                <a:solidFill>
                  <a:srgbClr val="1A2332"/>
                </a:solidFill>
                <a:latin typeface="Calibri"/>
              </a:rPr>
              <a:t>Outputs + chemins en dur + cellules monolithiques</a:t>
            </a:r>
            <a:endParaRPr lang="en-US" sz="975">
              <a:solidFill>
                <a:prstClr val="black"/>
              </a:solidFill>
              <a:latin typeface="Calibri"/>
            </a:endParaRPr>
          </a:p>
          <a:p>
            <a:pPr defTabSz="685800"/>
            <a:r>
              <a:rPr lang="en-US" sz="975">
                <a:solidFill>
                  <a:srgbClr val="1A2332"/>
                </a:solidFill>
                <a:latin typeface="Calibri"/>
              </a:rPr>
              <a:t>→ diff long, bruité, fragile</a:t>
            </a:r>
            <a:endParaRPr lang="en-US" sz="975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217670" y="2688336"/>
            <a:ext cx="514350" cy="445770"/>
          </a:xfrm>
          <a:prstGeom prst="chevron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4869180" y="2297430"/>
            <a:ext cx="3291840" cy="1234440"/>
          </a:xfrm>
          <a:prstGeom prst="roundRect">
            <a:avLst>
              <a:gd name="adj" fmla="val 3333"/>
            </a:avLst>
          </a:prstGeom>
          <a:solidFill>
            <a:srgbClr val="F0FFF6"/>
          </a:solidFill>
          <a:ln w="12700">
            <a:solidFill>
              <a:srgbClr val="BFE8C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5040630" y="2455164"/>
            <a:ext cx="7543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750" b="1">
                <a:solidFill>
                  <a:srgbClr val="2F855A"/>
                </a:solidFill>
                <a:latin typeface="Calibri"/>
              </a:rPr>
              <a:t>APRÈS</a:t>
            </a:r>
            <a:endParaRPr lang="en-US" sz="7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040630" y="2708910"/>
            <a:ext cx="291465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defTabSz="685800"/>
            <a:r>
              <a:rPr lang="en-US" sz="975">
                <a:solidFill>
                  <a:srgbClr val="1A2332"/>
                </a:solidFill>
                <a:latin typeface="Calibri"/>
              </a:rPr>
              <a:t>Diff court et lisible, aucun secret, aucun chemin en dur</a:t>
            </a:r>
            <a:endParaRPr lang="en-US" sz="975">
              <a:solidFill>
                <a:prstClr val="black"/>
              </a:solidFill>
              <a:latin typeface="Calibri"/>
            </a:endParaRPr>
          </a:p>
          <a:p>
            <a:pPr defTabSz="685800"/>
            <a:r>
              <a:rPr lang="en-US" sz="975">
                <a:solidFill>
                  <a:srgbClr val="1A2332"/>
                </a:solidFill>
                <a:latin typeface="Calibri"/>
              </a:rPr>
              <a:t>→ notebook paramétré par environnement</a:t>
            </a:r>
            <a:endParaRPr lang="en-US" sz="975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08610" y="4924044"/>
            <a:ext cx="8538210" cy="0"/>
          </a:xfrm>
          <a:prstGeom prst="line">
            <a:avLst/>
          </a:prstGeom>
          <a:noFill/>
          <a:ln w="10160">
            <a:solidFill>
              <a:srgbClr val="DDE7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308610" y="4965192"/>
            <a:ext cx="432054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563">
                <a:solidFill>
                  <a:srgbClr val="64748B"/>
                </a:solidFill>
                <a:latin typeface="Calibri"/>
              </a:rPr>
              <a:t>Formation GitHub Copilot pour Microsoft Fabric  -  Expertime</a:t>
            </a:r>
            <a:endParaRPr lang="en-US" sz="563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8503920" y="4951476"/>
            <a:ext cx="30861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685800"/>
            <a:r>
              <a:rPr lang="en-US" sz="600">
                <a:solidFill>
                  <a:srgbClr val="64748B"/>
                </a:solidFill>
                <a:latin typeface="Calibri"/>
              </a:rPr>
              <a:t>11</a:t>
            </a:r>
            <a:endParaRPr lang="en-US" sz="600">
              <a:solidFill>
                <a:prstClr val="black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6a59851e89.png"/>
          <p:cNvPicPr>
            <a:picLocks noChangeAspect="1"/>
          </p:cNvPicPr>
          <p:nvPr/>
        </p:nvPicPr>
        <p:blipFill>
          <a:blip r:embed="rId3"/>
          <a:srcRect l="18978" r="18978"/>
          <a:stretch/>
        </p:blipFill>
        <p:spPr>
          <a:xfrm>
            <a:off x="4354830" y="0"/>
            <a:ext cx="4786884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354830" y="0"/>
            <a:ext cx="4786884" cy="5143500"/>
          </a:xfrm>
          <a:prstGeom prst="rect">
            <a:avLst/>
          </a:prstGeom>
          <a:solidFill>
            <a:srgbClr val="0B2545">
              <a:alpha val="60000"/>
            </a:srgbClr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4800600" cy="51435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445770" y="891540"/>
            <a:ext cx="20574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750" b="1" dirty="0">
                <a:solidFill>
                  <a:srgbClr val="7FA8C9"/>
                </a:solidFill>
                <a:latin typeface="Aptos"/>
              </a:rPr>
              <a:t>ETAPE 4</a:t>
            </a:r>
            <a:endParaRPr lang="en-US" sz="750" dirty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6" name="Text 3"/>
          <p:cNvSpPr/>
          <p:nvPr/>
        </p:nvSpPr>
        <p:spPr>
          <a:xfrm>
            <a:off x="445770" y="1220724"/>
            <a:ext cx="39776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defTabSz="685800"/>
            <a:r>
              <a:rPr lang="en-US" sz="25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CI/CD </a:t>
            </a:r>
            <a:r>
              <a:rPr lang="en-US" sz="2550" b="1" dirty="0" err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pilotée</a:t>
            </a:r>
            <a:r>
              <a:rPr lang="en-US" sz="25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par code</a:t>
            </a:r>
            <a:endParaRPr lang="en-US" sz="2550" dirty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7" name="Text 4"/>
          <p:cNvSpPr/>
          <p:nvPr/>
        </p:nvSpPr>
        <p:spPr>
          <a:xfrm>
            <a:off x="466344" y="2297430"/>
            <a:ext cx="370332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defTabSz="685800"/>
            <a:r>
              <a:rPr lang="en-US" sz="1200" dirty="0">
                <a:solidFill>
                  <a:srgbClr val="D6E4F0"/>
                </a:solidFill>
                <a:latin typeface="Aptos"/>
              </a:rPr>
              <a:t>Industrialiser les déploiements Fabric avec fabric-cicd, GitHub Actions ou Azure DevOps.</a:t>
            </a:r>
            <a:endParaRPr lang="en-US" sz="1200" dirty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66344" y="3223260"/>
            <a:ext cx="1508760" cy="0"/>
          </a:xfrm>
          <a:prstGeom prst="line">
            <a:avLst/>
          </a:prstGeom>
          <a:noFill/>
          <a:ln w="508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6"/>
          <p:cNvSpPr/>
          <p:nvPr/>
        </p:nvSpPr>
        <p:spPr>
          <a:xfrm>
            <a:off x="308610" y="4924044"/>
            <a:ext cx="8538210" cy="0"/>
          </a:xfrm>
          <a:prstGeom prst="line">
            <a:avLst/>
          </a:prstGeom>
          <a:noFill/>
          <a:ln w="10160">
            <a:solidFill>
              <a:srgbClr val="DDE7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308610" y="4965192"/>
            <a:ext cx="432054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563" dirty="0">
                <a:solidFill>
                  <a:srgbClr val="5B6B7B"/>
                </a:solidFill>
                <a:latin typeface="Aptos"/>
              </a:rPr>
              <a:t>Formation Data Engineers · Fabric · Copilot &amp; CI/CD</a:t>
            </a:r>
            <a:endParaRPr lang="en-US" sz="563" dirty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11" name="Text 8"/>
          <p:cNvSpPr/>
          <p:nvPr/>
        </p:nvSpPr>
        <p:spPr>
          <a:xfrm>
            <a:off x="8503920" y="4951476"/>
            <a:ext cx="30861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685800"/>
            <a:r>
              <a:rPr lang="en-US" sz="600" dirty="0">
                <a:solidFill>
                  <a:srgbClr val="5B6B7B"/>
                </a:solidFill>
                <a:latin typeface="Aptos"/>
              </a:rPr>
              <a:t>12</a:t>
            </a:r>
            <a:endParaRPr lang="en-US" sz="600" dirty="0">
              <a:solidFill>
                <a:prstClr val="black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" y="0"/>
            <a:ext cx="9144000" cy="10972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3" name="Text 1"/>
          <p:cNvSpPr/>
          <p:nvPr/>
        </p:nvSpPr>
        <p:spPr>
          <a:xfrm>
            <a:off x="308610" y="185000"/>
            <a:ext cx="13716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00" b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ETAPE 4</a:t>
            </a:r>
            <a:endParaRPr lang="en-US" sz="6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1371600" y="150000"/>
            <a:ext cx="7406640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300" b="1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Briques nécessaires pour un déploiement code-first</a:t>
            </a:r>
            <a:endParaRPr lang="en-US" sz="13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82930" y="550926"/>
            <a:ext cx="3806190" cy="85725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582930" y="550926"/>
            <a:ext cx="61722" cy="85725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754380" y="674370"/>
            <a:ext cx="349758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defTabSz="685800"/>
            <a:r>
              <a:rPr lang="en-US" sz="1125" b="1">
                <a:solidFill>
                  <a:srgbClr val="065A82"/>
                </a:solidFill>
                <a:latin typeface="Calibri"/>
              </a:rPr>
              <a:t>fabric-cicd</a:t>
            </a:r>
            <a:endParaRPr lang="en-US" sz="1125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Text 6"/>
          <p:cNvSpPr/>
          <p:nvPr/>
        </p:nvSpPr>
        <p:spPr>
          <a:xfrm>
            <a:off x="754380" y="1010412"/>
            <a:ext cx="3497580" cy="281178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defTabSz="685800"/>
            <a:r>
              <a:rPr lang="en-US" sz="900">
                <a:solidFill>
                  <a:srgbClr val="1A2332"/>
                </a:solidFill>
                <a:latin typeface="Calibri"/>
              </a:rPr>
              <a:t>publish_all_items() déploie le dépôt vers un workspace cible</a:t>
            </a:r>
            <a:endParaRPr lang="en-US" sz="9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82930" y="2676906"/>
            <a:ext cx="3806190" cy="85725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582930" y="2676906"/>
            <a:ext cx="61722" cy="85725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754380" y="2800350"/>
            <a:ext cx="349758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defTabSz="685800"/>
            <a:r>
              <a:rPr lang="en-US" sz="1125" b="1">
                <a:solidFill>
                  <a:srgbClr val="065A82"/>
                </a:solidFill>
                <a:latin typeface="Calibri"/>
              </a:rPr>
              <a:t>parameter.yml</a:t>
            </a:r>
            <a:endParaRPr lang="en-US" sz="1125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54380" y="3136392"/>
            <a:ext cx="3497580" cy="281178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defTabSz="685800"/>
            <a:r>
              <a:rPr lang="en-US" sz="900">
                <a:solidFill>
                  <a:srgbClr val="1A2332"/>
                </a:solidFill>
                <a:latin typeface="Calibri"/>
              </a:rPr>
              <a:t>Remplace GUID / connexions par environnement</a:t>
            </a:r>
            <a:endParaRPr lang="en-US" sz="9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82930" y="1602486"/>
            <a:ext cx="3806190" cy="85725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582930" y="1602486"/>
            <a:ext cx="61722" cy="85725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754380" y="1725930"/>
            <a:ext cx="349758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defTabSz="685800"/>
            <a:r>
              <a:rPr lang="en-US" sz="1125" b="1">
                <a:solidFill>
                  <a:srgbClr val="065A82"/>
                </a:solidFill>
                <a:latin typeface="Calibri"/>
              </a:rPr>
              <a:t>Variable Libraries</a:t>
            </a:r>
            <a:endParaRPr lang="en-US" sz="1125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54380" y="2061972"/>
            <a:ext cx="3497580" cy="281178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defTabSz="685800"/>
            <a:r>
              <a:rPr lang="en-US" sz="900">
                <a:solidFill>
                  <a:srgbClr val="1A2332"/>
                </a:solidFill>
                <a:latin typeface="Calibri"/>
              </a:rPr>
              <a:t>Paramétrage runtime : Notebooks, Pipelines, Dataflows</a:t>
            </a:r>
            <a:endParaRPr lang="en-US" sz="9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82930" y="3743706"/>
            <a:ext cx="3806190" cy="85725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582930" y="3743706"/>
            <a:ext cx="61722" cy="85725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754380" y="3867150"/>
            <a:ext cx="349758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defTabSz="685800"/>
            <a:r>
              <a:rPr lang="en-US" sz="1125" b="1">
                <a:solidFill>
                  <a:srgbClr val="065A82"/>
                </a:solidFill>
                <a:latin typeface="Calibri"/>
              </a:rPr>
              <a:t>Service Principal + Key Vault</a:t>
            </a:r>
            <a:endParaRPr lang="en-US" sz="1125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54380" y="4203192"/>
            <a:ext cx="3497580" cy="281178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defTabSz="685800"/>
            <a:r>
              <a:rPr lang="en-US" sz="900">
                <a:solidFill>
                  <a:srgbClr val="1A2332"/>
                </a:solidFill>
                <a:latin typeface="Calibri"/>
              </a:rPr>
              <a:t>Authentification sécurisée à l’API Fabric</a:t>
            </a:r>
            <a:endParaRPr lang="en-US" sz="9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08610" y="4924044"/>
            <a:ext cx="8538210" cy="0"/>
          </a:xfrm>
          <a:prstGeom prst="line">
            <a:avLst/>
          </a:prstGeom>
          <a:noFill/>
          <a:ln w="10160">
            <a:solidFill>
              <a:srgbClr val="DDE7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194310" y="4959096"/>
            <a:ext cx="432054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563">
                <a:solidFill>
                  <a:srgbClr val="64748B"/>
                </a:solidFill>
                <a:latin typeface="Calibri"/>
              </a:rPr>
              <a:t>Formation GitHub Copilot pour Microsoft Fabric  -  Expertime</a:t>
            </a:r>
            <a:endParaRPr lang="en-US" sz="563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503920" y="4951476"/>
            <a:ext cx="30861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685800"/>
            <a:r>
              <a:rPr lang="en-US" sz="600">
                <a:solidFill>
                  <a:srgbClr val="64748B"/>
                </a:solidFill>
                <a:latin typeface="Calibri"/>
              </a:rPr>
              <a:t>13</a:t>
            </a:r>
            <a:endParaRPr lang="en-US" sz="60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29" name="Image 28">
            <a:extLst>
              <a:ext uri="{FF2B5EF4-FFF2-40B4-BE49-F238E27FC236}">
                <a16:creationId xmlns:a16="http://schemas.microsoft.com/office/drawing/2014/main" id="{5CF38442-A772-FB1F-A803-1BC9F8D200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2252" y="1253490"/>
            <a:ext cx="4035988" cy="29507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" y="0"/>
            <a:ext cx="9143771" cy="356616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08610" y="89154"/>
            <a:ext cx="13716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00" b="1" dirty="0">
                <a:solidFill>
                  <a:srgbClr val="7FA8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7</a:t>
            </a:r>
            <a:endParaRPr lang="en-US" sz="600" dirty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4" name="Text 2"/>
          <p:cNvSpPr/>
          <p:nvPr/>
        </p:nvSpPr>
        <p:spPr>
          <a:xfrm>
            <a:off x="1371600" y="61722"/>
            <a:ext cx="7406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75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Exemples de script de déploiement et de parameter.yml</a:t>
            </a:r>
            <a:endParaRPr lang="en-US" sz="975" dirty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80060" y="720090"/>
            <a:ext cx="4183380" cy="3429000"/>
          </a:xfrm>
          <a:prstGeom prst="roundRect">
            <a:avLst>
              <a:gd name="adj" fmla="val 1200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603504" y="829818"/>
            <a:ext cx="394335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00" dirty="0">
                <a:solidFill>
                  <a:srgbClr val="7FA8C9"/>
                </a:solidFill>
                <a:latin typeface="Aptos"/>
              </a:rPr>
              <a:t>deploy.py</a:t>
            </a:r>
            <a:endParaRPr lang="en-US" sz="600" dirty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7" name="Text 5"/>
          <p:cNvSpPr/>
          <p:nvPr/>
        </p:nvSpPr>
        <p:spPr>
          <a:xfrm>
            <a:off x="603504" y="1021842"/>
            <a:ext cx="3943350" cy="3044952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defTabSz="685800"/>
            <a:r>
              <a:rPr lang="en-US" sz="638" dirty="0">
                <a:solidFill>
                  <a:srgbClr val="D6E4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from azure.identity import AzureCliCredential</a:t>
            </a:r>
            <a:endParaRPr lang="en-US" sz="638" dirty="0">
              <a:solidFill>
                <a:prstClr val="black"/>
              </a:solidFill>
              <a:latin typeface="Aptos"/>
            </a:endParaRPr>
          </a:p>
          <a:p>
            <a:pPr defTabSz="685800"/>
            <a:r>
              <a:rPr lang="en-US" sz="638" dirty="0">
                <a:solidFill>
                  <a:srgbClr val="D6E4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from fabric_cicd import FabricWorkspace, publish_all_items</a:t>
            </a:r>
            <a:endParaRPr lang="en-US" sz="638" dirty="0">
              <a:solidFill>
                <a:prstClr val="black"/>
              </a:solidFill>
              <a:latin typeface="Aptos"/>
            </a:endParaRPr>
          </a:p>
          <a:p>
            <a:pPr defTabSz="685800"/>
            <a:endParaRPr lang="en-US" sz="638" dirty="0">
              <a:solidFill>
                <a:prstClr val="black"/>
              </a:solidFill>
              <a:latin typeface="Aptos"/>
            </a:endParaRPr>
          </a:p>
          <a:p>
            <a:pPr defTabSz="685800"/>
            <a:r>
              <a:rPr lang="en-US" sz="638" dirty="0">
                <a:solidFill>
                  <a:srgbClr val="D6E4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ws = FabricWorkspace(</a:t>
            </a:r>
            <a:endParaRPr lang="en-US" sz="638" dirty="0">
              <a:solidFill>
                <a:prstClr val="black"/>
              </a:solidFill>
              <a:latin typeface="Aptos"/>
            </a:endParaRPr>
          </a:p>
          <a:p>
            <a:pPr defTabSz="685800"/>
            <a:r>
              <a:rPr lang="en-US" sz="638" dirty="0">
                <a:solidFill>
                  <a:srgbClr val="D6E4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workspace_id="&lt;workspace-id&gt;",</a:t>
            </a:r>
            <a:endParaRPr lang="en-US" sz="638" dirty="0">
              <a:solidFill>
                <a:prstClr val="black"/>
              </a:solidFill>
              <a:latin typeface="Aptos"/>
            </a:endParaRPr>
          </a:p>
          <a:p>
            <a:pPr defTabSz="685800"/>
            <a:r>
              <a:rPr lang="en-US" sz="638" dirty="0">
                <a:solidFill>
                  <a:srgbClr val="D6E4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environment="PROD",</a:t>
            </a:r>
            <a:endParaRPr lang="en-US" sz="638" dirty="0">
              <a:solidFill>
                <a:prstClr val="black"/>
              </a:solidFill>
              <a:latin typeface="Aptos"/>
            </a:endParaRPr>
          </a:p>
          <a:p>
            <a:pPr defTabSz="685800"/>
            <a:r>
              <a:rPr lang="en-US" sz="638" dirty="0">
                <a:solidFill>
                  <a:srgbClr val="D6E4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repository_directory="./workspace",</a:t>
            </a:r>
            <a:endParaRPr lang="en-US" sz="638" dirty="0">
              <a:solidFill>
                <a:prstClr val="black"/>
              </a:solidFill>
              <a:latin typeface="Aptos"/>
            </a:endParaRPr>
          </a:p>
          <a:p>
            <a:pPr defTabSz="685800"/>
            <a:r>
              <a:rPr lang="en-US" sz="638" dirty="0">
                <a:solidFill>
                  <a:srgbClr val="D6E4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item_type_in_scope=["Notebook", "DataPipeline", "Environment"],</a:t>
            </a:r>
            <a:endParaRPr lang="en-US" sz="638" dirty="0">
              <a:solidFill>
                <a:prstClr val="black"/>
              </a:solidFill>
              <a:latin typeface="Aptos"/>
            </a:endParaRPr>
          </a:p>
          <a:p>
            <a:pPr defTabSz="685800"/>
            <a:r>
              <a:rPr lang="en-US" sz="638" dirty="0">
                <a:solidFill>
                  <a:srgbClr val="D6E4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token_credential=AzureCliCredential(),</a:t>
            </a:r>
            <a:endParaRPr lang="en-US" sz="638" dirty="0">
              <a:solidFill>
                <a:prstClr val="black"/>
              </a:solidFill>
              <a:latin typeface="Aptos"/>
            </a:endParaRPr>
          </a:p>
          <a:p>
            <a:pPr defTabSz="685800"/>
            <a:r>
              <a:rPr lang="en-US" sz="638" dirty="0">
                <a:solidFill>
                  <a:srgbClr val="D6E4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)</a:t>
            </a:r>
            <a:endParaRPr lang="en-US" sz="638" dirty="0">
              <a:solidFill>
                <a:prstClr val="black"/>
              </a:solidFill>
              <a:latin typeface="Aptos"/>
            </a:endParaRPr>
          </a:p>
          <a:p>
            <a:pPr defTabSz="685800"/>
            <a:r>
              <a:rPr lang="en-US" sz="638" dirty="0">
                <a:solidFill>
                  <a:srgbClr val="D6E4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publish_all_items(ws)</a:t>
            </a:r>
            <a:endParaRPr lang="en-US" sz="638" dirty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834890" y="720090"/>
            <a:ext cx="3840480" cy="1645920"/>
          </a:xfrm>
          <a:prstGeom prst="roundRect">
            <a:avLst>
              <a:gd name="adj" fmla="val 2500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958334" y="829818"/>
            <a:ext cx="360045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00" dirty="0">
                <a:solidFill>
                  <a:srgbClr val="7FA8C9"/>
                </a:solidFill>
                <a:latin typeface="Aptos"/>
              </a:rPr>
              <a:t>parameter.yml</a:t>
            </a:r>
            <a:endParaRPr lang="en-US" sz="600" dirty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958334" y="1021842"/>
            <a:ext cx="3600450" cy="1261872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defTabSz="685800"/>
            <a:r>
              <a:rPr lang="en-US" sz="638" dirty="0">
                <a:solidFill>
                  <a:srgbClr val="D6E4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find_replace:</a:t>
            </a:r>
            <a:endParaRPr lang="en-US" sz="638" dirty="0">
              <a:solidFill>
                <a:prstClr val="black"/>
              </a:solidFill>
              <a:latin typeface="Aptos"/>
            </a:endParaRPr>
          </a:p>
          <a:p>
            <a:pPr defTabSz="685800"/>
            <a:r>
              <a:rPr lang="en-US" sz="638" dirty="0">
                <a:solidFill>
                  <a:srgbClr val="D6E4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- find_value: "&lt;dev-lakehouse-guid&gt;"</a:t>
            </a:r>
            <a:endParaRPr lang="en-US" sz="638" dirty="0">
              <a:solidFill>
                <a:prstClr val="black"/>
              </a:solidFill>
              <a:latin typeface="Aptos"/>
            </a:endParaRPr>
          </a:p>
          <a:p>
            <a:pPr defTabSz="685800"/>
            <a:r>
              <a:rPr lang="en-US" sz="638" dirty="0">
                <a:solidFill>
                  <a:srgbClr val="D6E4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replace_value:</a:t>
            </a:r>
            <a:endParaRPr lang="en-US" sz="638" dirty="0">
              <a:solidFill>
                <a:prstClr val="black"/>
              </a:solidFill>
              <a:latin typeface="Aptos"/>
            </a:endParaRPr>
          </a:p>
          <a:p>
            <a:pPr defTabSz="685800"/>
            <a:r>
              <a:rPr lang="en-US" sz="638" dirty="0">
                <a:solidFill>
                  <a:srgbClr val="D6E4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TEST: "&lt;test-lakehouse-guid&gt;"</a:t>
            </a:r>
            <a:endParaRPr lang="en-US" sz="638" dirty="0">
              <a:solidFill>
                <a:prstClr val="black"/>
              </a:solidFill>
              <a:latin typeface="Aptos"/>
            </a:endParaRPr>
          </a:p>
          <a:p>
            <a:pPr defTabSz="685800"/>
            <a:r>
              <a:rPr lang="en-US" sz="638" dirty="0">
                <a:solidFill>
                  <a:srgbClr val="D6E4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PROD: "&lt;prod-lakehouse-guid&gt;"</a:t>
            </a:r>
            <a:endParaRPr lang="en-US" sz="638" dirty="0">
              <a:solidFill>
                <a:prstClr val="black"/>
              </a:solidFill>
              <a:latin typeface="Aptos"/>
            </a:endParaRPr>
          </a:p>
          <a:p>
            <a:pPr defTabSz="685800"/>
            <a:r>
              <a:rPr lang="en-US" sz="638" dirty="0">
                <a:solidFill>
                  <a:srgbClr val="D6E4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item_type: "Notebook"</a:t>
            </a:r>
            <a:endParaRPr lang="en-US" sz="638" dirty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834890" y="2640330"/>
            <a:ext cx="3840480" cy="106299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4834890" y="2640330"/>
            <a:ext cx="61722" cy="106299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5006340" y="2763774"/>
            <a:ext cx="353187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defTabSz="685800"/>
            <a:r>
              <a:rPr lang="en-US" sz="1125" b="1" dirty="0">
                <a:solidFill>
                  <a:srgbClr val="0B2545"/>
                </a:solidFill>
                <a:latin typeface="Aptos"/>
              </a:rPr>
              <a:t>Exercice 7.1 — Dev → Test</a:t>
            </a:r>
            <a:endParaRPr lang="en-US" sz="1125" dirty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006340" y="3099816"/>
            <a:ext cx="3531870" cy="486918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defTabSz="685800"/>
            <a:r>
              <a:rPr lang="en-US" sz="863" dirty="0">
                <a:solidFill>
                  <a:srgbClr val="1A2433"/>
                </a:solidFill>
                <a:latin typeface="Aptos"/>
              </a:rPr>
              <a:t>Récupérer la structure fournie, renseigner les GUID Test, lancer le pipeline sur merge vers la branche cible, vérifier que les items sont déployés et pointent vers les bonnes connexions.</a:t>
            </a:r>
            <a:endParaRPr lang="en-US" sz="863" dirty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08610" y="4924044"/>
            <a:ext cx="8538210" cy="0"/>
          </a:xfrm>
          <a:prstGeom prst="line">
            <a:avLst/>
          </a:prstGeom>
          <a:noFill/>
          <a:ln w="10160">
            <a:solidFill>
              <a:srgbClr val="DDE7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308610" y="4965192"/>
            <a:ext cx="432054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563" dirty="0">
                <a:solidFill>
                  <a:srgbClr val="5B6B7B"/>
                </a:solidFill>
                <a:latin typeface="Aptos"/>
              </a:rPr>
              <a:t>Formation Data Engineers · Fabric · Copilot &amp; CI/CD</a:t>
            </a:r>
            <a:endParaRPr lang="en-US" sz="563" dirty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503920" y="4951476"/>
            <a:ext cx="30861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685800"/>
            <a:r>
              <a:rPr lang="en-US" sz="600" dirty="0">
                <a:solidFill>
                  <a:srgbClr val="5B6B7B"/>
                </a:solidFill>
                <a:latin typeface="Aptos"/>
              </a:rPr>
              <a:t>14</a:t>
            </a:r>
            <a:endParaRPr lang="en-US" sz="600" dirty="0">
              <a:solidFill>
                <a:prstClr val="black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943600" y="1828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Mesurer l'impact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GitHub Copilot pour Microsoft Fabric  -  Expertime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Comment mesurer </a:t>
            </a:r>
            <a:r>
              <a:rPr lang="en-US" sz="2600" b="1" dirty="0" err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l'impact</a:t>
            </a: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à 3 mois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metriques, le budget Copilot sera coupe. Ces 4 KPIs suffisent.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39319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594360" y="1737360"/>
            <a:ext cx="1737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-25%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2377440" y="17830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Temps ticket vers merge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377440" y="22860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Mesurer avant/apres sur stories comparables.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600200"/>
            <a:ext cx="39319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800600" y="1737360"/>
            <a:ext cx="1737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30-40%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583680" y="17830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Taux d'acceptation Copilot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83680" y="22860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Au-dela : on accepte trop vite.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154680"/>
            <a:ext cx="39319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594360" y="3291840"/>
            <a:ext cx="1737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2377440" y="33375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Bugs post-prod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377440" y="38404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Doit rester stable. Le KPI le plus important.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3154680"/>
            <a:ext cx="39319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4800600" y="3291840"/>
            <a:ext cx="1737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&gt;30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6583680" y="33375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NPS interne DE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0" y="38404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Trimestriel, anonyme.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83517432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943600" y="1828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GitHub Copilot pour Microsoft Fabric  -  Expertime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Structurer la diffusion : champions + rituels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82296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73152" cy="56692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685800" y="13258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Champion Copilot par squad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520440" y="132588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senior volontaire, forme en premier. Maintient le copilot-instructions.md et les exemples. Debloque ses pairs.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938528"/>
            <a:ext cx="82296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457200" y="1938528"/>
            <a:ext cx="73152" cy="56692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685800" y="198424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Office hours hebdomadaires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20440" y="1984248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min, ouvert. C'est la que remontent les vraies questions, pas en formation.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596896"/>
            <a:ext cx="82296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457200" y="2596896"/>
            <a:ext cx="73152" cy="56692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685800" y="264261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Canal Teams dedie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520440" y="2642616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Partage de prompts qui marchent, pieges, suggestions a eviter. Memoire collective vivante.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255264"/>
            <a:ext cx="82296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457200" y="3255264"/>
            <a:ext cx="73152" cy="56692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685800" y="330098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Rituel mensuel inter-squads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520440" y="3300984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min. Chaque champion partage 1 prompt-pattern utile et 1 echec instructif.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913632"/>
            <a:ext cx="82296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457200" y="3913632"/>
            <a:ext cx="73152" cy="56692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685800" y="395935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Buddy system pour juniors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520440" y="3959352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2 premieres semaines, toute suggestion Copilot validee par un senior avant merge.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34623236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943600" y="1828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GitHub Copilot pour Microsoft Fabric  -  Expertime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de deploiement sur 8 semaines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vagues, des champions en avance de 2 semaines, premiere revue d'impact a la semaine 8.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640080" cy="32004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80160" y="155448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de niveau, selection des champions, setup repo de formation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938528"/>
            <a:ext cx="640080" cy="32004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57200" y="193852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1938528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Champions formes (N1+N2+N3 condenses). Redaction du copilot-instructions.md v1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322576"/>
            <a:ext cx="640080" cy="32004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57200" y="2322576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80160" y="2322576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1 (4-6 DE) : niveaux 1 et 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706624"/>
            <a:ext cx="640080" cy="32004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457200" y="2706624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80160" y="2706624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1 : niveau 3. Demarrage des office hours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090672"/>
            <a:ext cx="640080" cy="32004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457200" y="309067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280160" y="3090672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2 : niveaux 1 et 2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474720"/>
            <a:ext cx="640080" cy="32004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457200" y="34747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S6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80160" y="347472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2 : niveau 3. Vague 1 passe au niveau 4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858768"/>
            <a:ext cx="640080" cy="32004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457200" y="385876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S7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80160" y="3858768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en autonomie. Rituel mensuel lance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4242816"/>
            <a:ext cx="640080" cy="32004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457200" y="4242816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S8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280160" y="4242816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Premiere revue d'impact (KPIs) avec la direction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96536419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7190" y="288036"/>
            <a:ext cx="75438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00" b="1" kern="0" spc="150" dirty="0">
                <a:solidFill>
                  <a:srgbClr val="2E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CO-CONSTRUIRE EN ÉQUIPE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377190" y="493776"/>
            <a:ext cx="8366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2250" b="1" dirty="0">
                <a:solidFill>
                  <a:srgbClr val="1B25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Charte « vibe coding encadré »</a:t>
            </a:r>
            <a:endParaRPr lang="en-US" sz="22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77190" y="1268730"/>
            <a:ext cx="4080510" cy="3326130"/>
          </a:xfrm>
          <a:prstGeom prst="rect">
            <a:avLst/>
          </a:prstGeom>
          <a:solidFill>
            <a:srgbClr val="F4F6F9"/>
          </a:solidFill>
          <a:ln w="12700">
            <a:solidFill>
              <a:srgbClr val="D7DEE6"/>
            </a:solidFill>
            <a:prstDash val="solid"/>
          </a:ln>
          <a:effectLst>
            <a:outerShdw blurRad="88900" dist="38100" dir="8100000" algn="bl" rotWithShape="0">
              <a:srgbClr val="1B2530">
                <a:alpha val="12000"/>
              </a:srgbClr>
            </a:outerShdw>
          </a:effectLst>
        </p:spPr>
        <p:txBody>
          <a:bodyPr/>
          <a:lstStyle/>
          <a:p>
            <a:pPr defTabSz="685800"/>
            <a:endParaRPr lang="fr-FR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77190" y="1268730"/>
            <a:ext cx="4080510" cy="493776"/>
          </a:xfrm>
          <a:prstGeom prst="rect">
            <a:avLst/>
          </a:prstGeom>
          <a:solidFill>
            <a:srgbClr val="2EA043"/>
          </a:solidFill>
          <a:ln/>
        </p:spPr>
        <p:txBody>
          <a:bodyPr/>
          <a:lstStyle/>
          <a:p>
            <a:pPr defTabSz="685800"/>
            <a:endParaRPr lang="fr-FR" sz="135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646" y="1371600"/>
            <a:ext cx="288036" cy="2880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94410" y="1268730"/>
            <a:ext cx="33604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À faire</a:t>
            </a:r>
            <a:endParaRPr lang="en-US" sz="13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5"/>
          <p:cNvSpPr/>
          <p:nvPr/>
        </p:nvSpPr>
        <p:spPr>
          <a:xfrm>
            <a:off x="651510" y="1920240"/>
            <a:ext cx="356616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 defTabSz="685800">
              <a:spcAft>
                <a:spcPts val="825"/>
              </a:spcAft>
              <a:buSzPct val="100000"/>
              <a:buFontTx/>
              <a:buChar char="•"/>
            </a:pPr>
            <a:r>
              <a:rPr lang="en-US" sz="105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Donner le contexte : schémas, fichiers, conventions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  <a:p>
            <a:pPr marL="257175" indent="-257175" defTabSz="685800">
              <a:spcAft>
                <a:spcPts val="825"/>
              </a:spcAft>
              <a:buSzPct val="100000"/>
              <a:buFontTx/>
              <a:buChar char="•"/>
            </a:pPr>
            <a:r>
              <a:rPr lang="en-US" sz="105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Itérer en petites étapes vérifiables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  <a:p>
            <a:pPr marL="257175" indent="-257175" defTabSz="685800">
              <a:spcAft>
                <a:spcPts val="825"/>
              </a:spcAft>
              <a:buSzPct val="100000"/>
              <a:buFontTx/>
              <a:buChar char="•"/>
            </a:pPr>
            <a:r>
              <a:rPr lang="en-US" sz="105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Toujours générer et lire les tests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  <a:p>
            <a:pPr marL="257175" indent="-257175" defTabSz="685800">
              <a:spcAft>
                <a:spcPts val="825"/>
              </a:spcAft>
              <a:buSzPct val="100000"/>
              <a:buFontTx/>
              <a:buChar char="•"/>
            </a:pPr>
            <a:r>
              <a:rPr lang="en-US" sz="105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Faire expliquer le code par Copilot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  <a:p>
            <a:pPr marL="257175" indent="-257175" defTabSz="685800">
              <a:spcAft>
                <a:spcPts val="825"/>
              </a:spcAft>
              <a:buSzPct val="100000"/>
              <a:buFontTx/>
              <a:buChar char="•"/>
            </a:pPr>
            <a:r>
              <a:rPr lang="en-US" sz="105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Gérer les secrets via env / Key Vault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  <a:p>
            <a:pPr marL="257175" indent="-257175" defTabSz="685800">
              <a:spcAft>
                <a:spcPts val="825"/>
              </a:spcAft>
              <a:buSzPct val="100000"/>
              <a:buFontTx/>
              <a:buChar char="•"/>
            </a:pPr>
            <a:r>
              <a:rPr lang="en-US" sz="105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Revue humaine obligatoire en pull request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684014" y="1268730"/>
            <a:ext cx="4080510" cy="3326130"/>
          </a:xfrm>
          <a:prstGeom prst="rect">
            <a:avLst/>
          </a:prstGeom>
          <a:solidFill>
            <a:srgbClr val="F4F6F9"/>
          </a:solidFill>
          <a:ln w="12700">
            <a:solidFill>
              <a:srgbClr val="D7DEE6"/>
            </a:solidFill>
            <a:prstDash val="solid"/>
          </a:ln>
          <a:effectLst>
            <a:outerShdw blurRad="88900" dist="38100" dir="8100000" algn="bl" rotWithShape="0">
              <a:srgbClr val="1B2530">
                <a:alpha val="12000"/>
              </a:srgbClr>
            </a:outerShdw>
          </a:effectLst>
        </p:spPr>
        <p:txBody>
          <a:bodyPr/>
          <a:lstStyle/>
          <a:p>
            <a:pPr defTabSz="685800"/>
            <a:endParaRPr lang="fr-FR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684014" y="1268730"/>
            <a:ext cx="4080510" cy="493776"/>
          </a:xfrm>
          <a:prstGeom prst="rect">
            <a:avLst/>
          </a:prstGeom>
          <a:solidFill>
            <a:srgbClr val="D1242F"/>
          </a:solidFill>
          <a:ln/>
        </p:spPr>
        <p:txBody>
          <a:bodyPr/>
          <a:lstStyle/>
          <a:p>
            <a:pPr defTabSz="685800"/>
            <a:endParaRPr lang="fr-FR" sz="135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3470" y="1371600"/>
            <a:ext cx="288036" cy="2880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01234" y="1268730"/>
            <a:ext cx="33604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À éviter</a:t>
            </a:r>
            <a:endParaRPr lang="en-US" sz="13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9"/>
          <p:cNvSpPr/>
          <p:nvPr/>
        </p:nvSpPr>
        <p:spPr>
          <a:xfrm>
            <a:off x="4958334" y="1920240"/>
            <a:ext cx="356616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 defTabSz="685800">
              <a:spcAft>
                <a:spcPts val="825"/>
              </a:spcAft>
              <a:buSzPct val="100000"/>
              <a:buFontTx/>
              <a:buChar char="•"/>
            </a:pPr>
            <a:r>
              <a:rPr lang="en-US" sz="105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Accepter un bloc sans le lire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  <a:p>
            <a:pPr marL="257175" indent="-257175" defTabSz="685800">
              <a:spcAft>
                <a:spcPts val="825"/>
              </a:spcAft>
              <a:buSzPct val="100000"/>
              <a:buFontTx/>
              <a:buChar char="•"/>
            </a:pPr>
            <a:r>
              <a:rPr lang="en-US" sz="105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Générer des centaines de lignes d'un coup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  <a:p>
            <a:pPr marL="257175" indent="-257175" defTabSz="685800">
              <a:spcAft>
                <a:spcPts val="825"/>
              </a:spcAft>
              <a:buSzPct val="100000"/>
              <a:buFontTx/>
              <a:buChar char="•"/>
            </a:pPr>
            <a:r>
              <a:rPr lang="en-US" sz="105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Merger sans test ni revue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  <a:p>
            <a:pPr marL="257175" indent="-257175" defTabSz="685800">
              <a:spcAft>
                <a:spcPts val="825"/>
              </a:spcAft>
              <a:buSzPct val="100000"/>
              <a:buFontTx/>
              <a:buChar char="•"/>
            </a:pPr>
            <a:r>
              <a:rPr lang="en-US" sz="105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Faire confiance aux API « plausibles »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  <a:p>
            <a:pPr marL="257175" indent="-257175" defTabSz="685800">
              <a:spcAft>
                <a:spcPts val="825"/>
              </a:spcAft>
              <a:buSzPct val="100000"/>
              <a:buFontTx/>
              <a:buChar char="•"/>
            </a:pPr>
            <a:r>
              <a:rPr lang="en-US" sz="105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Coller des credentials dans un prompt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  <a:p>
            <a:pPr marL="257175" indent="-257175" defTabSz="685800">
              <a:spcAft>
                <a:spcPts val="825"/>
              </a:spcAft>
              <a:buSzPct val="100000"/>
              <a:buFontTx/>
              <a:buChar char="•"/>
            </a:pPr>
            <a:r>
              <a:rPr lang="en-US" sz="105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Laisser l'IA auto-merger son propre code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377190" y="4855464"/>
            <a:ext cx="5486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75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pour Data Engineers · Expertime</a:t>
            </a:r>
            <a:endParaRPr lang="en-US" sz="67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8457971" y="4855464"/>
            <a:ext cx="3429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685800"/>
            <a:r>
              <a:rPr lang="en-US" sz="675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675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8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943600" y="1828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aller plus loin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GitHub Copilot pour Microsoft Fabric  -  Expertime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Ressources &amp; contacts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3931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docs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Fabric - Data Engineering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fabric-cicd (GitHub Microsoft)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notebookutils reference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chispa - tests PySpark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0" y="12801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Dans le repo de formation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54880" y="1691640"/>
            <a:ext cx="3931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.github/copilot-instructions.md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examples/ - notebooks de reference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templates/ - Bronze, Silver, Gold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tests/ - pytest + chispa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.github/workflows/ - fabric-cicd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4206240"/>
            <a:ext cx="8229600" cy="50292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57200" y="4206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?  -  Paul Peton  -  ppeton@expertime.com  -  Architecte Data</a:t>
            </a:r>
            <a:endParaRPr lang="en-US" sz="13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10B26E5D-0DDF-EB10-A68C-4EB139B34D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609"/>
            <a:ext cx="9144000" cy="4860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5613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6014</TotalTime>
  <Words>5866</Words>
  <Application>Microsoft Office PowerPoint</Application>
  <PresentationFormat>Affichage à l'écran (16:9)</PresentationFormat>
  <Paragraphs>821</Paragraphs>
  <Slides>85</Slides>
  <Notes>57</Notes>
  <HiddenSlides>14</HiddenSlides>
  <MMClips>0</MMClips>
  <ScaleCrop>false</ScaleCrop>
  <HeadingPairs>
    <vt:vector size="6" baseType="variant">
      <vt:variant>
        <vt:lpstr>Polices utilisées</vt:lpstr>
      </vt:variant>
      <vt:variant>
        <vt:i4>11</vt:i4>
      </vt:variant>
      <vt:variant>
        <vt:lpstr>Thème</vt:lpstr>
      </vt:variant>
      <vt:variant>
        <vt:i4>3</vt:i4>
      </vt:variant>
      <vt:variant>
        <vt:lpstr>Titres des diapositives</vt:lpstr>
      </vt:variant>
      <vt:variant>
        <vt:i4>85</vt:i4>
      </vt:variant>
    </vt:vector>
  </HeadingPairs>
  <TitlesOfParts>
    <vt:vector size="99" baseType="lpstr">
      <vt:lpstr>Aptos</vt:lpstr>
      <vt:lpstr>Aptos Display</vt:lpstr>
      <vt:lpstr>Aptos Mono</vt:lpstr>
      <vt:lpstr>Arial</vt:lpstr>
      <vt:lpstr>Calibri</vt:lpstr>
      <vt:lpstr>Cambria</vt:lpstr>
      <vt:lpstr>Consolas</vt:lpstr>
      <vt:lpstr>Courier New</vt:lpstr>
      <vt:lpstr>DejaVu Sans Mono</vt:lpstr>
      <vt:lpstr>Georgia</vt:lpstr>
      <vt:lpstr>Segoe UI</vt:lpstr>
      <vt:lpstr>Office Theme</vt:lpstr>
      <vt:lpstr>Thème Office</vt:lpstr>
      <vt:lpstr>1_Office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GitHub Copilot pour Fabric - Formation Data Engineers</dc:title>
  <dc:subject>PptxGenJS Presentation</dc:subject>
  <dc:creator>Paul Peton - Expertime</dc:creator>
  <cp:lastModifiedBy>Paul PETON</cp:lastModifiedBy>
  <cp:revision>9</cp:revision>
  <dcterms:created xsi:type="dcterms:W3CDTF">2026-05-22T10:20:56Z</dcterms:created>
  <dcterms:modified xsi:type="dcterms:W3CDTF">2026-09-11T08:23:29Z</dcterms:modified>
</cp:coreProperties>
</file>